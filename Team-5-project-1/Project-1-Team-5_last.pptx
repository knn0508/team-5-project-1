
<file path=[Content_Types].xml><?xml version="1.0" encoding="utf-8"?>
<Types xmlns="http://schemas.openxmlformats.org/package/2006/content-types">
  <Default Extension="xml" ContentType="application/xml"/>
  <Default Extension="svg" ContentType="image/svg+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3.xml" ContentType="application/vnd.openxmlformats-officedocument.presentationml.slideLayout+xml"/>
  <Override PartName="/ppt/slideLayouts/slideLayout9.xml" ContentType="application/vnd.openxmlformats-officedocument.presentationml.slideLayout+xml"/>
  <Override PartName="/ppt/slides/slide13.xml" ContentType="application/vnd.openxmlformats-officedocument.presentationml.slide+xml"/>
  <Override PartName="/ppt/theme/theme2.xml" ContentType="application/vnd.openxmlformats-officedocument.theme+xml"/>
  <Override PartName="/ppt/theme/theme1.xml" ContentType="application/vnd.openxmlformats-officedocument.theme+xml"/>
  <Override PartName="/ppt/slides/slide3.xml" ContentType="application/vnd.openxmlformats-officedocument.presentationml.slide+xml"/>
  <Override PartName="/ppt/slideLayouts/slideLayout4.xml" ContentType="application/vnd.openxmlformats-officedocument.presentationml.slideLayout+xml"/>
  <Override PartName="/ppt/notesSlides/notesSlide5.xml" ContentType="application/vnd.openxmlformats-officedocument.presentationml.notesSlide+xml"/>
  <Override PartName="/ppt/slideLayouts/slideLayout1.xml" ContentType="application/vnd.openxmlformats-officedocument.presentationml.slideLayout+xml"/>
  <Override PartName="/ppt/slides/slide12.xml" ContentType="application/vnd.openxmlformats-officedocument.presentationml.slide+xml"/>
  <Override PartName="/ppt/slideLayouts/slideLayout5.xml" ContentType="application/vnd.openxmlformats-officedocument.presentationml.slideLayout+xml"/>
  <Override PartName="/ppt/slides/slide7.xml" ContentType="application/vnd.openxmlformats-officedocument.presentationml.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tableStyles.xml" ContentType="application/vnd.openxmlformats-officedocument.presentationml.tableStyles+xml"/>
  <Override PartName="/docProps/app.xml" ContentType="application/vnd.openxmlformats-officedocument.extended-properties+xml"/>
  <Override PartName="/ppt/slides/slide17.xml" ContentType="application/vnd.openxmlformats-officedocument.presentationml.slide+xml"/>
  <Override PartName="/ppt/viewProps.xml" ContentType="application/vnd.openxmlformats-officedocument.presentationml.viewProps+xml"/>
  <Override PartName="/ppt/slides/slide8.xml" ContentType="application/vnd.openxmlformats-officedocument.presentationml.slide+xml"/>
  <Override PartName="/ppt/notesSlides/notesSlide8.xml" ContentType="application/vnd.openxmlformats-officedocument.presentationml.notes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8.xml" ContentType="application/vnd.openxmlformats-officedocument.presentationml.slideLayout+xml"/>
  <Override PartName="/docProps/core.xml" ContentType="application/vnd.openxmlformats-package.core-properties+xml"/>
  <Override PartName="/ppt/slideLayouts/slideLayout6.xml" ContentType="application/vnd.openxmlformats-officedocument.presentationml.slideLayout+xml"/>
  <Override PartName="/ppt/notesSlides/notesSlide11.xml" ContentType="application/vnd.openxmlformats-officedocument.presentationml.notesSlide+xml"/>
  <Override PartName="/ppt/slides/slide10.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slides/slide1.xml" ContentType="application/vnd.openxmlformats-officedocument.presentationml.slide+xml"/>
  <Override PartName="/ppt/slideMasters/slideMaster1.xml" ContentType="application/vnd.openxmlformats-officedocument.presentationml.slideMaster+xml"/>
  <Override PartName="/ppt/slides/slide2.xml" ContentType="application/vnd.openxmlformats-officedocument.presentationml.slide+xml"/>
  <Override PartName="/ppt/slides/slide5.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notesSlides/notesSlide1.xml" ContentType="application/vnd.openxmlformats-officedocument.presentationml.notes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notesSlides/notesSlide3.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4.xml" ContentType="application/vnd.openxmlformats-officedocument.presentationml.slide+xml"/>
  <Override PartName="/ppt/notesSlides/notesSlide6.xml" ContentType="application/vnd.openxmlformats-officedocument.presentationml.notesSlide+xml"/>
  <Override PartName="/ppt/presentation.xml" ContentType="application/vnd.openxmlformats-officedocument.presentationml.presentation.main+xml"/>
  <Override PartName="/ppt/notesSlides/notesSlide7.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2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0" d="100"/>
          <a:sy n="70" d="100"/>
        </p:scale>
        <p:origin x="774" y="84"/>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notesMaster" Target="notesMasters/notesMaster1.xml"/><Relationship Id="rId22" Type="http://schemas.openxmlformats.org/officeDocument/2006/relationships/presProps" Target="presProps.xml" /><Relationship Id="rId23" Type="http://schemas.openxmlformats.org/officeDocument/2006/relationships/tableStyles" Target="tableStyles.xml" /><Relationship Id="rId24"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6746F16-CE01-4C83-BE39-4527F3671C54}"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3439D99-5026-13F0-378D-1C6C46F7D14F}"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2099DB0-DF51-8B8B-43B8-81CB314598F4}"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A8DC66A-698D-CC4B-6D87-26660EA2B22B}"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0CD65FF-62BB-CCBC-877F-F212AB79EF03}"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A8793D0-70F4-578D-DEB3-0635EC351571}"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56DE1CC-7E2A-7650-EDB0-3AA920B3FF47}"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21A1D0F-9165-C050-84A5-C88D2140B2E3}"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242AEED-35CA-5206-81CC-A7394C5A48A1}"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19B1C9A-56CE-1ACB-0392-7F4AC21D8FF6}"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BCECEC5-24EC-1669-2EC9-30226E81ED3E}"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31C5F64-EE1A-9224-1D23-53069327FD5C}"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5032E32-EF80-B41D-3779-EA8150B30F9E}"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5CAB510-6B83-EF68-DCAC-4035BFFD4221}"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12575FD-9F6A-3CF7-4AD3-2C95D81959F0}"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48157D4-C56C-D580-8D59-29FC206639E5}"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94CD85F-1941-D94E-DB01-D542E185A795}"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089902297"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a:p>
        </p:txBody>
      </p:sp>
      <p:sp>
        <p:nvSpPr>
          <p:cNvPr id="1625252304"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2010771715" name="Date Placeholder 3"/>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1248886011" name="Footer Placeholder 4"/>
          <p:cNvSpPr>
            <a:spLocks noGrp="1"/>
          </p:cNvSpPr>
          <p:nvPr>
            <p:ph type="ftr" sz="quarter" idx="11"/>
          </p:nvPr>
        </p:nvSpPr>
        <p:spPr bwMode="auto"/>
        <p:txBody>
          <a:bodyPr/>
          <a:lstStyle/>
          <a:p>
            <a:pPr>
              <a:defRPr/>
            </a:pPr>
            <a:endParaRPr lang="en-US"/>
          </a:p>
        </p:txBody>
      </p:sp>
      <p:sp>
        <p:nvSpPr>
          <p:cNvPr id="1383179429"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689399339" name="Title 1"/>
          <p:cNvSpPr>
            <a:spLocks noGrp="1"/>
          </p:cNvSpPr>
          <p:nvPr>
            <p:ph type="title"/>
          </p:nvPr>
        </p:nvSpPr>
        <p:spPr bwMode="auto"/>
        <p:txBody>
          <a:bodyPr/>
          <a:lstStyle/>
          <a:p>
            <a:pPr>
              <a:defRPr/>
            </a:pPr>
            <a:r>
              <a:rPr lang="en-US"/>
              <a:t>Click to edit Master title style</a:t>
            </a:r>
            <a:endParaRPr/>
          </a:p>
        </p:txBody>
      </p:sp>
      <p:sp>
        <p:nvSpPr>
          <p:cNvPr id="1847264955"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322102642" name="Date Placeholder 3"/>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148415977" name="Footer Placeholder 4"/>
          <p:cNvSpPr>
            <a:spLocks noGrp="1"/>
          </p:cNvSpPr>
          <p:nvPr>
            <p:ph type="ftr" sz="quarter" idx="11"/>
          </p:nvPr>
        </p:nvSpPr>
        <p:spPr bwMode="auto"/>
        <p:txBody>
          <a:bodyPr/>
          <a:lstStyle/>
          <a:p>
            <a:pPr>
              <a:defRPr/>
            </a:pPr>
            <a:endParaRPr lang="en-US"/>
          </a:p>
        </p:txBody>
      </p:sp>
      <p:sp>
        <p:nvSpPr>
          <p:cNvPr id="40127384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338082419"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a:p>
        </p:txBody>
      </p:sp>
      <p:sp>
        <p:nvSpPr>
          <p:cNvPr id="1514273950"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81432003" name="Date Placeholder 3"/>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1363556543" name="Footer Placeholder 4"/>
          <p:cNvSpPr>
            <a:spLocks noGrp="1"/>
          </p:cNvSpPr>
          <p:nvPr>
            <p:ph type="ftr" sz="quarter" idx="11"/>
          </p:nvPr>
        </p:nvSpPr>
        <p:spPr bwMode="auto"/>
        <p:txBody>
          <a:bodyPr/>
          <a:lstStyle/>
          <a:p>
            <a:pPr>
              <a:defRPr/>
            </a:pPr>
            <a:endParaRPr lang="en-US"/>
          </a:p>
        </p:txBody>
      </p:sp>
      <p:sp>
        <p:nvSpPr>
          <p:cNvPr id="2043077577"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839408945" name="Title 1"/>
          <p:cNvSpPr>
            <a:spLocks noGrp="1"/>
          </p:cNvSpPr>
          <p:nvPr>
            <p:ph type="title"/>
          </p:nvPr>
        </p:nvSpPr>
        <p:spPr bwMode="auto"/>
        <p:txBody>
          <a:bodyPr/>
          <a:lstStyle/>
          <a:p>
            <a:pPr>
              <a:defRPr/>
            </a:pPr>
            <a:r>
              <a:rPr lang="en-US"/>
              <a:t>Click to edit Master title style</a:t>
            </a:r>
            <a:endParaRPr/>
          </a:p>
        </p:txBody>
      </p:sp>
      <p:sp>
        <p:nvSpPr>
          <p:cNvPr id="2100168668"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75970291"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9829243" name="Date Placeholder 4"/>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644474636" name="Footer Placeholder 5"/>
          <p:cNvSpPr>
            <a:spLocks noGrp="1"/>
          </p:cNvSpPr>
          <p:nvPr>
            <p:ph type="ftr" sz="quarter" idx="11"/>
          </p:nvPr>
        </p:nvSpPr>
        <p:spPr bwMode="auto"/>
        <p:txBody>
          <a:bodyPr/>
          <a:lstStyle/>
          <a:p>
            <a:pPr>
              <a:defRPr/>
            </a:pPr>
            <a:endParaRPr lang="en-US"/>
          </a:p>
        </p:txBody>
      </p:sp>
      <p:sp>
        <p:nvSpPr>
          <p:cNvPr id="1030369703"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36342500"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203835799"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498978409"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87172575"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57220226"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838431601" name="Date Placeholder 6"/>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1210755731" name="Footer Placeholder 7"/>
          <p:cNvSpPr>
            <a:spLocks noGrp="1"/>
          </p:cNvSpPr>
          <p:nvPr>
            <p:ph type="ftr" sz="quarter" idx="11"/>
          </p:nvPr>
        </p:nvSpPr>
        <p:spPr bwMode="auto"/>
        <p:txBody>
          <a:bodyPr/>
          <a:lstStyle/>
          <a:p>
            <a:pPr>
              <a:defRPr/>
            </a:pPr>
            <a:endParaRPr lang="en-US"/>
          </a:p>
        </p:txBody>
      </p:sp>
      <p:sp>
        <p:nvSpPr>
          <p:cNvPr id="508439471"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437037006" name="Title 1"/>
          <p:cNvSpPr>
            <a:spLocks noGrp="1"/>
          </p:cNvSpPr>
          <p:nvPr>
            <p:ph type="title"/>
          </p:nvPr>
        </p:nvSpPr>
        <p:spPr bwMode="auto"/>
        <p:txBody>
          <a:bodyPr/>
          <a:lstStyle/>
          <a:p>
            <a:pPr>
              <a:defRPr/>
            </a:pPr>
            <a:r>
              <a:rPr lang="en-US"/>
              <a:t>Click to edit Master title style</a:t>
            </a:r>
            <a:endParaRPr/>
          </a:p>
        </p:txBody>
      </p:sp>
      <p:sp>
        <p:nvSpPr>
          <p:cNvPr id="798654616" name="Date Placeholder 2"/>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345934965" name="Footer Placeholder 3"/>
          <p:cNvSpPr>
            <a:spLocks noGrp="1"/>
          </p:cNvSpPr>
          <p:nvPr>
            <p:ph type="ftr" sz="quarter" idx="11"/>
          </p:nvPr>
        </p:nvSpPr>
        <p:spPr bwMode="auto"/>
        <p:txBody>
          <a:bodyPr/>
          <a:lstStyle/>
          <a:p>
            <a:pPr>
              <a:defRPr/>
            </a:pPr>
            <a:endParaRPr lang="en-US"/>
          </a:p>
        </p:txBody>
      </p:sp>
      <p:sp>
        <p:nvSpPr>
          <p:cNvPr id="1973516470"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545791392" name="Date Placeholder 1"/>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79422083" name="Footer Placeholder 2"/>
          <p:cNvSpPr>
            <a:spLocks noGrp="1"/>
          </p:cNvSpPr>
          <p:nvPr>
            <p:ph type="ftr" sz="quarter" idx="11"/>
          </p:nvPr>
        </p:nvSpPr>
        <p:spPr bwMode="auto"/>
        <p:txBody>
          <a:bodyPr/>
          <a:lstStyle/>
          <a:p>
            <a:pPr>
              <a:defRPr/>
            </a:pPr>
            <a:endParaRPr lang="en-US"/>
          </a:p>
        </p:txBody>
      </p:sp>
      <p:sp>
        <p:nvSpPr>
          <p:cNvPr id="401584736"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154410240"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a:p>
        </p:txBody>
      </p:sp>
      <p:sp>
        <p:nvSpPr>
          <p:cNvPr id="1740429793"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778049407"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52439842" name="Date Placeholder 4"/>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1389430523" name="Footer Placeholder 5"/>
          <p:cNvSpPr>
            <a:spLocks noGrp="1"/>
          </p:cNvSpPr>
          <p:nvPr>
            <p:ph type="ftr" sz="quarter" idx="11"/>
          </p:nvPr>
        </p:nvSpPr>
        <p:spPr bwMode="auto"/>
        <p:txBody>
          <a:bodyPr/>
          <a:lstStyle/>
          <a:p>
            <a:pPr>
              <a:defRPr/>
            </a:pPr>
            <a:endParaRPr lang="en-US"/>
          </a:p>
        </p:txBody>
      </p:sp>
      <p:sp>
        <p:nvSpPr>
          <p:cNvPr id="391499785"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923573202"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a:p>
        </p:txBody>
      </p:sp>
      <p:sp>
        <p:nvSpPr>
          <p:cNvPr id="950169433"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27696993"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817334618" name="Date Placeholder 4"/>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1682982494" name="Footer Placeholder 5"/>
          <p:cNvSpPr>
            <a:spLocks noGrp="1"/>
          </p:cNvSpPr>
          <p:nvPr>
            <p:ph type="ftr" sz="quarter" idx="11"/>
          </p:nvPr>
        </p:nvSpPr>
        <p:spPr bwMode="auto"/>
        <p:txBody>
          <a:bodyPr/>
          <a:lstStyle/>
          <a:p>
            <a:pPr>
              <a:defRPr/>
            </a:pPr>
            <a:endParaRPr lang="en-US"/>
          </a:p>
        </p:txBody>
      </p:sp>
      <p:sp>
        <p:nvSpPr>
          <p:cNvPr id="1839729091"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55010068" name="Title 1"/>
          <p:cNvSpPr>
            <a:spLocks noGrp="1"/>
          </p:cNvSpPr>
          <p:nvPr>
            <p:ph type="title"/>
          </p:nvPr>
        </p:nvSpPr>
        <p:spPr bwMode="auto"/>
        <p:txBody>
          <a:bodyPr/>
          <a:lstStyle/>
          <a:p>
            <a:pPr>
              <a:defRPr/>
            </a:pPr>
            <a:r>
              <a:rPr lang="en-US"/>
              <a:t>Click to edit Master title style</a:t>
            </a:r>
            <a:endParaRPr/>
          </a:p>
        </p:txBody>
      </p:sp>
      <p:sp>
        <p:nvSpPr>
          <p:cNvPr id="1687023219"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908968046" name="Date Placeholder 3"/>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237072870" name="Footer Placeholder 4"/>
          <p:cNvSpPr>
            <a:spLocks noGrp="1"/>
          </p:cNvSpPr>
          <p:nvPr>
            <p:ph type="ftr" sz="quarter" idx="11"/>
          </p:nvPr>
        </p:nvSpPr>
        <p:spPr bwMode="auto"/>
        <p:txBody>
          <a:bodyPr/>
          <a:lstStyle/>
          <a:p>
            <a:pPr>
              <a:defRPr/>
            </a:pPr>
            <a:endParaRPr lang="en-US"/>
          </a:p>
        </p:txBody>
      </p:sp>
      <p:sp>
        <p:nvSpPr>
          <p:cNvPr id="364658960"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695244331"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a:p>
        </p:txBody>
      </p:sp>
      <p:sp>
        <p:nvSpPr>
          <p:cNvPr id="161991426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78041651" name="Date Placeholder 3"/>
          <p:cNvSpPr>
            <a:spLocks noGrp="1"/>
          </p:cNvSpPr>
          <p:nvPr>
            <p:ph type="dt" sz="half" idx="10"/>
          </p:nvPr>
        </p:nvSpPr>
        <p:spPr bwMode="auto"/>
        <p:txBody>
          <a:bodyPr/>
          <a:lstStyle/>
          <a:p>
            <a:pPr>
              <a:defRPr/>
            </a:pPr>
            <a:fld id="{1D8BD707-D9CF-40AE-B4C6-C98DA3205C09}" type="datetimeFigureOut">
              <a:rPr lang="en-US"/>
              <a:t>06-Apr-26</a:t>
            </a:fld>
            <a:endParaRPr lang="en-US"/>
          </a:p>
        </p:txBody>
      </p:sp>
      <p:sp>
        <p:nvSpPr>
          <p:cNvPr id="1497124074" name="Footer Placeholder 4"/>
          <p:cNvSpPr>
            <a:spLocks noGrp="1"/>
          </p:cNvSpPr>
          <p:nvPr>
            <p:ph type="ftr" sz="quarter" idx="11"/>
          </p:nvPr>
        </p:nvSpPr>
        <p:spPr bwMode="auto"/>
        <p:txBody>
          <a:bodyPr/>
          <a:lstStyle/>
          <a:p>
            <a:pPr>
              <a:defRPr/>
            </a:pPr>
            <a:endParaRPr lang="en-US"/>
          </a:p>
        </p:txBody>
      </p:sp>
      <p:sp>
        <p:nvSpPr>
          <p:cNvPr id="974012131"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128022347"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007642083"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95834211"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06-Apr-26</a:t>
            </a:fld>
            <a:endParaRPr lang="en-US"/>
          </a:p>
        </p:txBody>
      </p:sp>
      <p:sp>
        <p:nvSpPr>
          <p:cNvPr id="145443461"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008573344"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media1.sv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8.png"/><Relationship Id="rId7" Type="http://schemas.openxmlformats.org/officeDocument/2006/relationships/image" Target="../media/image12.png"/><Relationship Id="rId8" Type="http://schemas.openxmlformats.org/officeDocument/2006/relationships/image" Target="../media/image1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14.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jp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23.png"/><Relationship Id="rId5" Type="http://schemas.openxmlformats.org/officeDocument/2006/relationships/image" Target="../media/image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jp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1.jpg"/><Relationship Id="rId6" Type="http://schemas.openxmlformats.org/officeDocument/2006/relationships/image" Target="../media/image33.png"/><Relationship Id="rId7" Type="http://schemas.openxmlformats.org/officeDocument/2006/relationships/image" Target="../media/image34.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666023843"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1914840987" name="Group 4"/>
          <p:cNvGrpSpPr/>
          <p:nvPr/>
        </p:nvGrpSpPr>
        <p:grpSpPr bwMode="auto">
          <a:xfrm>
            <a:off x="590979" y="341820"/>
            <a:ext cx="6476635" cy="746224"/>
            <a:chOff x="0" y="0"/>
            <a:chExt cx="8635515" cy="994965"/>
          </a:xfrm>
        </p:grpSpPr>
        <p:sp>
          <p:nvSpPr>
            <p:cNvPr id="5" name="Freeform 5"/>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6" name="TextBox 6"/>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1841084973" name="Group 7"/>
          <p:cNvGrpSpPr/>
          <p:nvPr/>
        </p:nvGrpSpPr>
        <p:grpSpPr bwMode="auto">
          <a:xfrm>
            <a:off x="16389080" y="209531"/>
            <a:ext cx="1405661" cy="1010802"/>
            <a:chOff x="0" y="0"/>
            <a:chExt cx="692506" cy="497977"/>
          </a:xfrm>
        </p:grpSpPr>
        <p:sp>
          <p:nvSpPr>
            <p:cNvPr id="8" name="Freeform 8"/>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9" name="TextBox 9"/>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01</a:t>
              </a:r>
              <a:endParaRPr/>
            </a:p>
          </p:txBody>
        </p:sp>
      </p:grpSp>
      <p:grpSp>
        <p:nvGrpSpPr>
          <p:cNvPr id="229098094" name="Group 10"/>
          <p:cNvGrpSpPr/>
          <p:nvPr/>
        </p:nvGrpSpPr>
        <p:grpSpPr bwMode="auto">
          <a:xfrm>
            <a:off x="571929" y="1960649"/>
            <a:ext cx="5395832" cy="3524514"/>
            <a:chOff x="0" y="-1122523"/>
            <a:chExt cx="7194443" cy="4699351"/>
          </a:xfrm>
        </p:grpSpPr>
        <p:sp>
          <p:nvSpPr>
            <p:cNvPr id="11" name="Freeform 11"/>
            <p:cNvSpPr/>
            <p:nvPr/>
          </p:nvSpPr>
          <p:spPr bwMode="auto">
            <a:xfrm>
              <a:off x="0" y="0"/>
              <a:ext cx="7168220" cy="3576828"/>
            </a:xfrm>
            <a:custGeom>
              <a:avLst/>
              <a:gdLst/>
              <a:ahLst/>
              <a:cxnLst/>
              <a:rect l="l" t="t" r="r" b="b"/>
              <a:pathLst>
                <a:path w="7168220" h="3576828" fill="norm" stroke="1" extrusionOk="0">
                  <a:moveTo>
                    <a:pt x="0" y="0"/>
                  </a:moveTo>
                  <a:lnTo>
                    <a:pt x="7168220" y="0"/>
                  </a:lnTo>
                  <a:lnTo>
                    <a:pt x="7168220" y="3576828"/>
                  </a:lnTo>
                  <a:lnTo>
                    <a:pt x="0" y="3576828"/>
                  </a:lnTo>
                  <a:close/>
                </a:path>
              </a:pathLst>
            </a:custGeom>
            <a:blipFill rotWithShape="1">
              <a:blip r:embed="rId3">
                <a:alphaModFix amt="0"/>
              </a:blip>
              <a:stretch>
                <a:fillRect l="-9034" t="0" r="-9034" b="7789"/>
              </a:stretch>
            </a:blipFill>
          </p:spPr>
          <p:txBody>
            <a:bodyPr/>
            <a:lstStyle/>
            <a:p>
              <a:pPr>
                <a:defRPr/>
              </a:pPr>
              <a:endParaRPr lang="en-US"/>
            </a:p>
          </p:txBody>
        </p:sp>
        <p:sp>
          <p:nvSpPr>
            <p:cNvPr id="12" name="TextBox 12"/>
            <p:cNvSpPr txBox="1"/>
            <p:nvPr/>
          </p:nvSpPr>
          <p:spPr bwMode="auto">
            <a:xfrm>
              <a:off x="26220" y="-1122523"/>
              <a:ext cx="7168223" cy="3624454"/>
            </a:xfrm>
            <a:prstGeom prst="rect">
              <a:avLst/>
            </a:prstGeom>
            <a:grpFill/>
          </p:spPr>
          <p:txBody>
            <a:bodyPr lIns="0" tIns="0" rIns="0" bIns="0" rtlCol="0" anchor="ctr"/>
            <a:lstStyle/>
            <a:p>
              <a:pPr algn="l">
                <a:lnSpc>
                  <a:spcPts val="5561"/>
                </a:lnSpc>
                <a:defRPr/>
              </a:pPr>
              <a:r>
                <a:rPr lang="en-US" sz="4300" b="1">
                  <a:solidFill>
                    <a:srgbClr val="003868"/>
                  </a:solidFill>
                  <a:latin typeface="Helvetica World Bold"/>
                  <a:ea typeface="Helvetica World Bold"/>
                  <a:cs typeface="Helvetica World Bold"/>
                </a:rPr>
                <a:t>Azure 3-Tier</a:t>
              </a:r>
              <a:endParaRPr/>
            </a:p>
            <a:p>
              <a:pPr algn="l">
                <a:lnSpc>
                  <a:spcPts val="5561"/>
                </a:lnSpc>
                <a:defRPr/>
              </a:pPr>
              <a:r>
                <a:rPr lang="en-US" sz="4300" b="1">
                  <a:solidFill>
                    <a:srgbClr val="003868"/>
                  </a:solidFill>
                  <a:latin typeface="Helvetica World Bold"/>
                  <a:ea typeface="Helvetica World Bold"/>
                  <a:cs typeface="Helvetica World Bold"/>
                </a:rPr>
                <a:t>E-Commerce Application</a:t>
              </a:r>
              <a:endParaRPr/>
            </a:p>
          </p:txBody>
        </p:sp>
      </p:grpSp>
      <p:grpSp>
        <p:nvGrpSpPr>
          <p:cNvPr id="1461283960" name="Group 13"/>
          <p:cNvGrpSpPr/>
          <p:nvPr/>
        </p:nvGrpSpPr>
        <p:grpSpPr bwMode="auto">
          <a:xfrm>
            <a:off x="604627" y="4899436"/>
            <a:ext cx="5376167" cy="926136"/>
            <a:chOff x="0" y="0"/>
            <a:chExt cx="7168223" cy="1234848"/>
          </a:xfrm>
        </p:grpSpPr>
        <p:sp>
          <p:nvSpPr>
            <p:cNvPr id="14" name="Freeform 14"/>
            <p:cNvSpPr/>
            <p:nvPr/>
          </p:nvSpPr>
          <p:spPr bwMode="auto">
            <a:xfrm>
              <a:off x="0" y="0"/>
              <a:ext cx="7168220" cy="1234841"/>
            </a:xfrm>
            <a:custGeom>
              <a:avLst/>
              <a:gdLst/>
              <a:ahLst/>
              <a:cxnLst/>
              <a:rect l="l" t="t" r="r" b="b"/>
              <a:pathLst>
                <a:path w="7168220" h="1234841" fill="norm" stroke="1" extrusionOk="0">
                  <a:moveTo>
                    <a:pt x="0" y="0"/>
                  </a:moveTo>
                  <a:lnTo>
                    <a:pt x="7168220" y="0"/>
                  </a:lnTo>
                  <a:lnTo>
                    <a:pt x="7168220" y="1234841"/>
                  </a:lnTo>
                  <a:lnTo>
                    <a:pt x="0" y="1234841"/>
                  </a:lnTo>
                  <a:close/>
                </a:path>
              </a:pathLst>
            </a:custGeom>
            <a:blipFill rotWithShape="1">
              <a:blip r:embed="rId3">
                <a:alphaModFix amt="0"/>
              </a:blip>
              <a:stretch>
                <a:fillRect l="0" t="-69880" r="0" b="-56340"/>
              </a:stretch>
            </a:blipFill>
          </p:spPr>
          <p:txBody>
            <a:bodyPr/>
            <a:lstStyle/>
            <a:p>
              <a:pPr>
                <a:defRPr/>
              </a:pPr>
              <a:endParaRPr lang="en-US"/>
            </a:p>
          </p:txBody>
        </p:sp>
        <p:sp>
          <p:nvSpPr>
            <p:cNvPr id="15" name="TextBox 15"/>
            <p:cNvSpPr txBox="1"/>
            <p:nvPr/>
          </p:nvSpPr>
          <p:spPr bwMode="auto">
            <a:xfrm>
              <a:off x="0" y="0"/>
              <a:ext cx="7168223" cy="1234848"/>
            </a:xfrm>
            <a:prstGeom prst="rect">
              <a:avLst/>
            </a:prstGeom>
            <a:grpFill/>
          </p:spPr>
          <p:txBody>
            <a:bodyPr lIns="0" tIns="0" rIns="0" bIns="0" rtlCol="0" anchor="ctr"/>
            <a:lstStyle/>
            <a:p>
              <a:pPr algn="l">
                <a:lnSpc>
                  <a:spcPts val="2585"/>
                </a:lnSpc>
                <a:defRPr/>
              </a:pPr>
              <a:r>
                <a:rPr lang="en-US" sz="2150" b="1">
                  <a:solidFill>
                    <a:srgbClr val="0078D4"/>
                  </a:solidFill>
                  <a:latin typeface="Helvetica World Bold"/>
                  <a:ea typeface="Helvetica World Bold"/>
                  <a:cs typeface="Helvetica World Bold"/>
                </a:rPr>
                <a:t>Frontend + Backend + Database on Azure</a:t>
              </a:r>
              <a:endParaRPr/>
            </a:p>
          </p:txBody>
        </p:sp>
      </p:grpSp>
      <p:grpSp>
        <p:nvGrpSpPr>
          <p:cNvPr id="101527887" name="Group 16"/>
          <p:cNvGrpSpPr/>
          <p:nvPr/>
        </p:nvGrpSpPr>
        <p:grpSpPr bwMode="auto">
          <a:xfrm>
            <a:off x="828690" y="5838646"/>
            <a:ext cx="5376167" cy="447955"/>
            <a:chOff x="0" y="0"/>
            <a:chExt cx="7168223" cy="597272"/>
          </a:xfrm>
        </p:grpSpPr>
        <p:sp>
          <p:nvSpPr>
            <p:cNvPr id="17" name="Freeform 17"/>
            <p:cNvSpPr/>
            <p:nvPr/>
          </p:nvSpPr>
          <p:spPr bwMode="auto">
            <a:xfrm>
              <a:off x="0" y="0"/>
              <a:ext cx="7168220" cy="597275"/>
            </a:xfrm>
            <a:custGeom>
              <a:avLst/>
              <a:gdLst/>
              <a:ahLst/>
              <a:cxnLst/>
              <a:rect l="l" t="t" r="r" b="b"/>
              <a:pathLst>
                <a:path w="7168220" h="597275" fill="norm" stroke="1" extrusionOk="0">
                  <a:moveTo>
                    <a:pt x="0" y="0"/>
                  </a:moveTo>
                  <a:lnTo>
                    <a:pt x="7168220" y="0"/>
                  </a:lnTo>
                  <a:lnTo>
                    <a:pt x="7168220" y="597275"/>
                  </a:lnTo>
                  <a:lnTo>
                    <a:pt x="0" y="597275"/>
                  </a:lnTo>
                  <a:close/>
                </a:path>
              </a:pathLst>
            </a:custGeom>
            <a:blipFill rotWithShape="1">
              <a:blip r:embed="rId3">
                <a:alphaModFix amt="0"/>
              </a:blip>
              <a:stretch>
                <a:fillRect l="0" t="-195546" r="0" b="-172154"/>
              </a:stretch>
            </a:blipFill>
          </p:spPr>
          <p:txBody>
            <a:bodyPr/>
            <a:lstStyle/>
            <a:p>
              <a:pPr>
                <a:defRPr/>
              </a:pPr>
              <a:endParaRPr lang="en-US"/>
            </a:p>
          </p:txBody>
        </p:sp>
        <p:sp>
          <p:nvSpPr>
            <p:cNvPr id="18" name="TextBox 18"/>
            <p:cNvSpPr txBox="1"/>
            <p:nvPr/>
          </p:nvSpPr>
          <p:spPr bwMode="auto">
            <a:xfrm>
              <a:off x="0" y="-9525"/>
              <a:ext cx="7168223" cy="606798"/>
            </a:xfrm>
            <a:prstGeom prst="rect">
              <a:avLst/>
            </a:prstGeom>
            <a:grpFill/>
          </p:spPr>
          <p:txBody>
            <a:bodyPr lIns="0" tIns="0" rIns="0" bIns="0" rtlCol="0" anchor="ctr"/>
            <a:lstStyle/>
            <a:p>
              <a:pPr algn="l">
                <a:lnSpc>
                  <a:spcPts val="2154"/>
                </a:lnSpc>
                <a:defRPr/>
              </a:pPr>
              <a:r>
                <a:rPr lang="en-US" sz="1800">
                  <a:solidFill>
                    <a:srgbClr val="605E5C"/>
                  </a:solidFill>
                  <a:latin typeface="Helvetica World"/>
                  <a:ea typeface="Helvetica World"/>
                  <a:cs typeface="Helvetica World"/>
                </a:rPr>
                <a:t> </a:t>
              </a:r>
              <a:r>
                <a:rPr lang="en-US" sz="1800">
                  <a:solidFill>
                    <a:srgbClr val="000000"/>
                  </a:solidFill>
                  <a:latin typeface="Helvetica World"/>
                  <a:ea typeface="Helvetica World"/>
                  <a:cs typeface="Helvetica World"/>
                </a:rPr>
                <a:t>  </a:t>
              </a:r>
              <a:r>
                <a:rPr lang="en-US" sz="1800">
                  <a:solidFill>
                    <a:srgbClr val="605E5C"/>
                  </a:solidFill>
                  <a:latin typeface="Helvetica World"/>
                  <a:ea typeface="Helvetica World"/>
                  <a:cs typeface="Helvetica World"/>
                </a:rPr>
                <a:t> Secure (HTTPS &amp; Routing) </a:t>
              </a:r>
              <a:endParaRPr/>
            </a:p>
          </p:txBody>
        </p:sp>
      </p:grpSp>
      <p:grpSp>
        <p:nvGrpSpPr>
          <p:cNvPr id="1096462907" name="Group 19"/>
          <p:cNvGrpSpPr/>
          <p:nvPr/>
        </p:nvGrpSpPr>
        <p:grpSpPr bwMode="auto">
          <a:xfrm>
            <a:off x="578469" y="5889932"/>
            <a:ext cx="343157" cy="326012"/>
            <a:chOff x="0" y="0"/>
            <a:chExt cx="457543" cy="434683"/>
          </a:xfrm>
        </p:grpSpPr>
        <p:sp>
          <p:nvSpPr>
            <p:cNvPr id="20" name="Freeform 20" descr="image.png"/>
            <p:cNvSpPr/>
            <p:nvPr/>
          </p:nvSpPr>
          <p:spPr bwMode="auto">
            <a:xfrm>
              <a:off x="0" y="0"/>
              <a:ext cx="457581" cy="434720"/>
            </a:xfrm>
            <a:custGeom>
              <a:avLst/>
              <a:gdLst/>
              <a:ahLst/>
              <a:cxnLst/>
              <a:rect l="l" t="t" r="r" b="b"/>
              <a:pathLst>
                <a:path w="457581" h="434721" fill="norm" stroke="1" extrusionOk="0">
                  <a:moveTo>
                    <a:pt x="0" y="0"/>
                  </a:moveTo>
                  <a:lnTo>
                    <a:pt x="457581" y="0"/>
                  </a:lnTo>
                  <a:lnTo>
                    <a:pt x="457581" y="434721"/>
                  </a:lnTo>
                  <a:lnTo>
                    <a:pt x="0" y="434721"/>
                  </a:lnTo>
                  <a:lnTo>
                    <a:pt x="0" y="0"/>
                  </a:lnTo>
                  <a:close/>
                </a:path>
              </a:pathLst>
            </a:custGeom>
            <a:blipFill rotWithShape="1">
              <a:blip r:embed="rId4"/>
              <a:stretch>
                <a:fillRect l="-1" t="0" r="6" b="7"/>
              </a:stretch>
            </a:blipFill>
          </p:spPr>
          <p:txBody>
            <a:bodyPr/>
            <a:lstStyle/>
            <a:p>
              <a:pPr>
                <a:defRPr/>
              </a:pPr>
              <a:endParaRPr lang="en-US"/>
            </a:p>
          </p:txBody>
        </p:sp>
      </p:grpSp>
      <p:grpSp>
        <p:nvGrpSpPr>
          <p:cNvPr id="2004927408" name="Group 21"/>
          <p:cNvGrpSpPr/>
          <p:nvPr/>
        </p:nvGrpSpPr>
        <p:grpSpPr bwMode="auto">
          <a:xfrm>
            <a:off x="828690" y="6362801"/>
            <a:ext cx="5376167" cy="447955"/>
            <a:chOff x="0" y="0"/>
            <a:chExt cx="7168223" cy="597272"/>
          </a:xfrm>
        </p:grpSpPr>
        <p:sp>
          <p:nvSpPr>
            <p:cNvPr id="22" name="Freeform 22"/>
            <p:cNvSpPr/>
            <p:nvPr/>
          </p:nvSpPr>
          <p:spPr bwMode="auto">
            <a:xfrm>
              <a:off x="0" y="0"/>
              <a:ext cx="7168220" cy="597275"/>
            </a:xfrm>
            <a:custGeom>
              <a:avLst/>
              <a:gdLst/>
              <a:ahLst/>
              <a:cxnLst/>
              <a:rect l="l" t="t" r="r" b="b"/>
              <a:pathLst>
                <a:path w="7168220" h="597275" fill="norm" stroke="1" extrusionOk="0">
                  <a:moveTo>
                    <a:pt x="0" y="0"/>
                  </a:moveTo>
                  <a:lnTo>
                    <a:pt x="7168220" y="0"/>
                  </a:lnTo>
                  <a:lnTo>
                    <a:pt x="7168220" y="597275"/>
                  </a:lnTo>
                  <a:lnTo>
                    <a:pt x="0" y="597275"/>
                  </a:lnTo>
                  <a:close/>
                </a:path>
              </a:pathLst>
            </a:custGeom>
            <a:blipFill rotWithShape="1">
              <a:blip r:embed="rId3">
                <a:alphaModFix amt="0"/>
              </a:blip>
              <a:stretch>
                <a:fillRect l="0" t="-195546" r="0" b="-172154"/>
              </a:stretch>
            </a:blipFill>
          </p:spPr>
          <p:txBody>
            <a:bodyPr/>
            <a:lstStyle/>
            <a:p>
              <a:pPr>
                <a:defRPr/>
              </a:pPr>
              <a:endParaRPr lang="en-US"/>
            </a:p>
          </p:txBody>
        </p:sp>
        <p:sp>
          <p:nvSpPr>
            <p:cNvPr id="23" name="TextBox 23"/>
            <p:cNvSpPr txBox="1"/>
            <p:nvPr/>
          </p:nvSpPr>
          <p:spPr bwMode="auto">
            <a:xfrm>
              <a:off x="0" y="-9525"/>
              <a:ext cx="7168223" cy="606798"/>
            </a:xfrm>
            <a:prstGeom prst="rect">
              <a:avLst/>
            </a:prstGeom>
            <a:grpFill/>
          </p:spPr>
          <p:txBody>
            <a:bodyPr lIns="0" tIns="0" rIns="0" bIns="0" rtlCol="0" anchor="ctr"/>
            <a:lstStyle/>
            <a:p>
              <a:pPr algn="l">
                <a:lnSpc>
                  <a:spcPts val="2154"/>
                </a:lnSpc>
                <a:defRPr/>
              </a:pPr>
              <a:r>
                <a:rPr lang="en-US" sz="1800">
                  <a:solidFill>
                    <a:srgbClr val="605E5C"/>
                  </a:solidFill>
                  <a:latin typeface="Helvetica World"/>
                  <a:ea typeface="Helvetica World"/>
                  <a:cs typeface="Helvetica World"/>
                </a:rPr>
                <a:t> </a:t>
              </a:r>
              <a:r>
                <a:rPr lang="en-US" sz="1800">
                  <a:solidFill>
                    <a:srgbClr val="000000"/>
                  </a:solidFill>
                  <a:latin typeface="Helvetica World"/>
                  <a:ea typeface="Helvetica World"/>
                  <a:cs typeface="Helvetica World"/>
                </a:rPr>
                <a:t>  </a:t>
              </a:r>
              <a:r>
                <a:rPr lang="en-US" sz="1800">
                  <a:solidFill>
                    <a:srgbClr val="605E5C"/>
                  </a:solidFill>
                  <a:latin typeface="Helvetica World"/>
                  <a:ea typeface="Helvetica World"/>
                  <a:cs typeface="Helvetica World"/>
                </a:rPr>
                <a:t> Scalable (Autoscaling) </a:t>
              </a:r>
              <a:endParaRPr/>
            </a:p>
          </p:txBody>
        </p:sp>
      </p:grpSp>
      <p:grpSp>
        <p:nvGrpSpPr>
          <p:cNvPr id="1276000169" name="Group 24"/>
          <p:cNvGrpSpPr/>
          <p:nvPr/>
        </p:nvGrpSpPr>
        <p:grpSpPr bwMode="auto">
          <a:xfrm>
            <a:off x="578469" y="6516210"/>
            <a:ext cx="343157" cy="188738"/>
            <a:chOff x="0" y="0"/>
            <a:chExt cx="457543" cy="251651"/>
          </a:xfrm>
        </p:grpSpPr>
        <p:sp>
          <p:nvSpPr>
            <p:cNvPr id="25" name="Freeform 25" descr="image.png"/>
            <p:cNvSpPr/>
            <p:nvPr/>
          </p:nvSpPr>
          <p:spPr bwMode="auto">
            <a:xfrm>
              <a:off x="0" y="0"/>
              <a:ext cx="457581" cy="251714"/>
            </a:xfrm>
            <a:custGeom>
              <a:avLst/>
              <a:gdLst/>
              <a:ahLst/>
              <a:cxnLst/>
              <a:rect l="l" t="t" r="r" b="b"/>
              <a:pathLst>
                <a:path w="457581" h="251714" fill="norm" stroke="1" extrusionOk="0">
                  <a:moveTo>
                    <a:pt x="0" y="0"/>
                  </a:moveTo>
                  <a:lnTo>
                    <a:pt x="457581" y="0"/>
                  </a:lnTo>
                  <a:lnTo>
                    <a:pt x="457581" y="251714"/>
                  </a:lnTo>
                  <a:lnTo>
                    <a:pt x="0" y="251714"/>
                  </a:lnTo>
                  <a:lnTo>
                    <a:pt x="0" y="0"/>
                  </a:lnTo>
                  <a:close/>
                </a:path>
              </a:pathLst>
            </a:custGeom>
            <a:blipFill rotWithShape="1">
              <a:blip r:embed="rId5"/>
              <a:stretch>
                <a:fillRect l="0" t="0" r="6" b="25"/>
              </a:stretch>
            </a:blipFill>
          </p:spPr>
          <p:txBody>
            <a:bodyPr/>
            <a:lstStyle/>
            <a:p>
              <a:pPr>
                <a:defRPr/>
              </a:pPr>
              <a:endParaRPr lang="en-US"/>
            </a:p>
          </p:txBody>
        </p:sp>
      </p:grpSp>
      <p:grpSp>
        <p:nvGrpSpPr>
          <p:cNvPr id="259348134" name="Group 26"/>
          <p:cNvGrpSpPr/>
          <p:nvPr/>
        </p:nvGrpSpPr>
        <p:grpSpPr bwMode="auto">
          <a:xfrm>
            <a:off x="828690" y="6953631"/>
            <a:ext cx="5376167" cy="447955"/>
            <a:chOff x="0" y="0"/>
            <a:chExt cx="7168223" cy="597272"/>
          </a:xfrm>
        </p:grpSpPr>
        <p:sp>
          <p:nvSpPr>
            <p:cNvPr id="27" name="Freeform 27"/>
            <p:cNvSpPr/>
            <p:nvPr/>
          </p:nvSpPr>
          <p:spPr bwMode="auto">
            <a:xfrm>
              <a:off x="0" y="0"/>
              <a:ext cx="7168220" cy="597275"/>
            </a:xfrm>
            <a:custGeom>
              <a:avLst/>
              <a:gdLst/>
              <a:ahLst/>
              <a:cxnLst/>
              <a:rect l="l" t="t" r="r" b="b"/>
              <a:pathLst>
                <a:path w="7168220" h="597275" fill="norm" stroke="1" extrusionOk="0">
                  <a:moveTo>
                    <a:pt x="0" y="0"/>
                  </a:moveTo>
                  <a:lnTo>
                    <a:pt x="7168220" y="0"/>
                  </a:lnTo>
                  <a:lnTo>
                    <a:pt x="7168220" y="597275"/>
                  </a:lnTo>
                  <a:lnTo>
                    <a:pt x="0" y="597275"/>
                  </a:lnTo>
                  <a:close/>
                </a:path>
              </a:pathLst>
            </a:custGeom>
            <a:blipFill rotWithShape="1">
              <a:blip r:embed="rId3">
                <a:alphaModFix amt="0"/>
              </a:blip>
              <a:stretch>
                <a:fillRect l="0" t="-195546" r="0" b="-172154"/>
              </a:stretch>
            </a:blipFill>
          </p:spPr>
          <p:txBody>
            <a:bodyPr/>
            <a:lstStyle/>
            <a:p>
              <a:pPr>
                <a:defRPr/>
              </a:pPr>
              <a:endParaRPr lang="en-US"/>
            </a:p>
          </p:txBody>
        </p:sp>
        <p:sp>
          <p:nvSpPr>
            <p:cNvPr id="28" name="TextBox 28"/>
            <p:cNvSpPr txBox="1"/>
            <p:nvPr/>
          </p:nvSpPr>
          <p:spPr bwMode="auto">
            <a:xfrm>
              <a:off x="0" y="-9525"/>
              <a:ext cx="7168223" cy="606798"/>
            </a:xfrm>
            <a:prstGeom prst="rect">
              <a:avLst/>
            </a:prstGeom>
            <a:grpFill/>
          </p:spPr>
          <p:txBody>
            <a:bodyPr lIns="0" tIns="0" rIns="0" bIns="0" rtlCol="0" anchor="ctr"/>
            <a:lstStyle/>
            <a:p>
              <a:pPr algn="l">
                <a:lnSpc>
                  <a:spcPts val="2154"/>
                </a:lnSpc>
                <a:defRPr/>
              </a:pPr>
              <a:r>
                <a:rPr lang="en-US" sz="1800">
                  <a:solidFill>
                    <a:srgbClr val="605E5C"/>
                  </a:solidFill>
                  <a:latin typeface="Helvetica World"/>
                  <a:ea typeface="Helvetica World"/>
                  <a:cs typeface="Helvetica World"/>
                </a:rPr>
                <a:t> </a:t>
              </a:r>
              <a:r>
                <a:rPr lang="en-US" sz="1800">
                  <a:solidFill>
                    <a:srgbClr val="000000"/>
                  </a:solidFill>
                  <a:latin typeface="Helvetica World"/>
                  <a:ea typeface="Helvetica World"/>
                  <a:cs typeface="Helvetica World"/>
                </a:rPr>
                <a:t>  </a:t>
              </a:r>
              <a:r>
                <a:rPr lang="en-US" sz="1800">
                  <a:solidFill>
                    <a:srgbClr val="605E5C"/>
                  </a:solidFill>
                  <a:latin typeface="Helvetica World"/>
                  <a:ea typeface="Helvetica World"/>
                  <a:cs typeface="Helvetica World"/>
                </a:rPr>
                <a:t> Monitored (Logs &amp; Alerts) </a:t>
              </a:r>
              <a:endParaRPr/>
            </a:p>
          </p:txBody>
        </p:sp>
      </p:grpSp>
      <p:grpSp>
        <p:nvGrpSpPr>
          <p:cNvPr id="1705277579" name="Group 29"/>
          <p:cNvGrpSpPr/>
          <p:nvPr/>
        </p:nvGrpSpPr>
        <p:grpSpPr bwMode="auto">
          <a:xfrm>
            <a:off x="578469" y="7043829"/>
            <a:ext cx="343157" cy="248793"/>
            <a:chOff x="0" y="0"/>
            <a:chExt cx="457543" cy="331724"/>
          </a:xfrm>
        </p:grpSpPr>
        <p:sp>
          <p:nvSpPr>
            <p:cNvPr id="30" name="Freeform 30" descr="image.png"/>
            <p:cNvSpPr/>
            <p:nvPr/>
          </p:nvSpPr>
          <p:spPr bwMode="auto">
            <a:xfrm>
              <a:off x="0" y="0"/>
              <a:ext cx="457581" cy="331724"/>
            </a:xfrm>
            <a:custGeom>
              <a:avLst/>
              <a:gdLst/>
              <a:ahLst/>
              <a:cxnLst/>
              <a:rect l="l" t="t" r="r" b="b"/>
              <a:pathLst>
                <a:path w="457581" h="331724" fill="norm" stroke="1" extrusionOk="0">
                  <a:moveTo>
                    <a:pt x="0" y="0"/>
                  </a:moveTo>
                  <a:lnTo>
                    <a:pt x="457581" y="0"/>
                  </a:lnTo>
                  <a:lnTo>
                    <a:pt x="457581" y="331724"/>
                  </a:lnTo>
                  <a:lnTo>
                    <a:pt x="0" y="331724"/>
                  </a:lnTo>
                  <a:lnTo>
                    <a:pt x="0" y="0"/>
                  </a:lnTo>
                  <a:close/>
                </a:path>
              </a:pathLst>
            </a:custGeom>
            <a:blipFill rotWithShape="1">
              <a:blip r:embed="rId6"/>
              <a:stretch>
                <a:fillRect l="-1" t="0" r="6" b="0"/>
              </a:stretch>
            </a:blipFill>
          </p:spPr>
          <p:txBody>
            <a:bodyPr/>
            <a:lstStyle/>
            <a:p>
              <a:pPr>
                <a:defRPr/>
              </a:pPr>
              <a:endParaRPr lang="en-US"/>
            </a:p>
          </p:txBody>
        </p:sp>
      </p:grpSp>
      <p:grpSp>
        <p:nvGrpSpPr>
          <p:cNvPr id="1963211393" name="Group 31"/>
          <p:cNvGrpSpPr/>
          <p:nvPr/>
        </p:nvGrpSpPr>
        <p:grpSpPr bwMode="auto">
          <a:xfrm>
            <a:off x="7067611" y="2001360"/>
            <a:ext cx="10372569" cy="7409339"/>
            <a:chOff x="0" y="0"/>
            <a:chExt cx="15041580" cy="10328084"/>
          </a:xfrm>
        </p:grpSpPr>
        <p:sp>
          <p:nvSpPr>
            <p:cNvPr id="32" name="Freeform 32"/>
            <p:cNvSpPr/>
            <p:nvPr/>
          </p:nvSpPr>
          <p:spPr bwMode="auto">
            <a:xfrm>
              <a:off x="28520" y="16510"/>
              <a:ext cx="14984363" cy="10295127"/>
            </a:xfrm>
            <a:custGeom>
              <a:avLst/>
              <a:gdLst/>
              <a:ahLst/>
              <a:cxnLst/>
              <a:rect l="l" t="t" r="r" b="b"/>
              <a:pathLst>
                <a:path w="14984363" h="10295128" fill="norm" stroke="1" extrusionOk="0">
                  <a:moveTo>
                    <a:pt x="0" y="305181"/>
                  </a:moveTo>
                  <a:cubicBezTo>
                    <a:pt x="0" y="136652"/>
                    <a:pt x="235842" y="0"/>
                    <a:pt x="526968" y="0"/>
                  </a:cubicBezTo>
                  <a:lnTo>
                    <a:pt x="14457616" y="0"/>
                  </a:lnTo>
                  <a:cubicBezTo>
                    <a:pt x="14748522" y="0"/>
                    <a:pt x="14984364" y="136652"/>
                    <a:pt x="14984364" y="305181"/>
                  </a:cubicBezTo>
                  <a:lnTo>
                    <a:pt x="14984364" y="9989947"/>
                  </a:lnTo>
                  <a:cubicBezTo>
                    <a:pt x="14984364" y="10158476"/>
                    <a:pt x="14748522" y="10295128"/>
                    <a:pt x="14457616" y="10295128"/>
                  </a:cubicBezTo>
                  <a:lnTo>
                    <a:pt x="526968" y="10295128"/>
                  </a:lnTo>
                  <a:cubicBezTo>
                    <a:pt x="236061" y="10295128"/>
                    <a:pt x="220" y="10158476"/>
                    <a:pt x="220" y="9989947"/>
                  </a:cubicBezTo>
                  <a:close/>
                </a:path>
              </a:pathLst>
            </a:custGeom>
            <a:blipFill rotWithShape="1">
              <a:blip r:embed="rId7"/>
              <a:stretch>
                <a:fillRect l="-5111" t="-160" r="-4950" b="-161"/>
              </a:stretch>
            </a:blipFill>
          </p:spPr>
          <p:txBody>
            <a:bodyPr/>
            <a:lstStyle/>
            <a:p>
              <a:pPr>
                <a:defRPr/>
              </a:pPr>
              <a:endParaRPr lang="en-US"/>
            </a:p>
          </p:txBody>
        </p:sp>
        <p:sp>
          <p:nvSpPr>
            <p:cNvPr id="33" name="Freeform 33"/>
            <p:cNvSpPr/>
            <p:nvPr/>
          </p:nvSpPr>
          <p:spPr bwMode="auto">
            <a:xfrm>
              <a:off x="0" y="0"/>
              <a:ext cx="15041606" cy="10328147"/>
            </a:xfrm>
            <a:custGeom>
              <a:avLst/>
              <a:gdLst/>
              <a:ahLst/>
              <a:cxnLst/>
              <a:rect l="l" t="t" r="r" b="b"/>
              <a:pathLst>
                <a:path w="15041606" h="10328148" fill="norm" stroke="1" extrusionOk="0">
                  <a:moveTo>
                    <a:pt x="0" y="321691"/>
                  </a:moveTo>
                  <a:cubicBezTo>
                    <a:pt x="0" y="144018"/>
                    <a:pt x="248566" y="0"/>
                    <a:pt x="555488" y="0"/>
                  </a:cubicBezTo>
                  <a:lnTo>
                    <a:pt x="14486136" y="0"/>
                  </a:lnTo>
                  <a:lnTo>
                    <a:pt x="14486136" y="16510"/>
                  </a:lnTo>
                  <a:lnTo>
                    <a:pt x="14486136" y="0"/>
                  </a:lnTo>
                  <a:cubicBezTo>
                    <a:pt x="14792838" y="0"/>
                    <a:pt x="15041606" y="144018"/>
                    <a:pt x="15041606" y="321691"/>
                  </a:cubicBezTo>
                  <a:lnTo>
                    <a:pt x="15013104" y="321691"/>
                  </a:lnTo>
                  <a:lnTo>
                    <a:pt x="15041606" y="321691"/>
                  </a:lnTo>
                  <a:lnTo>
                    <a:pt x="15041606" y="10006457"/>
                  </a:lnTo>
                  <a:lnTo>
                    <a:pt x="15013104" y="10006457"/>
                  </a:lnTo>
                  <a:lnTo>
                    <a:pt x="15041606" y="10006457"/>
                  </a:lnTo>
                  <a:cubicBezTo>
                    <a:pt x="15041606" y="10184130"/>
                    <a:pt x="14793058" y="10328148"/>
                    <a:pt x="14486136" y="10328148"/>
                  </a:cubicBezTo>
                  <a:lnTo>
                    <a:pt x="14486136" y="10311638"/>
                  </a:lnTo>
                  <a:lnTo>
                    <a:pt x="14486136" y="10328148"/>
                  </a:lnTo>
                  <a:lnTo>
                    <a:pt x="555488" y="10328148"/>
                  </a:lnTo>
                  <a:lnTo>
                    <a:pt x="555488" y="10311638"/>
                  </a:lnTo>
                  <a:lnTo>
                    <a:pt x="555488" y="10328148"/>
                  </a:lnTo>
                  <a:cubicBezTo>
                    <a:pt x="248566" y="10328148"/>
                    <a:pt x="0" y="10184003"/>
                    <a:pt x="0" y="10006457"/>
                  </a:cubicBezTo>
                  <a:lnTo>
                    <a:pt x="0" y="321691"/>
                  </a:lnTo>
                  <a:lnTo>
                    <a:pt x="28520" y="321691"/>
                  </a:lnTo>
                  <a:lnTo>
                    <a:pt x="0" y="321691"/>
                  </a:lnTo>
                  <a:moveTo>
                    <a:pt x="57041" y="321691"/>
                  </a:moveTo>
                  <a:lnTo>
                    <a:pt x="57041" y="10006457"/>
                  </a:lnTo>
                  <a:lnTo>
                    <a:pt x="28520" y="10006457"/>
                  </a:lnTo>
                  <a:lnTo>
                    <a:pt x="57041" y="10006457"/>
                  </a:lnTo>
                  <a:cubicBezTo>
                    <a:pt x="57041" y="10165842"/>
                    <a:pt x="280157" y="10295127"/>
                    <a:pt x="555269" y="10295127"/>
                  </a:cubicBezTo>
                  <a:lnTo>
                    <a:pt x="14486136" y="10295127"/>
                  </a:lnTo>
                  <a:cubicBezTo>
                    <a:pt x="14761246" y="10295127"/>
                    <a:pt x="14984364" y="10165842"/>
                    <a:pt x="14984364" y="10006457"/>
                  </a:cubicBezTo>
                  <a:lnTo>
                    <a:pt x="14984364" y="321691"/>
                  </a:lnTo>
                  <a:cubicBezTo>
                    <a:pt x="14984364" y="162306"/>
                    <a:pt x="14761246" y="33020"/>
                    <a:pt x="14486136" y="33020"/>
                  </a:cubicBezTo>
                  <a:lnTo>
                    <a:pt x="555488" y="33020"/>
                  </a:lnTo>
                  <a:lnTo>
                    <a:pt x="555488" y="16510"/>
                  </a:lnTo>
                  <a:lnTo>
                    <a:pt x="555488" y="33020"/>
                  </a:lnTo>
                  <a:cubicBezTo>
                    <a:pt x="280157" y="33020"/>
                    <a:pt x="57041" y="162306"/>
                    <a:pt x="57041" y="321691"/>
                  </a:cubicBezTo>
                  <a:close/>
                </a:path>
              </a:pathLst>
            </a:custGeom>
            <a:solidFill>
              <a:srgbClr val="BDBDBD"/>
            </a:solidFill>
          </p:spPr>
          <p:txBody>
            <a:bodyPr/>
            <a:lstStyle/>
            <a:p>
              <a:pPr>
                <a:defRPr/>
              </a:pPr>
              <a:endParaRPr lang="en-US"/>
            </a:p>
          </p:txBody>
        </p:sp>
      </p:grpSp>
      <p:sp>
        <p:nvSpPr>
          <p:cNvPr id="782889220" name="TextBox 34"/>
          <p:cNvSpPr txBox="1"/>
          <p:nvPr/>
        </p:nvSpPr>
        <p:spPr bwMode="auto">
          <a:xfrm>
            <a:off x="-1295400" y="8294201"/>
            <a:ext cx="9144000" cy="630941"/>
          </a:xfrm>
          <a:prstGeom prst="rect">
            <a:avLst/>
          </a:prstGeom>
          <a:noFill/>
        </p:spPr>
        <p:txBody>
          <a:bodyPr wrap="square">
            <a:spAutoFit/>
          </a:bodyPr>
          <a:lstStyle/>
          <a:p>
            <a:pPr algn="ctr">
              <a:lnSpc>
                <a:spcPts val="2082"/>
              </a:lnSpc>
              <a:spcBef>
                <a:spcPts val="0"/>
              </a:spcBef>
              <a:defRPr/>
            </a:pPr>
            <a:r>
              <a:rPr lang="en-US" sz="2000">
                <a:solidFill>
                  <a:schemeClr val="accent5">
                    <a:lumMod val="75000"/>
                  </a:schemeClr>
                </a:solidFill>
                <a:latin typeface="Helvetica World"/>
                <a:ea typeface="Helvetica World"/>
                <a:cs typeface="Helvetica World"/>
              </a:rPr>
              <a:t>Team</a:t>
            </a:r>
            <a:r>
              <a:rPr lang="en-US" sz="2000">
                <a:solidFill>
                  <a:srgbClr val="0070C0"/>
                </a:solidFill>
                <a:latin typeface="Helvetica World"/>
                <a:ea typeface="Helvetica World"/>
                <a:cs typeface="Helvetica World"/>
              </a:rPr>
              <a:t> : Kenan Salmanli, Mahammad Mammadov, </a:t>
            </a:r>
            <a:endParaRPr/>
          </a:p>
          <a:p>
            <a:pPr algn="ctr">
              <a:lnSpc>
                <a:spcPts val="2082"/>
              </a:lnSpc>
              <a:spcBef>
                <a:spcPts val="0"/>
              </a:spcBef>
              <a:defRPr/>
            </a:pPr>
            <a:r>
              <a:rPr lang="en-US" sz="2000">
                <a:solidFill>
                  <a:srgbClr val="0070C0"/>
                </a:solidFill>
                <a:latin typeface="Helvetica World"/>
                <a:ea typeface="Helvetica World"/>
                <a:cs typeface="Helvetica World"/>
              </a:rPr>
              <a:t>Fidail Valiyev , Yusif Vatanli</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964495774"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554293741" name="Group 4"/>
          <p:cNvGrpSpPr/>
          <p:nvPr/>
        </p:nvGrpSpPr>
        <p:grpSpPr bwMode="auto">
          <a:xfrm>
            <a:off x="11593717" y="2035589"/>
            <a:ext cx="4189409" cy="1471439"/>
            <a:chOff x="0" y="0"/>
            <a:chExt cx="5585879" cy="1961919"/>
          </a:xfrm>
        </p:grpSpPr>
        <p:sp>
          <p:nvSpPr>
            <p:cNvPr id="5" name="Freeform 5"/>
            <p:cNvSpPr/>
            <p:nvPr/>
          </p:nvSpPr>
          <p:spPr bwMode="auto">
            <a:xfrm>
              <a:off x="0" y="0"/>
              <a:ext cx="5585874" cy="1961922"/>
            </a:xfrm>
            <a:custGeom>
              <a:avLst/>
              <a:gdLst/>
              <a:ahLst/>
              <a:cxnLst/>
              <a:rect l="l" t="t" r="r" b="b"/>
              <a:pathLst>
                <a:path w="5585874" h="1961922" fill="norm" stroke="1" extrusionOk="0">
                  <a:moveTo>
                    <a:pt x="0" y="0"/>
                  </a:moveTo>
                  <a:lnTo>
                    <a:pt x="5585874" y="0"/>
                  </a:lnTo>
                  <a:lnTo>
                    <a:pt x="5585874" y="1961922"/>
                  </a:lnTo>
                  <a:lnTo>
                    <a:pt x="0" y="1961922"/>
                  </a:lnTo>
                  <a:close/>
                </a:path>
              </a:pathLst>
            </a:custGeom>
            <a:blipFill rotWithShape="1">
              <a:blip r:embed="rId3">
                <a:alphaModFix amt="0"/>
              </a:blip>
              <a:stretch>
                <a:fillRect l="0" t="-9804" r="0" b="-1147"/>
              </a:stretch>
            </a:blipFill>
          </p:spPr>
          <p:txBody>
            <a:bodyPr/>
            <a:lstStyle/>
            <a:p>
              <a:pPr>
                <a:defRPr/>
              </a:pPr>
              <a:endParaRPr lang="en-US"/>
            </a:p>
          </p:txBody>
        </p:sp>
        <p:sp>
          <p:nvSpPr>
            <p:cNvPr id="6" name="TextBox 6"/>
            <p:cNvSpPr txBox="1"/>
            <p:nvPr/>
          </p:nvSpPr>
          <p:spPr bwMode="auto">
            <a:xfrm>
              <a:off x="0" y="-57150"/>
              <a:ext cx="5585879" cy="2019069"/>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What is 3-Tier Architecture?</a:t>
              </a:r>
              <a:endParaRPr/>
            </a:p>
          </p:txBody>
        </p:sp>
      </p:grpSp>
      <p:grpSp>
        <p:nvGrpSpPr>
          <p:cNvPr id="660455798" name="Group 7"/>
          <p:cNvGrpSpPr/>
          <p:nvPr/>
        </p:nvGrpSpPr>
        <p:grpSpPr bwMode="auto">
          <a:xfrm>
            <a:off x="11350654" y="4089416"/>
            <a:ext cx="4189409" cy="1529953"/>
            <a:chOff x="0" y="0"/>
            <a:chExt cx="5585879" cy="2039938"/>
          </a:xfrm>
        </p:grpSpPr>
        <p:sp>
          <p:nvSpPr>
            <p:cNvPr id="8" name="Freeform 8"/>
            <p:cNvSpPr/>
            <p:nvPr/>
          </p:nvSpPr>
          <p:spPr bwMode="auto">
            <a:xfrm>
              <a:off x="0" y="0"/>
              <a:ext cx="5585841" cy="2040001"/>
            </a:xfrm>
            <a:custGeom>
              <a:avLst/>
              <a:gdLst/>
              <a:ahLst/>
              <a:cxnLst/>
              <a:rect l="l" t="t" r="r" b="b"/>
              <a:pathLst>
                <a:path w="5585841" h="2040001" fill="norm" stroke="1" extrusionOk="0">
                  <a:moveTo>
                    <a:pt x="0" y="0"/>
                  </a:moveTo>
                  <a:lnTo>
                    <a:pt x="5585841" y="0"/>
                  </a:lnTo>
                  <a:lnTo>
                    <a:pt x="5585841" y="2040001"/>
                  </a:lnTo>
                  <a:lnTo>
                    <a:pt x="0" y="2040001"/>
                  </a:lnTo>
                </a:path>
              </a:pathLst>
            </a:custGeom>
            <a:solidFill>
              <a:srgbClr val="F8F9FA"/>
            </a:solidFill>
          </p:spPr>
          <p:txBody>
            <a:bodyPr/>
            <a:lstStyle/>
            <a:p>
              <a:pPr>
                <a:defRPr/>
              </a:pPr>
              <a:endParaRPr lang="en-US"/>
            </a:p>
          </p:txBody>
        </p:sp>
      </p:grpSp>
      <p:grpSp>
        <p:nvGrpSpPr>
          <p:cNvPr id="1873115707" name="Group 9"/>
          <p:cNvGrpSpPr/>
          <p:nvPr/>
        </p:nvGrpSpPr>
        <p:grpSpPr bwMode="auto">
          <a:xfrm rot="-5400000">
            <a:off x="10709592" y="4730477"/>
            <a:ext cx="1529953" cy="247840"/>
            <a:chOff x="0" y="0"/>
            <a:chExt cx="2039938" cy="330454"/>
          </a:xfrm>
        </p:grpSpPr>
        <p:sp>
          <p:nvSpPr>
            <p:cNvPr id="10" name="Freeform 10"/>
            <p:cNvSpPr/>
            <p:nvPr/>
          </p:nvSpPr>
          <p:spPr bwMode="auto">
            <a:xfrm>
              <a:off x="0" y="0"/>
              <a:ext cx="2040001" cy="330454"/>
            </a:xfrm>
            <a:custGeom>
              <a:avLst/>
              <a:gdLst/>
              <a:ahLst/>
              <a:cxnLst/>
              <a:rect l="l" t="t" r="r" b="b"/>
              <a:pathLst>
                <a:path w="2040001" h="330454" fill="norm" stroke="1" extrusionOk="0">
                  <a:moveTo>
                    <a:pt x="165227" y="0"/>
                  </a:moveTo>
                  <a:lnTo>
                    <a:pt x="1874774" y="0"/>
                  </a:lnTo>
                  <a:cubicBezTo>
                    <a:pt x="1966087" y="0"/>
                    <a:pt x="2040001" y="73914"/>
                    <a:pt x="2040001" y="165227"/>
                  </a:cubicBezTo>
                  <a:lnTo>
                    <a:pt x="2040001" y="330454"/>
                  </a:lnTo>
                  <a:lnTo>
                    <a:pt x="0" y="330454"/>
                  </a:lnTo>
                  <a:lnTo>
                    <a:pt x="0" y="165227"/>
                  </a:lnTo>
                  <a:cubicBezTo>
                    <a:pt x="0" y="73914"/>
                    <a:pt x="73914" y="0"/>
                    <a:pt x="165227" y="0"/>
                  </a:cubicBezTo>
                  <a:close/>
                </a:path>
              </a:pathLst>
            </a:custGeom>
            <a:solidFill>
              <a:srgbClr val="0078D4"/>
            </a:solidFill>
          </p:spPr>
          <p:txBody>
            <a:bodyPr/>
            <a:lstStyle/>
            <a:p>
              <a:pPr>
                <a:defRPr/>
              </a:pPr>
              <a:endParaRPr lang="en-US"/>
            </a:p>
          </p:txBody>
        </p:sp>
      </p:grpSp>
      <p:grpSp>
        <p:nvGrpSpPr>
          <p:cNvPr id="226803830" name="Group 11"/>
          <p:cNvGrpSpPr/>
          <p:nvPr/>
        </p:nvGrpSpPr>
        <p:grpSpPr bwMode="auto">
          <a:xfrm>
            <a:off x="11708108" y="4518384"/>
            <a:ext cx="629126" cy="686333"/>
            <a:chOff x="0" y="0"/>
            <a:chExt cx="838835" cy="915111"/>
          </a:xfrm>
        </p:grpSpPr>
        <p:sp>
          <p:nvSpPr>
            <p:cNvPr id="12" name="Freeform 12"/>
            <p:cNvSpPr/>
            <p:nvPr/>
          </p:nvSpPr>
          <p:spPr bwMode="auto">
            <a:xfrm>
              <a:off x="0" y="0"/>
              <a:ext cx="838835" cy="915035"/>
            </a:xfrm>
            <a:custGeom>
              <a:avLst/>
              <a:gdLst/>
              <a:ahLst/>
              <a:cxnLst/>
              <a:rect l="l" t="t" r="r" b="b"/>
              <a:pathLst>
                <a:path w="838835" h="915035" fill="norm" stroke="1" extrusionOk="0">
                  <a:moveTo>
                    <a:pt x="0" y="419354"/>
                  </a:moveTo>
                  <a:cubicBezTo>
                    <a:pt x="0" y="187833"/>
                    <a:pt x="187833" y="0"/>
                    <a:pt x="419354" y="0"/>
                  </a:cubicBezTo>
                  <a:cubicBezTo>
                    <a:pt x="650875" y="0"/>
                    <a:pt x="838835" y="187833"/>
                    <a:pt x="838835" y="419354"/>
                  </a:cubicBezTo>
                  <a:lnTo>
                    <a:pt x="838835" y="495681"/>
                  </a:lnTo>
                  <a:cubicBezTo>
                    <a:pt x="838835" y="727329"/>
                    <a:pt x="651002" y="915035"/>
                    <a:pt x="419481" y="915035"/>
                  </a:cubicBezTo>
                  <a:cubicBezTo>
                    <a:pt x="187960" y="915035"/>
                    <a:pt x="0" y="727329"/>
                    <a:pt x="0" y="495681"/>
                  </a:cubicBezTo>
                  <a:close/>
                </a:path>
              </a:pathLst>
            </a:custGeom>
            <a:solidFill>
              <a:srgbClr val="FFFFFF"/>
            </a:solidFill>
          </p:spPr>
          <p:txBody>
            <a:bodyPr/>
            <a:lstStyle/>
            <a:p>
              <a:pPr>
                <a:defRPr/>
              </a:pPr>
              <a:endParaRPr lang="en-US"/>
            </a:p>
          </p:txBody>
        </p:sp>
      </p:grpSp>
      <p:grpSp>
        <p:nvGrpSpPr>
          <p:cNvPr id="250801564" name="Group 13"/>
          <p:cNvGrpSpPr/>
          <p:nvPr/>
        </p:nvGrpSpPr>
        <p:grpSpPr bwMode="auto">
          <a:xfrm>
            <a:off x="11851097" y="4708550"/>
            <a:ext cx="343157" cy="248793"/>
            <a:chOff x="0" y="0"/>
            <a:chExt cx="457543" cy="331724"/>
          </a:xfrm>
        </p:grpSpPr>
        <p:sp>
          <p:nvSpPr>
            <p:cNvPr id="14" name="Freeform 14" descr="image.png"/>
            <p:cNvSpPr/>
            <p:nvPr/>
          </p:nvSpPr>
          <p:spPr bwMode="auto">
            <a:xfrm>
              <a:off x="0" y="0"/>
              <a:ext cx="457581" cy="331724"/>
            </a:xfrm>
            <a:custGeom>
              <a:avLst/>
              <a:gdLst/>
              <a:ahLst/>
              <a:cxnLst/>
              <a:rect l="l" t="t" r="r" b="b"/>
              <a:pathLst>
                <a:path w="457581" h="331724" fill="norm" stroke="1" extrusionOk="0">
                  <a:moveTo>
                    <a:pt x="0" y="0"/>
                  </a:moveTo>
                  <a:lnTo>
                    <a:pt x="457581" y="0"/>
                  </a:lnTo>
                  <a:lnTo>
                    <a:pt x="457581" y="331724"/>
                  </a:lnTo>
                  <a:lnTo>
                    <a:pt x="0" y="331724"/>
                  </a:lnTo>
                  <a:lnTo>
                    <a:pt x="0" y="0"/>
                  </a:lnTo>
                  <a:close/>
                </a:path>
              </a:pathLst>
            </a:custGeom>
            <a:blipFill rotWithShape="1">
              <a:blip r:embed="rId4"/>
              <a:stretch>
                <a:fillRect l="-1" t="0" r="6" b="0"/>
              </a:stretch>
            </a:blipFill>
          </p:spPr>
          <p:txBody>
            <a:bodyPr/>
            <a:lstStyle/>
            <a:p>
              <a:pPr>
                <a:defRPr/>
              </a:pPr>
              <a:endParaRPr lang="en-US"/>
            </a:p>
          </p:txBody>
        </p:sp>
      </p:grpSp>
      <p:grpSp>
        <p:nvGrpSpPr>
          <p:cNvPr id="2089760974" name="Group 15"/>
          <p:cNvGrpSpPr/>
          <p:nvPr/>
        </p:nvGrpSpPr>
        <p:grpSpPr bwMode="auto">
          <a:xfrm>
            <a:off x="12623203" y="4375394"/>
            <a:ext cx="2630891" cy="474625"/>
            <a:chOff x="0" y="0"/>
            <a:chExt cx="3507854" cy="632833"/>
          </a:xfrm>
        </p:grpSpPr>
        <p:sp>
          <p:nvSpPr>
            <p:cNvPr id="16" name="Freeform 16"/>
            <p:cNvSpPr/>
            <p:nvPr/>
          </p:nvSpPr>
          <p:spPr bwMode="auto">
            <a:xfrm>
              <a:off x="0" y="0"/>
              <a:ext cx="3507853" cy="632835"/>
            </a:xfrm>
            <a:custGeom>
              <a:avLst/>
              <a:gdLst/>
              <a:ahLst/>
              <a:cxnLst/>
              <a:rect l="l" t="t" r="r" b="b"/>
              <a:pathLst>
                <a:path w="3507853" h="632835" fill="norm" stroke="1" extrusionOk="0">
                  <a:moveTo>
                    <a:pt x="0" y="0"/>
                  </a:moveTo>
                  <a:lnTo>
                    <a:pt x="3507853" y="0"/>
                  </a:lnTo>
                  <a:lnTo>
                    <a:pt x="3507853" y="632835"/>
                  </a:lnTo>
                  <a:lnTo>
                    <a:pt x="0" y="632835"/>
                  </a:lnTo>
                  <a:close/>
                </a:path>
              </a:pathLst>
            </a:custGeom>
            <a:blipFill rotWithShape="1">
              <a:blip r:embed="rId3">
                <a:alphaModFix amt="0"/>
              </a:blip>
              <a:stretch>
                <a:fillRect l="0" t="-71855" r="0" b="-44158"/>
              </a:stretch>
            </a:blipFill>
          </p:spPr>
          <p:txBody>
            <a:bodyPr/>
            <a:lstStyle/>
            <a:p>
              <a:pPr>
                <a:defRPr/>
              </a:pPr>
              <a:endParaRPr lang="en-US"/>
            </a:p>
          </p:txBody>
        </p:sp>
        <p:sp>
          <p:nvSpPr>
            <p:cNvPr id="17" name="TextBox 17"/>
            <p:cNvSpPr txBox="1"/>
            <p:nvPr/>
          </p:nvSpPr>
          <p:spPr bwMode="auto">
            <a:xfrm>
              <a:off x="0" y="-9525"/>
              <a:ext cx="3507854" cy="642358"/>
            </a:xfrm>
            <a:prstGeom prst="rect">
              <a:avLst/>
            </a:prstGeom>
            <a:grpFill/>
          </p:spPr>
          <p:txBody>
            <a:bodyPr lIns="0" tIns="0" rIns="0" bIns="0" rtlCol="0" anchor="ctr"/>
            <a:lstStyle/>
            <a:p>
              <a:pPr algn="l">
                <a:lnSpc>
                  <a:spcPts val="2154"/>
                </a:lnSpc>
                <a:defRPr/>
              </a:pPr>
              <a:r>
                <a:rPr lang="en-US" sz="1800" b="1">
                  <a:solidFill>
                    <a:srgbClr val="003868"/>
                  </a:solidFill>
                  <a:latin typeface="Helvetica World Bold"/>
                  <a:ea typeface="Helvetica World Bold"/>
                  <a:cs typeface="Helvetica World Bold"/>
                </a:rPr>
                <a:t>Presentation Layer</a:t>
              </a:r>
              <a:endParaRPr/>
            </a:p>
          </p:txBody>
        </p:sp>
      </p:grpSp>
      <p:grpSp>
        <p:nvGrpSpPr>
          <p:cNvPr id="1733197540" name="Group 18"/>
          <p:cNvGrpSpPr/>
          <p:nvPr/>
        </p:nvGrpSpPr>
        <p:grpSpPr bwMode="auto">
          <a:xfrm>
            <a:off x="12623203" y="4790056"/>
            <a:ext cx="2630891" cy="563983"/>
            <a:chOff x="0" y="0"/>
            <a:chExt cx="3507854" cy="751977"/>
          </a:xfrm>
        </p:grpSpPr>
        <p:sp>
          <p:nvSpPr>
            <p:cNvPr id="19" name="Freeform 19"/>
            <p:cNvSpPr/>
            <p:nvPr/>
          </p:nvSpPr>
          <p:spPr bwMode="auto">
            <a:xfrm>
              <a:off x="0" y="0"/>
              <a:ext cx="3507853" cy="751971"/>
            </a:xfrm>
            <a:custGeom>
              <a:avLst/>
              <a:gdLst/>
              <a:ahLst/>
              <a:cxnLst/>
              <a:rect l="l" t="t" r="r" b="b"/>
              <a:pathLst>
                <a:path w="3507853" h="751971" fill="norm" stroke="1" extrusionOk="0">
                  <a:moveTo>
                    <a:pt x="0" y="0"/>
                  </a:moveTo>
                  <a:lnTo>
                    <a:pt x="3507853" y="0"/>
                  </a:lnTo>
                  <a:lnTo>
                    <a:pt x="3507853" y="751971"/>
                  </a:lnTo>
                  <a:lnTo>
                    <a:pt x="0" y="751971"/>
                  </a:lnTo>
                  <a:close/>
                </a:path>
              </a:pathLst>
            </a:custGeom>
            <a:blipFill rotWithShape="1">
              <a:blip r:embed="rId3">
                <a:alphaModFix amt="0"/>
              </a:blip>
              <a:stretch>
                <a:fillRect l="0" t="-42723" r="0" b="-39066"/>
              </a:stretch>
            </a:blipFill>
          </p:spPr>
          <p:txBody>
            <a:bodyPr/>
            <a:lstStyle/>
            <a:p>
              <a:pPr>
                <a:defRPr/>
              </a:pPr>
              <a:endParaRPr lang="en-US"/>
            </a:p>
          </p:txBody>
        </p:sp>
        <p:sp>
          <p:nvSpPr>
            <p:cNvPr id="20" name="TextBox 20"/>
            <p:cNvSpPr txBox="1"/>
            <p:nvPr/>
          </p:nvSpPr>
          <p:spPr bwMode="auto">
            <a:xfrm>
              <a:off x="0" y="-9525"/>
              <a:ext cx="3507854" cy="761502"/>
            </a:xfrm>
            <a:prstGeom prst="rect">
              <a:avLst/>
            </a:prstGeom>
            <a:grpFill/>
          </p:spPr>
          <p:txBody>
            <a:bodyPr lIns="0" tIns="0" rIns="0" bIns="0" rtlCol="0" anchor="ctr"/>
            <a:lstStyle/>
            <a:p>
              <a:pPr algn="l">
                <a:lnSpc>
                  <a:spcPts val="1722"/>
                </a:lnSpc>
                <a:defRPr/>
              </a:pPr>
              <a:r>
                <a:rPr lang="en-US" sz="1450">
                  <a:solidFill>
                    <a:srgbClr val="605E5C"/>
                  </a:solidFill>
                  <a:latin typeface="Helvetica World"/>
                  <a:ea typeface="Helvetica World"/>
                  <a:cs typeface="Helvetica World"/>
                </a:rPr>
                <a:t>Frontend UI serving the user interface</a:t>
              </a:r>
              <a:endParaRPr/>
            </a:p>
          </p:txBody>
        </p:sp>
      </p:grpSp>
      <p:grpSp>
        <p:nvGrpSpPr>
          <p:cNvPr id="7519805" name="Group 21"/>
          <p:cNvGrpSpPr/>
          <p:nvPr/>
        </p:nvGrpSpPr>
        <p:grpSpPr bwMode="auto">
          <a:xfrm>
            <a:off x="11350654" y="5905348"/>
            <a:ext cx="4189409" cy="1529953"/>
            <a:chOff x="0" y="0"/>
            <a:chExt cx="5585879" cy="2039938"/>
          </a:xfrm>
        </p:grpSpPr>
        <p:sp>
          <p:nvSpPr>
            <p:cNvPr id="22" name="Freeform 22"/>
            <p:cNvSpPr/>
            <p:nvPr/>
          </p:nvSpPr>
          <p:spPr bwMode="auto">
            <a:xfrm>
              <a:off x="0" y="0"/>
              <a:ext cx="5585841" cy="2040001"/>
            </a:xfrm>
            <a:custGeom>
              <a:avLst/>
              <a:gdLst/>
              <a:ahLst/>
              <a:cxnLst/>
              <a:rect l="l" t="t" r="r" b="b"/>
              <a:pathLst>
                <a:path w="5585841" h="2040001" fill="norm" stroke="1" extrusionOk="0">
                  <a:moveTo>
                    <a:pt x="0" y="0"/>
                  </a:moveTo>
                  <a:lnTo>
                    <a:pt x="5585841" y="0"/>
                  </a:lnTo>
                  <a:lnTo>
                    <a:pt x="5585841" y="2040001"/>
                  </a:lnTo>
                  <a:lnTo>
                    <a:pt x="0" y="2040001"/>
                  </a:lnTo>
                </a:path>
              </a:pathLst>
            </a:custGeom>
            <a:solidFill>
              <a:srgbClr val="F8F9FA"/>
            </a:solidFill>
          </p:spPr>
          <p:txBody>
            <a:bodyPr/>
            <a:lstStyle/>
            <a:p>
              <a:pPr>
                <a:defRPr/>
              </a:pPr>
              <a:endParaRPr lang="en-US"/>
            </a:p>
          </p:txBody>
        </p:sp>
      </p:grpSp>
      <p:grpSp>
        <p:nvGrpSpPr>
          <p:cNvPr id="406411882" name="Group 23"/>
          <p:cNvGrpSpPr/>
          <p:nvPr/>
        </p:nvGrpSpPr>
        <p:grpSpPr bwMode="auto">
          <a:xfrm rot="-5400000">
            <a:off x="10709592" y="6546409"/>
            <a:ext cx="1529953" cy="247840"/>
            <a:chOff x="0" y="0"/>
            <a:chExt cx="2039938" cy="330454"/>
          </a:xfrm>
        </p:grpSpPr>
        <p:sp>
          <p:nvSpPr>
            <p:cNvPr id="24" name="Freeform 24"/>
            <p:cNvSpPr/>
            <p:nvPr/>
          </p:nvSpPr>
          <p:spPr bwMode="auto">
            <a:xfrm>
              <a:off x="0" y="0"/>
              <a:ext cx="2040001" cy="330454"/>
            </a:xfrm>
            <a:custGeom>
              <a:avLst/>
              <a:gdLst/>
              <a:ahLst/>
              <a:cxnLst/>
              <a:rect l="l" t="t" r="r" b="b"/>
              <a:pathLst>
                <a:path w="2040001" h="330454" fill="norm" stroke="1" extrusionOk="0">
                  <a:moveTo>
                    <a:pt x="165227" y="0"/>
                  </a:moveTo>
                  <a:lnTo>
                    <a:pt x="1874774" y="0"/>
                  </a:lnTo>
                  <a:cubicBezTo>
                    <a:pt x="1966087" y="0"/>
                    <a:pt x="2040001" y="73914"/>
                    <a:pt x="2040001" y="165227"/>
                  </a:cubicBezTo>
                  <a:lnTo>
                    <a:pt x="2040001" y="330454"/>
                  </a:lnTo>
                  <a:lnTo>
                    <a:pt x="0" y="330454"/>
                  </a:lnTo>
                  <a:lnTo>
                    <a:pt x="0" y="165227"/>
                  </a:lnTo>
                  <a:cubicBezTo>
                    <a:pt x="0" y="73914"/>
                    <a:pt x="73914" y="0"/>
                    <a:pt x="165227" y="0"/>
                  </a:cubicBezTo>
                  <a:close/>
                </a:path>
              </a:pathLst>
            </a:custGeom>
            <a:solidFill>
              <a:srgbClr val="0078D4"/>
            </a:solidFill>
          </p:spPr>
          <p:txBody>
            <a:bodyPr/>
            <a:lstStyle/>
            <a:p>
              <a:pPr>
                <a:defRPr/>
              </a:pPr>
              <a:endParaRPr lang="en-US"/>
            </a:p>
          </p:txBody>
        </p:sp>
      </p:grpSp>
      <p:grpSp>
        <p:nvGrpSpPr>
          <p:cNvPr id="225979752" name="Group 25"/>
          <p:cNvGrpSpPr/>
          <p:nvPr/>
        </p:nvGrpSpPr>
        <p:grpSpPr bwMode="auto">
          <a:xfrm>
            <a:off x="11708108" y="6334316"/>
            <a:ext cx="629126" cy="686333"/>
            <a:chOff x="0" y="0"/>
            <a:chExt cx="838835" cy="915111"/>
          </a:xfrm>
        </p:grpSpPr>
        <p:sp>
          <p:nvSpPr>
            <p:cNvPr id="26" name="Freeform 26"/>
            <p:cNvSpPr/>
            <p:nvPr/>
          </p:nvSpPr>
          <p:spPr bwMode="auto">
            <a:xfrm>
              <a:off x="0" y="0"/>
              <a:ext cx="838835" cy="915035"/>
            </a:xfrm>
            <a:custGeom>
              <a:avLst/>
              <a:gdLst/>
              <a:ahLst/>
              <a:cxnLst/>
              <a:rect l="l" t="t" r="r" b="b"/>
              <a:pathLst>
                <a:path w="838835" h="915035" fill="norm" stroke="1" extrusionOk="0">
                  <a:moveTo>
                    <a:pt x="0" y="419354"/>
                  </a:moveTo>
                  <a:cubicBezTo>
                    <a:pt x="0" y="187833"/>
                    <a:pt x="187833" y="0"/>
                    <a:pt x="419354" y="0"/>
                  </a:cubicBezTo>
                  <a:cubicBezTo>
                    <a:pt x="650875" y="0"/>
                    <a:pt x="838835" y="187833"/>
                    <a:pt x="838835" y="419354"/>
                  </a:cubicBezTo>
                  <a:lnTo>
                    <a:pt x="838835" y="495681"/>
                  </a:lnTo>
                  <a:cubicBezTo>
                    <a:pt x="838835" y="727329"/>
                    <a:pt x="651002" y="915035"/>
                    <a:pt x="419481" y="915035"/>
                  </a:cubicBezTo>
                  <a:cubicBezTo>
                    <a:pt x="187960" y="915035"/>
                    <a:pt x="0" y="727329"/>
                    <a:pt x="0" y="495681"/>
                  </a:cubicBezTo>
                  <a:close/>
                </a:path>
              </a:pathLst>
            </a:custGeom>
            <a:solidFill>
              <a:srgbClr val="FFFFFF"/>
            </a:solidFill>
          </p:spPr>
          <p:txBody>
            <a:bodyPr/>
            <a:lstStyle/>
            <a:p>
              <a:pPr>
                <a:defRPr/>
              </a:pPr>
              <a:endParaRPr lang="en-US"/>
            </a:p>
          </p:txBody>
        </p:sp>
      </p:grpSp>
      <p:grpSp>
        <p:nvGrpSpPr>
          <p:cNvPr id="1413021096" name="Group 27"/>
          <p:cNvGrpSpPr/>
          <p:nvPr/>
        </p:nvGrpSpPr>
        <p:grpSpPr bwMode="auto">
          <a:xfrm>
            <a:off x="11851097" y="6485877"/>
            <a:ext cx="343157" cy="326012"/>
            <a:chOff x="0" y="0"/>
            <a:chExt cx="457543" cy="434683"/>
          </a:xfrm>
        </p:grpSpPr>
        <p:sp>
          <p:nvSpPr>
            <p:cNvPr id="28" name="Freeform 28" descr="image.png"/>
            <p:cNvSpPr/>
            <p:nvPr/>
          </p:nvSpPr>
          <p:spPr bwMode="auto">
            <a:xfrm>
              <a:off x="0" y="0"/>
              <a:ext cx="457581" cy="434720"/>
            </a:xfrm>
            <a:custGeom>
              <a:avLst/>
              <a:gdLst/>
              <a:ahLst/>
              <a:cxnLst/>
              <a:rect l="l" t="t" r="r" b="b"/>
              <a:pathLst>
                <a:path w="457581" h="434721" fill="norm" stroke="1" extrusionOk="0">
                  <a:moveTo>
                    <a:pt x="0" y="0"/>
                  </a:moveTo>
                  <a:lnTo>
                    <a:pt x="457581" y="0"/>
                  </a:lnTo>
                  <a:lnTo>
                    <a:pt x="457581" y="434721"/>
                  </a:lnTo>
                  <a:lnTo>
                    <a:pt x="0" y="434721"/>
                  </a:lnTo>
                  <a:lnTo>
                    <a:pt x="0" y="0"/>
                  </a:lnTo>
                  <a:close/>
                </a:path>
              </a:pathLst>
            </a:custGeom>
            <a:blipFill rotWithShape="1">
              <a:blip r:embed="rId5"/>
              <a:stretch>
                <a:fillRect l="-1" t="0" r="6" b="7"/>
              </a:stretch>
            </a:blipFill>
          </p:spPr>
          <p:txBody>
            <a:bodyPr/>
            <a:lstStyle/>
            <a:p>
              <a:pPr>
                <a:defRPr/>
              </a:pPr>
              <a:endParaRPr lang="en-US"/>
            </a:p>
          </p:txBody>
        </p:sp>
      </p:grpSp>
      <p:grpSp>
        <p:nvGrpSpPr>
          <p:cNvPr id="863038789" name="Group 29"/>
          <p:cNvGrpSpPr/>
          <p:nvPr/>
        </p:nvGrpSpPr>
        <p:grpSpPr bwMode="auto">
          <a:xfrm>
            <a:off x="12623203" y="6191326"/>
            <a:ext cx="2630891" cy="474625"/>
            <a:chOff x="0" y="0"/>
            <a:chExt cx="3507854" cy="632833"/>
          </a:xfrm>
        </p:grpSpPr>
        <p:sp>
          <p:nvSpPr>
            <p:cNvPr id="30" name="Freeform 30"/>
            <p:cNvSpPr/>
            <p:nvPr/>
          </p:nvSpPr>
          <p:spPr bwMode="auto">
            <a:xfrm>
              <a:off x="0" y="0"/>
              <a:ext cx="3507853" cy="632835"/>
            </a:xfrm>
            <a:custGeom>
              <a:avLst/>
              <a:gdLst/>
              <a:ahLst/>
              <a:cxnLst/>
              <a:rect l="l" t="t" r="r" b="b"/>
              <a:pathLst>
                <a:path w="3507853" h="632835" fill="norm" stroke="1" extrusionOk="0">
                  <a:moveTo>
                    <a:pt x="0" y="0"/>
                  </a:moveTo>
                  <a:lnTo>
                    <a:pt x="3507853" y="0"/>
                  </a:lnTo>
                  <a:lnTo>
                    <a:pt x="3507853" y="632835"/>
                  </a:lnTo>
                  <a:lnTo>
                    <a:pt x="0" y="632835"/>
                  </a:lnTo>
                  <a:close/>
                </a:path>
              </a:pathLst>
            </a:custGeom>
            <a:blipFill rotWithShape="1">
              <a:blip r:embed="rId3">
                <a:alphaModFix amt="0"/>
              </a:blip>
              <a:stretch>
                <a:fillRect l="0" t="-71855" r="0" b="-44158"/>
              </a:stretch>
            </a:blipFill>
          </p:spPr>
          <p:txBody>
            <a:bodyPr/>
            <a:lstStyle/>
            <a:p>
              <a:pPr>
                <a:defRPr/>
              </a:pPr>
              <a:endParaRPr lang="en-US"/>
            </a:p>
          </p:txBody>
        </p:sp>
        <p:sp>
          <p:nvSpPr>
            <p:cNvPr id="31" name="TextBox 31"/>
            <p:cNvSpPr txBox="1"/>
            <p:nvPr/>
          </p:nvSpPr>
          <p:spPr bwMode="auto">
            <a:xfrm>
              <a:off x="0" y="-9525"/>
              <a:ext cx="3507854" cy="642358"/>
            </a:xfrm>
            <a:prstGeom prst="rect">
              <a:avLst/>
            </a:prstGeom>
            <a:grpFill/>
          </p:spPr>
          <p:txBody>
            <a:bodyPr lIns="0" tIns="0" rIns="0" bIns="0" rtlCol="0" anchor="ctr"/>
            <a:lstStyle/>
            <a:p>
              <a:pPr algn="l">
                <a:lnSpc>
                  <a:spcPts val="2154"/>
                </a:lnSpc>
                <a:defRPr/>
              </a:pPr>
              <a:r>
                <a:rPr lang="en-US" sz="1800" b="1">
                  <a:solidFill>
                    <a:srgbClr val="003868"/>
                  </a:solidFill>
                  <a:latin typeface="Helvetica World Bold"/>
                  <a:ea typeface="Helvetica World Bold"/>
                  <a:cs typeface="Helvetica World Bold"/>
                </a:rPr>
                <a:t>Application Layer</a:t>
              </a:r>
              <a:endParaRPr/>
            </a:p>
          </p:txBody>
        </p:sp>
      </p:grpSp>
      <p:grpSp>
        <p:nvGrpSpPr>
          <p:cNvPr id="970160958" name="Group 32"/>
          <p:cNvGrpSpPr/>
          <p:nvPr/>
        </p:nvGrpSpPr>
        <p:grpSpPr bwMode="auto">
          <a:xfrm>
            <a:off x="12623203" y="6605988"/>
            <a:ext cx="2630891" cy="563983"/>
            <a:chOff x="0" y="0"/>
            <a:chExt cx="3507854" cy="751977"/>
          </a:xfrm>
        </p:grpSpPr>
        <p:sp>
          <p:nvSpPr>
            <p:cNvPr id="33" name="Freeform 33"/>
            <p:cNvSpPr/>
            <p:nvPr/>
          </p:nvSpPr>
          <p:spPr bwMode="auto">
            <a:xfrm>
              <a:off x="0" y="0"/>
              <a:ext cx="3507853" cy="751971"/>
            </a:xfrm>
            <a:custGeom>
              <a:avLst/>
              <a:gdLst/>
              <a:ahLst/>
              <a:cxnLst/>
              <a:rect l="l" t="t" r="r" b="b"/>
              <a:pathLst>
                <a:path w="3507853" h="751971" fill="norm" stroke="1" extrusionOk="0">
                  <a:moveTo>
                    <a:pt x="0" y="0"/>
                  </a:moveTo>
                  <a:lnTo>
                    <a:pt x="3507853" y="0"/>
                  </a:lnTo>
                  <a:lnTo>
                    <a:pt x="3507853" y="751971"/>
                  </a:lnTo>
                  <a:lnTo>
                    <a:pt x="0" y="751971"/>
                  </a:lnTo>
                  <a:close/>
                </a:path>
              </a:pathLst>
            </a:custGeom>
            <a:blipFill rotWithShape="1">
              <a:blip r:embed="rId3">
                <a:alphaModFix amt="0"/>
              </a:blip>
              <a:stretch>
                <a:fillRect l="0" t="-42723" r="0" b="-39066"/>
              </a:stretch>
            </a:blipFill>
          </p:spPr>
          <p:txBody>
            <a:bodyPr/>
            <a:lstStyle/>
            <a:p>
              <a:pPr>
                <a:defRPr/>
              </a:pPr>
              <a:endParaRPr lang="en-US"/>
            </a:p>
          </p:txBody>
        </p:sp>
        <p:sp>
          <p:nvSpPr>
            <p:cNvPr id="34" name="TextBox 34"/>
            <p:cNvSpPr txBox="1"/>
            <p:nvPr/>
          </p:nvSpPr>
          <p:spPr bwMode="auto">
            <a:xfrm>
              <a:off x="0" y="-9525"/>
              <a:ext cx="3507854" cy="761502"/>
            </a:xfrm>
            <a:prstGeom prst="rect">
              <a:avLst/>
            </a:prstGeom>
            <a:grpFill/>
          </p:spPr>
          <p:txBody>
            <a:bodyPr lIns="0" tIns="0" rIns="0" bIns="0" rtlCol="0" anchor="ctr"/>
            <a:lstStyle/>
            <a:p>
              <a:pPr algn="l">
                <a:lnSpc>
                  <a:spcPts val="1722"/>
                </a:lnSpc>
                <a:defRPr/>
              </a:pPr>
              <a:r>
                <a:rPr lang="en-US" sz="1450">
                  <a:solidFill>
                    <a:srgbClr val="605E5C"/>
                  </a:solidFill>
                  <a:latin typeface="Helvetica World"/>
                  <a:ea typeface="Helvetica World"/>
                  <a:cs typeface="Helvetica World"/>
                </a:rPr>
                <a:t>Backend API processing business logic</a:t>
              </a:r>
              <a:endParaRPr/>
            </a:p>
          </p:txBody>
        </p:sp>
      </p:grpSp>
      <p:grpSp>
        <p:nvGrpSpPr>
          <p:cNvPr id="1989922969" name="Group 35"/>
          <p:cNvGrpSpPr/>
          <p:nvPr/>
        </p:nvGrpSpPr>
        <p:grpSpPr bwMode="auto">
          <a:xfrm>
            <a:off x="11350654" y="7721279"/>
            <a:ext cx="4189409" cy="1529953"/>
            <a:chOff x="0" y="0"/>
            <a:chExt cx="5585879" cy="2039938"/>
          </a:xfrm>
        </p:grpSpPr>
        <p:sp>
          <p:nvSpPr>
            <p:cNvPr id="36" name="Freeform 36"/>
            <p:cNvSpPr/>
            <p:nvPr/>
          </p:nvSpPr>
          <p:spPr bwMode="auto">
            <a:xfrm>
              <a:off x="0" y="0"/>
              <a:ext cx="5585841" cy="2040001"/>
            </a:xfrm>
            <a:custGeom>
              <a:avLst/>
              <a:gdLst/>
              <a:ahLst/>
              <a:cxnLst/>
              <a:rect l="l" t="t" r="r" b="b"/>
              <a:pathLst>
                <a:path w="5585841" h="2040001" fill="norm" stroke="1" extrusionOk="0">
                  <a:moveTo>
                    <a:pt x="0" y="0"/>
                  </a:moveTo>
                  <a:lnTo>
                    <a:pt x="5585841" y="0"/>
                  </a:lnTo>
                  <a:lnTo>
                    <a:pt x="5585841" y="2040001"/>
                  </a:lnTo>
                  <a:lnTo>
                    <a:pt x="0" y="2040001"/>
                  </a:lnTo>
                </a:path>
              </a:pathLst>
            </a:custGeom>
            <a:solidFill>
              <a:srgbClr val="F8F9FA"/>
            </a:solidFill>
          </p:spPr>
          <p:txBody>
            <a:bodyPr/>
            <a:lstStyle/>
            <a:p>
              <a:pPr>
                <a:defRPr/>
              </a:pPr>
              <a:endParaRPr lang="en-US"/>
            </a:p>
          </p:txBody>
        </p:sp>
      </p:grpSp>
      <p:grpSp>
        <p:nvGrpSpPr>
          <p:cNvPr id="1927744239" name="Group 37"/>
          <p:cNvGrpSpPr/>
          <p:nvPr/>
        </p:nvGrpSpPr>
        <p:grpSpPr bwMode="auto">
          <a:xfrm rot="-5400000">
            <a:off x="10704820" y="8369484"/>
            <a:ext cx="1529953" cy="247840"/>
            <a:chOff x="0" y="0"/>
            <a:chExt cx="2039938" cy="330454"/>
          </a:xfrm>
        </p:grpSpPr>
        <p:sp>
          <p:nvSpPr>
            <p:cNvPr id="38" name="Freeform 38"/>
            <p:cNvSpPr/>
            <p:nvPr/>
          </p:nvSpPr>
          <p:spPr bwMode="auto">
            <a:xfrm>
              <a:off x="0" y="0"/>
              <a:ext cx="2040001" cy="330454"/>
            </a:xfrm>
            <a:custGeom>
              <a:avLst/>
              <a:gdLst/>
              <a:ahLst/>
              <a:cxnLst/>
              <a:rect l="l" t="t" r="r" b="b"/>
              <a:pathLst>
                <a:path w="2040001" h="330454" fill="norm" stroke="1" extrusionOk="0">
                  <a:moveTo>
                    <a:pt x="165227" y="0"/>
                  </a:moveTo>
                  <a:lnTo>
                    <a:pt x="1874774" y="0"/>
                  </a:lnTo>
                  <a:cubicBezTo>
                    <a:pt x="1966087" y="0"/>
                    <a:pt x="2040001" y="73914"/>
                    <a:pt x="2040001" y="165227"/>
                  </a:cubicBezTo>
                  <a:lnTo>
                    <a:pt x="2040001" y="330454"/>
                  </a:lnTo>
                  <a:lnTo>
                    <a:pt x="0" y="330454"/>
                  </a:lnTo>
                  <a:lnTo>
                    <a:pt x="0" y="165227"/>
                  </a:lnTo>
                  <a:cubicBezTo>
                    <a:pt x="0" y="73914"/>
                    <a:pt x="73914" y="0"/>
                    <a:pt x="165227" y="0"/>
                  </a:cubicBezTo>
                  <a:close/>
                </a:path>
              </a:pathLst>
            </a:custGeom>
            <a:solidFill>
              <a:srgbClr val="0078D4"/>
            </a:solidFill>
          </p:spPr>
          <p:txBody>
            <a:bodyPr/>
            <a:lstStyle/>
            <a:p>
              <a:pPr>
                <a:defRPr/>
              </a:pPr>
              <a:endParaRPr lang="en-US"/>
            </a:p>
          </p:txBody>
        </p:sp>
      </p:grpSp>
      <p:grpSp>
        <p:nvGrpSpPr>
          <p:cNvPr id="1240434798" name="Group 39"/>
          <p:cNvGrpSpPr/>
          <p:nvPr/>
        </p:nvGrpSpPr>
        <p:grpSpPr bwMode="auto">
          <a:xfrm>
            <a:off x="11708108" y="8150238"/>
            <a:ext cx="629126" cy="686333"/>
            <a:chOff x="0" y="0"/>
            <a:chExt cx="838835" cy="915111"/>
          </a:xfrm>
        </p:grpSpPr>
        <p:sp>
          <p:nvSpPr>
            <p:cNvPr id="40" name="Freeform 40"/>
            <p:cNvSpPr/>
            <p:nvPr/>
          </p:nvSpPr>
          <p:spPr bwMode="auto">
            <a:xfrm>
              <a:off x="0" y="0"/>
              <a:ext cx="838835" cy="915035"/>
            </a:xfrm>
            <a:custGeom>
              <a:avLst/>
              <a:gdLst/>
              <a:ahLst/>
              <a:cxnLst/>
              <a:rect l="l" t="t" r="r" b="b"/>
              <a:pathLst>
                <a:path w="838835" h="915035" fill="norm" stroke="1" extrusionOk="0">
                  <a:moveTo>
                    <a:pt x="0" y="419354"/>
                  </a:moveTo>
                  <a:cubicBezTo>
                    <a:pt x="0" y="187833"/>
                    <a:pt x="187833" y="0"/>
                    <a:pt x="419354" y="0"/>
                  </a:cubicBezTo>
                  <a:cubicBezTo>
                    <a:pt x="650875" y="0"/>
                    <a:pt x="838835" y="187833"/>
                    <a:pt x="838835" y="419354"/>
                  </a:cubicBezTo>
                  <a:lnTo>
                    <a:pt x="838835" y="495681"/>
                  </a:lnTo>
                  <a:cubicBezTo>
                    <a:pt x="838835" y="727329"/>
                    <a:pt x="651002" y="915035"/>
                    <a:pt x="419481" y="915035"/>
                  </a:cubicBezTo>
                  <a:cubicBezTo>
                    <a:pt x="187960" y="915035"/>
                    <a:pt x="0" y="727329"/>
                    <a:pt x="0" y="495681"/>
                  </a:cubicBezTo>
                  <a:close/>
                </a:path>
              </a:pathLst>
            </a:custGeom>
            <a:solidFill>
              <a:srgbClr val="FFFFFF"/>
            </a:solidFill>
          </p:spPr>
          <p:txBody>
            <a:bodyPr/>
            <a:lstStyle/>
            <a:p>
              <a:pPr>
                <a:defRPr/>
              </a:pPr>
              <a:endParaRPr lang="en-US"/>
            </a:p>
          </p:txBody>
        </p:sp>
      </p:grpSp>
      <p:grpSp>
        <p:nvGrpSpPr>
          <p:cNvPr id="205134750" name="Group 41"/>
          <p:cNvGrpSpPr/>
          <p:nvPr/>
        </p:nvGrpSpPr>
        <p:grpSpPr bwMode="auto">
          <a:xfrm>
            <a:off x="11851097" y="8340414"/>
            <a:ext cx="343157" cy="248793"/>
            <a:chOff x="0" y="0"/>
            <a:chExt cx="457543" cy="331724"/>
          </a:xfrm>
        </p:grpSpPr>
        <p:sp>
          <p:nvSpPr>
            <p:cNvPr id="42" name="Freeform 42" descr="image.png"/>
            <p:cNvSpPr/>
            <p:nvPr/>
          </p:nvSpPr>
          <p:spPr bwMode="auto">
            <a:xfrm>
              <a:off x="0" y="0"/>
              <a:ext cx="457581" cy="331724"/>
            </a:xfrm>
            <a:custGeom>
              <a:avLst/>
              <a:gdLst/>
              <a:ahLst/>
              <a:cxnLst/>
              <a:rect l="l" t="t" r="r" b="b"/>
              <a:pathLst>
                <a:path w="457581" h="331724" fill="norm" stroke="1" extrusionOk="0">
                  <a:moveTo>
                    <a:pt x="0" y="0"/>
                  </a:moveTo>
                  <a:lnTo>
                    <a:pt x="457581" y="0"/>
                  </a:lnTo>
                  <a:lnTo>
                    <a:pt x="457581" y="331724"/>
                  </a:lnTo>
                  <a:lnTo>
                    <a:pt x="0" y="331724"/>
                  </a:lnTo>
                  <a:lnTo>
                    <a:pt x="0" y="0"/>
                  </a:lnTo>
                  <a:close/>
                </a:path>
              </a:pathLst>
            </a:custGeom>
            <a:blipFill rotWithShape="1">
              <a:blip r:embed="rId6"/>
              <a:stretch>
                <a:fillRect l="-1" t="0" r="6" b="0"/>
              </a:stretch>
            </a:blipFill>
          </p:spPr>
          <p:txBody>
            <a:bodyPr/>
            <a:lstStyle/>
            <a:p>
              <a:pPr>
                <a:defRPr/>
              </a:pPr>
              <a:endParaRPr lang="en-US"/>
            </a:p>
          </p:txBody>
        </p:sp>
      </p:grpSp>
      <p:grpSp>
        <p:nvGrpSpPr>
          <p:cNvPr id="837696333" name="Group 43"/>
          <p:cNvGrpSpPr/>
          <p:nvPr/>
        </p:nvGrpSpPr>
        <p:grpSpPr bwMode="auto">
          <a:xfrm>
            <a:off x="12623203" y="8007258"/>
            <a:ext cx="2630891" cy="474625"/>
            <a:chOff x="0" y="0"/>
            <a:chExt cx="3507854" cy="632833"/>
          </a:xfrm>
        </p:grpSpPr>
        <p:sp>
          <p:nvSpPr>
            <p:cNvPr id="44" name="Freeform 44"/>
            <p:cNvSpPr/>
            <p:nvPr/>
          </p:nvSpPr>
          <p:spPr bwMode="auto">
            <a:xfrm>
              <a:off x="0" y="0"/>
              <a:ext cx="3507853" cy="632835"/>
            </a:xfrm>
            <a:custGeom>
              <a:avLst/>
              <a:gdLst/>
              <a:ahLst/>
              <a:cxnLst/>
              <a:rect l="l" t="t" r="r" b="b"/>
              <a:pathLst>
                <a:path w="3507853" h="632835" fill="norm" stroke="1" extrusionOk="0">
                  <a:moveTo>
                    <a:pt x="0" y="0"/>
                  </a:moveTo>
                  <a:lnTo>
                    <a:pt x="3507853" y="0"/>
                  </a:lnTo>
                  <a:lnTo>
                    <a:pt x="3507853" y="632835"/>
                  </a:lnTo>
                  <a:lnTo>
                    <a:pt x="0" y="632835"/>
                  </a:lnTo>
                  <a:close/>
                </a:path>
              </a:pathLst>
            </a:custGeom>
            <a:blipFill rotWithShape="1">
              <a:blip r:embed="rId3">
                <a:alphaModFix amt="0"/>
              </a:blip>
              <a:stretch>
                <a:fillRect l="0" t="-71855" r="0" b="-44158"/>
              </a:stretch>
            </a:blipFill>
          </p:spPr>
          <p:txBody>
            <a:bodyPr/>
            <a:lstStyle/>
            <a:p>
              <a:pPr>
                <a:defRPr/>
              </a:pPr>
              <a:endParaRPr lang="en-US"/>
            </a:p>
          </p:txBody>
        </p:sp>
        <p:sp>
          <p:nvSpPr>
            <p:cNvPr id="45" name="TextBox 45"/>
            <p:cNvSpPr txBox="1"/>
            <p:nvPr/>
          </p:nvSpPr>
          <p:spPr bwMode="auto">
            <a:xfrm>
              <a:off x="0" y="-9525"/>
              <a:ext cx="3507854" cy="642358"/>
            </a:xfrm>
            <a:prstGeom prst="rect">
              <a:avLst/>
            </a:prstGeom>
            <a:grpFill/>
          </p:spPr>
          <p:txBody>
            <a:bodyPr lIns="0" tIns="0" rIns="0" bIns="0" rtlCol="0" anchor="ctr"/>
            <a:lstStyle/>
            <a:p>
              <a:pPr algn="l">
                <a:lnSpc>
                  <a:spcPts val="2154"/>
                </a:lnSpc>
                <a:defRPr/>
              </a:pPr>
              <a:r>
                <a:rPr lang="en-US" sz="1800" b="1">
                  <a:solidFill>
                    <a:srgbClr val="003868"/>
                  </a:solidFill>
                  <a:latin typeface="Helvetica World Bold"/>
                  <a:ea typeface="Helvetica World Bold"/>
                  <a:cs typeface="Helvetica World Bold"/>
                </a:rPr>
                <a:t>Data Layer</a:t>
              </a:r>
              <a:endParaRPr/>
            </a:p>
          </p:txBody>
        </p:sp>
      </p:grpSp>
      <p:sp>
        <p:nvSpPr>
          <p:cNvPr id="1602321442" name="Freeform 46"/>
          <p:cNvSpPr/>
          <p:nvPr/>
        </p:nvSpPr>
        <p:spPr bwMode="auto">
          <a:xfrm>
            <a:off x="1028700" y="1886411"/>
            <a:ext cx="6430299" cy="8037874"/>
          </a:xfrm>
          <a:custGeom>
            <a:avLst/>
            <a:gdLst/>
            <a:ahLst/>
            <a:cxnLst/>
            <a:rect l="l" t="t" r="r" b="b"/>
            <a:pathLst>
              <a:path w="6430299" h="8037874" fill="norm" stroke="1" extrusionOk="0">
                <a:moveTo>
                  <a:pt x="0" y="0"/>
                </a:moveTo>
                <a:lnTo>
                  <a:pt x="6430299" y="0"/>
                </a:lnTo>
                <a:lnTo>
                  <a:pt x="6430299" y="8037873"/>
                </a:lnTo>
                <a:lnTo>
                  <a:pt x="0" y="8037873"/>
                </a:lnTo>
                <a:lnTo>
                  <a:pt x="0" y="0"/>
                </a:lnTo>
                <a:close/>
              </a:path>
            </a:pathLst>
          </a:custGeom>
          <a:blipFill rotWithShape="1">
            <a:blip r:embed="rId7"/>
            <a:stretch/>
          </a:blipFill>
        </p:spPr>
        <p:txBody>
          <a:bodyPr/>
          <a:lstStyle/>
          <a:p>
            <a:pPr>
              <a:defRPr/>
            </a:pPr>
            <a:endParaRPr lang="en-US"/>
          </a:p>
        </p:txBody>
      </p:sp>
      <p:sp>
        <p:nvSpPr>
          <p:cNvPr id="220102625" name="TextBox 47"/>
          <p:cNvSpPr txBox="1"/>
          <p:nvPr/>
        </p:nvSpPr>
        <p:spPr bwMode="auto">
          <a:xfrm>
            <a:off x="12623203" y="8483879"/>
            <a:ext cx="2174012" cy="428625"/>
          </a:xfrm>
          <a:prstGeom prst="rect">
            <a:avLst/>
          </a:prstGeom>
        </p:spPr>
        <p:txBody>
          <a:bodyPr lIns="0" tIns="0" rIns="0" bIns="0" rtlCol="0" anchor="t">
            <a:spAutoFit/>
          </a:bodyPr>
          <a:lstStyle/>
          <a:p>
            <a:pPr marL="0" lvl="0" indent="0" algn="l">
              <a:lnSpc>
                <a:spcPts val="1722"/>
              </a:lnSpc>
              <a:spcBef>
                <a:spcPts val="0"/>
              </a:spcBef>
              <a:defRPr/>
            </a:pPr>
            <a:r>
              <a:rPr lang="en-US" sz="1450" u="none" strike="noStrike">
                <a:solidFill>
                  <a:srgbClr val="605E5C"/>
                </a:solidFill>
                <a:latin typeface="Helvetica World"/>
                <a:ea typeface="Helvetica World"/>
                <a:cs typeface="Helvetica World"/>
              </a:rPr>
              <a:t>Azure SQL Database for data storage</a:t>
            </a:r>
            <a:endParaRPr/>
          </a:p>
        </p:txBody>
      </p:sp>
      <p:grpSp>
        <p:nvGrpSpPr>
          <p:cNvPr id="763286803" name="Group 48"/>
          <p:cNvGrpSpPr/>
          <p:nvPr/>
        </p:nvGrpSpPr>
        <p:grpSpPr bwMode="auto">
          <a:xfrm>
            <a:off x="571929" y="341820"/>
            <a:ext cx="6476635" cy="746224"/>
            <a:chOff x="0" y="0"/>
            <a:chExt cx="8635515" cy="994965"/>
          </a:xfrm>
        </p:grpSpPr>
        <p:sp>
          <p:nvSpPr>
            <p:cNvPr id="49" name="Freeform 49"/>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0" name="TextBox 50"/>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1386805820" name="Group 51"/>
          <p:cNvGrpSpPr/>
          <p:nvPr/>
        </p:nvGrpSpPr>
        <p:grpSpPr bwMode="auto">
          <a:xfrm>
            <a:off x="16389080" y="209531"/>
            <a:ext cx="1405661" cy="1010802"/>
            <a:chOff x="0" y="0"/>
            <a:chExt cx="692506" cy="497977"/>
          </a:xfrm>
        </p:grpSpPr>
        <p:sp>
          <p:nvSpPr>
            <p:cNvPr id="52" name="Freeform 52"/>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53" name="TextBox 53"/>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02</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748966468"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2130363089" name="Group 4"/>
          <p:cNvGrpSpPr/>
          <p:nvPr/>
        </p:nvGrpSpPr>
        <p:grpSpPr bwMode="auto">
          <a:xfrm>
            <a:off x="583960" y="1764568"/>
            <a:ext cx="15199162" cy="1742461"/>
            <a:chOff x="-14679676" y="-361361"/>
            <a:chExt cx="20265550" cy="2323283"/>
          </a:xfrm>
        </p:grpSpPr>
        <p:sp>
          <p:nvSpPr>
            <p:cNvPr id="5" name="Freeform 5"/>
            <p:cNvSpPr/>
            <p:nvPr/>
          </p:nvSpPr>
          <p:spPr bwMode="auto">
            <a:xfrm>
              <a:off x="0" y="0"/>
              <a:ext cx="5585874" cy="1961922"/>
            </a:xfrm>
            <a:custGeom>
              <a:avLst/>
              <a:gdLst/>
              <a:ahLst/>
              <a:cxnLst/>
              <a:rect l="l" t="t" r="r" b="b"/>
              <a:pathLst>
                <a:path w="5585874" h="1961922" fill="norm" stroke="1" extrusionOk="0">
                  <a:moveTo>
                    <a:pt x="0" y="0"/>
                  </a:moveTo>
                  <a:lnTo>
                    <a:pt x="5585874" y="0"/>
                  </a:lnTo>
                  <a:lnTo>
                    <a:pt x="5585874" y="1961922"/>
                  </a:lnTo>
                  <a:lnTo>
                    <a:pt x="0" y="1961922"/>
                  </a:lnTo>
                  <a:close/>
                </a:path>
              </a:pathLst>
            </a:custGeom>
            <a:blipFill rotWithShape="1">
              <a:blip r:embed="rId3">
                <a:alphaModFix amt="0"/>
              </a:blip>
              <a:stretch>
                <a:fillRect l="0" t="-9804" r="0" b="-1147"/>
              </a:stretch>
            </a:blipFill>
          </p:spPr>
          <p:txBody>
            <a:bodyPr/>
            <a:lstStyle/>
            <a:p>
              <a:pPr>
                <a:defRPr/>
              </a:pPr>
              <a:endParaRPr lang="en-US"/>
            </a:p>
          </p:txBody>
        </p:sp>
        <p:sp>
          <p:nvSpPr>
            <p:cNvPr id="6" name="TextBox 6"/>
            <p:cNvSpPr txBox="1"/>
            <p:nvPr/>
          </p:nvSpPr>
          <p:spPr bwMode="auto">
            <a:xfrm>
              <a:off x="-14679676" y="-361361"/>
              <a:ext cx="8147099" cy="2019068"/>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Project Overview</a:t>
              </a:r>
              <a:endParaRPr/>
            </a:p>
          </p:txBody>
        </p:sp>
      </p:grpSp>
      <p:grpSp>
        <p:nvGrpSpPr>
          <p:cNvPr id="952843448" name="Group 48"/>
          <p:cNvGrpSpPr/>
          <p:nvPr/>
        </p:nvGrpSpPr>
        <p:grpSpPr bwMode="auto">
          <a:xfrm>
            <a:off x="571929" y="341820"/>
            <a:ext cx="6476635" cy="746224"/>
            <a:chOff x="0" y="0"/>
            <a:chExt cx="8635515" cy="994965"/>
          </a:xfrm>
        </p:grpSpPr>
        <p:sp>
          <p:nvSpPr>
            <p:cNvPr id="49" name="Freeform 49"/>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0" name="TextBox 50"/>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703269878" name="Group 51"/>
          <p:cNvGrpSpPr/>
          <p:nvPr/>
        </p:nvGrpSpPr>
        <p:grpSpPr bwMode="auto">
          <a:xfrm>
            <a:off x="16389080" y="209531"/>
            <a:ext cx="1405661" cy="1010802"/>
            <a:chOff x="0" y="0"/>
            <a:chExt cx="692506" cy="497977"/>
          </a:xfrm>
        </p:grpSpPr>
        <p:sp>
          <p:nvSpPr>
            <p:cNvPr id="52" name="Freeform 52"/>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53" name="TextBox 53"/>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03</a:t>
              </a:r>
              <a:endParaRPr/>
            </a:p>
          </p:txBody>
        </p:sp>
      </p:grpSp>
      <p:sp>
        <p:nvSpPr>
          <p:cNvPr id="1782961641" name="TextBox 54"/>
          <p:cNvSpPr txBox="1"/>
          <p:nvPr/>
        </p:nvSpPr>
        <p:spPr bwMode="auto">
          <a:xfrm>
            <a:off x="571928" y="3278868"/>
            <a:ext cx="11848671" cy="6124754"/>
          </a:xfrm>
          <a:prstGeom prst="rect">
            <a:avLst/>
          </a:prstGeom>
          <a:noFill/>
        </p:spPr>
        <p:txBody>
          <a:bodyPr wrap="square">
            <a:spAutoFit/>
          </a:bodyPr>
          <a:lstStyle/>
          <a:p>
            <a:pPr>
              <a:buNone/>
              <a:defRPr/>
            </a:pPr>
            <a:r>
              <a:rPr lang="en-US" sz="2800" b="1"/>
              <a:t>What We Built</a:t>
            </a:r>
            <a:endParaRPr/>
          </a:p>
          <a:p>
            <a:pPr>
              <a:buNone/>
              <a:defRPr/>
            </a:pPr>
            <a:r>
              <a:rPr lang="en-US" sz="2800"/>
              <a:t>We deployed a production-grade three-tier e-commerce application on Microsoft Azure, consisting of a React frontend, a Node.js/TypeScript Express backend, and an Azure SQL Database — all running behind an Azure Application Gateway with HTTPS and path-based routing.</a:t>
            </a:r>
            <a:endParaRPr/>
          </a:p>
          <a:p>
            <a:pPr>
              <a:buNone/>
              <a:defRPr/>
            </a:pPr>
            <a:r>
              <a:rPr lang="en-US" sz="2800"/>
              <a:t>The application is fully containerized and runs on Azure Container Apps within a private virtual network, not directly exposed to the public internet.</a:t>
            </a:r>
            <a:endParaRPr/>
          </a:p>
          <a:p>
            <a:pPr>
              <a:buNone/>
              <a:defRPr/>
            </a:pPr>
            <a:r>
              <a:rPr lang="en-US" sz="2800" b="1"/>
              <a:t>Objectives were:</a:t>
            </a:r>
            <a:endParaRPr/>
          </a:p>
          <a:p>
            <a:pPr>
              <a:buFont typeface="Arial"/>
              <a:buChar char="•"/>
              <a:defRPr/>
            </a:pPr>
            <a:r>
              <a:rPr lang="en-US" sz="2800"/>
              <a:t>Deploy a real multi-tier application on Azure using industry-standard infrastructure</a:t>
            </a:r>
            <a:endParaRPr/>
          </a:p>
          <a:p>
            <a:pPr>
              <a:buFont typeface="Arial"/>
              <a:buChar char="•"/>
              <a:defRPr/>
            </a:pPr>
            <a:r>
              <a:rPr lang="en-US" sz="2800"/>
              <a:t>Implement secure, private networking between components</a:t>
            </a:r>
            <a:endParaRPr/>
          </a:p>
          <a:p>
            <a:pPr>
              <a:buFont typeface="Arial"/>
              <a:buChar char="•"/>
              <a:defRPr/>
            </a:pPr>
            <a:r>
              <a:rPr lang="en-US" sz="2800"/>
              <a:t>Configure HTTPS termination and intelligent routing at the gateway layer</a:t>
            </a:r>
            <a:endParaRPr/>
          </a:p>
          <a:p>
            <a:pPr>
              <a:buFont typeface="Arial"/>
              <a:buChar char="•"/>
              <a:defRPr/>
            </a:pPr>
            <a:r>
              <a:rPr lang="en-US" sz="2800"/>
              <a:t>Apply monitoring, alerting, and load testing practices used in production environments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55842679"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436586402" name="Group 4"/>
          <p:cNvGrpSpPr/>
          <p:nvPr/>
        </p:nvGrpSpPr>
        <p:grpSpPr bwMode="auto">
          <a:xfrm>
            <a:off x="845065" y="1640924"/>
            <a:ext cx="3231423" cy="1471439"/>
            <a:chOff x="0" y="0"/>
            <a:chExt cx="4308564" cy="1961919"/>
          </a:xfrm>
        </p:grpSpPr>
        <p:sp>
          <p:nvSpPr>
            <p:cNvPr id="5" name="Freeform 5"/>
            <p:cNvSpPr/>
            <p:nvPr/>
          </p:nvSpPr>
          <p:spPr bwMode="auto">
            <a:xfrm>
              <a:off x="0" y="0"/>
              <a:ext cx="4308558" cy="1961922"/>
            </a:xfrm>
            <a:custGeom>
              <a:avLst/>
              <a:gdLst/>
              <a:ahLst/>
              <a:cxnLst/>
              <a:rect l="l" t="t" r="r" b="b"/>
              <a:pathLst>
                <a:path w="4308558" h="1961922" fill="norm" stroke="1" extrusionOk="0">
                  <a:moveTo>
                    <a:pt x="0" y="0"/>
                  </a:moveTo>
                  <a:lnTo>
                    <a:pt x="4308558" y="0"/>
                  </a:lnTo>
                  <a:lnTo>
                    <a:pt x="4308558" y="1961922"/>
                  </a:lnTo>
                  <a:lnTo>
                    <a:pt x="0" y="1961922"/>
                  </a:lnTo>
                  <a:close/>
                </a:path>
              </a:pathLst>
            </a:custGeom>
            <a:blipFill rotWithShape="1">
              <a:blip r:embed="rId3">
                <a:alphaModFix amt="0"/>
              </a:blip>
              <a:stretch>
                <a:fillRect l="-3366" t="0" r="-3365" b="8656"/>
              </a:stretch>
            </a:blipFill>
          </p:spPr>
          <p:txBody>
            <a:bodyPr/>
            <a:lstStyle/>
            <a:p>
              <a:pPr>
                <a:defRPr/>
              </a:pPr>
              <a:endParaRPr lang="en-US"/>
            </a:p>
          </p:txBody>
        </p:sp>
        <p:sp>
          <p:nvSpPr>
            <p:cNvPr id="6" name="TextBox 6"/>
            <p:cNvSpPr txBox="1"/>
            <p:nvPr/>
          </p:nvSpPr>
          <p:spPr bwMode="auto">
            <a:xfrm>
              <a:off x="0" y="-57150"/>
              <a:ext cx="4308564" cy="2019069"/>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Full Azure Architecture</a:t>
              </a:r>
              <a:endParaRPr/>
            </a:p>
          </p:txBody>
        </p:sp>
      </p:grpSp>
      <p:grpSp>
        <p:nvGrpSpPr>
          <p:cNvPr id="921363062" name="Group 7"/>
          <p:cNvGrpSpPr/>
          <p:nvPr/>
        </p:nvGrpSpPr>
        <p:grpSpPr bwMode="auto">
          <a:xfrm>
            <a:off x="820281" y="3532161"/>
            <a:ext cx="3280991" cy="1307849"/>
            <a:chOff x="0" y="0"/>
            <a:chExt cx="4374655" cy="1743799"/>
          </a:xfrm>
        </p:grpSpPr>
        <p:sp>
          <p:nvSpPr>
            <p:cNvPr id="8" name="Freeform 8"/>
            <p:cNvSpPr/>
            <p:nvPr/>
          </p:nvSpPr>
          <p:spPr bwMode="auto">
            <a:xfrm>
              <a:off x="33020" y="33020"/>
              <a:ext cx="4308602" cy="1677797"/>
            </a:xfrm>
            <a:custGeom>
              <a:avLst/>
              <a:gdLst/>
              <a:ahLst/>
              <a:cxnLst/>
              <a:rect l="l" t="t" r="r" b="b"/>
              <a:pathLst>
                <a:path w="4308602" h="1677797" fill="norm" stroke="1" extrusionOk="0">
                  <a:moveTo>
                    <a:pt x="0" y="152527"/>
                  </a:moveTo>
                  <a:cubicBezTo>
                    <a:pt x="0" y="68326"/>
                    <a:pt x="69977" y="0"/>
                    <a:pt x="156083" y="0"/>
                  </a:cubicBezTo>
                  <a:lnTo>
                    <a:pt x="4152519" y="0"/>
                  </a:lnTo>
                  <a:cubicBezTo>
                    <a:pt x="4238752" y="0"/>
                    <a:pt x="4308602" y="68326"/>
                    <a:pt x="4308602" y="152527"/>
                  </a:cubicBezTo>
                  <a:lnTo>
                    <a:pt x="4308602" y="1525270"/>
                  </a:lnTo>
                  <a:cubicBezTo>
                    <a:pt x="4308602" y="1609471"/>
                    <a:pt x="4238752" y="1677797"/>
                    <a:pt x="4152519" y="1677797"/>
                  </a:cubicBezTo>
                  <a:lnTo>
                    <a:pt x="156083" y="1677797"/>
                  </a:lnTo>
                  <a:cubicBezTo>
                    <a:pt x="69850" y="1677797"/>
                    <a:pt x="0" y="1609471"/>
                    <a:pt x="0" y="1525270"/>
                  </a:cubicBezTo>
                  <a:close/>
                </a:path>
              </a:pathLst>
            </a:custGeom>
            <a:solidFill>
              <a:srgbClr val="FFFFFF"/>
            </a:solidFill>
          </p:spPr>
          <p:txBody>
            <a:bodyPr/>
            <a:lstStyle/>
            <a:p>
              <a:pPr>
                <a:defRPr/>
              </a:pPr>
              <a:endParaRPr lang="en-US"/>
            </a:p>
          </p:txBody>
        </p:sp>
        <p:sp>
          <p:nvSpPr>
            <p:cNvPr id="9" name="Freeform 9"/>
            <p:cNvSpPr/>
            <p:nvPr/>
          </p:nvSpPr>
          <p:spPr bwMode="auto">
            <a:xfrm>
              <a:off x="0" y="0"/>
              <a:ext cx="4374642" cy="1743837"/>
            </a:xfrm>
            <a:custGeom>
              <a:avLst/>
              <a:gdLst/>
              <a:ahLst/>
              <a:cxnLst/>
              <a:rect l="l" t="t" r="r" b="b"/>
              <a:pathLst>
                <a:path w="4374642" h="1743837" fill="norm" stroke="1" extrusionOk="0">
                  <a:moveTo>
                    <a:pt x="0" y="185547"/>
                  </a:moveTo>
                  <a:cubicBezTo>
                    <a:pt x="0" y="82296"/>
                    <a:pt x="85471" y="0"/>
                    <a:pt x="189103" y="0"/>
                  </a:cubicBezTo>
                  <a:lnTo>
                    <a:pt x="4185539" y="0"/>
                  </a:lnTo>
                  <a:lnTo>
                    <a:pt x="4185539" y="33020"/>
                  </a:lnTo>
                  <a:lnTo>
                    <a:pt x="4185539" y="0"/>
                  </a:lnTo>
                  <a:cubicBezTo>
                    <a:pt x="4289298" y="0"/>
                    <a:pt x="4374642" y="82296"/>
                    <a:pt x="4374642" y="185547"/>
                  </a:cubicBezTo>
                  <a:lnTo>
                    <a:pt x="4341622" y="185547"/>
                  </a:lnTo>
                  <a:lnTo>
                    <a:pt x="4374642" y="185547"/>
                  </a:lnTo>
                  <a:lnTo>
                    <a:pt x="4374642" y="1558290"/>
                  </a:lnTo>
                  <a:lnTo>
                    <a:pt x="4341622" y="1558290"/>
                  </a:lnTo>
                  <a:lnTo>
                    <a:pt x="4374642" y="1558290"/>
                  </a:lnTo>
                  <a:cubicBezTo>
                    <a:pt x="4374642" y="1661541"/>
                    <a:pt x="4289171" y="1743837"/>
                    <a:pt x="4185539" y="1743837"/>
                  </a:cubicBezTo>
                  <a:lnTo>
                    <a:pt x="4185539" y="1710817"/>
                  </a:lnTo>
                  <a:lnTo>
                    <a:pt x="4185539" y="1743837"/>
                  </a:lnTo>
                  <a:lnTo>
                    <a:pt x="189103" y="1743837"/>
                  </a:lnTo>
                  <a:lnTo>
                    <a:pt x="189103" y="1710817"/>
                  </a:lnTo>
                  <a:lnTo>
                    <a:pt x="189103" y="1743837"/>
                  </a:lnTo>
                  <a:cubicBezTo>
                    <a:pt x="85471" y="1743837"/>
                    <a:pt x="0" y="1661414"/>
                    <a:pt x="0" y="1558290"/>
                  </a:cubicBezTo>
                  <a:lnTo>
                    <a:pt x="0" y="185547"/>
                  </a:lnTo>
                  <a:lnTo>
                    <a:pt x="33020" y="185547"/>
                  </a:lnTo>
                  <a:lnTo>
                    <a:pt x="0" y="185547"/>
                  </a:lnTo>
                  <a:moveTo>
                    <a:pt x="66040" y="185547"/>
                  </a:moveTo>
                  <a:lnTo>
                    <a:pt x="66040" y="1558290"/>
                  </a:lnTo>
                  <a:lnTo>
                    <a:pt x="33020" y="1558290"/>
                  </a:lnTo>
                  <a:lnTo>
                    <a:pt x="66040" y="1558290"/>
                  </a:lnTo>
                  <a:cubicBezTo>
                    <a:pt x="66040" y="1623568"/>
                    <a:pt x="120396" y="1677797"/>
                    <a:pt x="189103" y="1677797"/>
                  </a:cubicBezTo>
                  <a:lnTo>
                    <a:pt x="4185539" y="1677797"/>
                  </a:lnTo>
                  <a:cubicBezTo>
                    <a:pt x="4254246" y="1677797"/>
                    <a:pt x="4308602" y="1623568"/>
                    <a:pt x="4308602" y="1558290"/>
                  </a:cubicBezTo>
                  <a:lnTo>
                    <a:pt x="4308602" y="185547"/>
                  </a:lnTo>
                  <a:cubicBezTo>
                    <a:pt x="4308602" y="120269"/>
                    <a:pt x="4254246" y="66040"/>
                    <a:pt x="4185539" y="66040"/>
                  </a:cubicBezTo>
                  <a:lnTo>
                    <a:pt x="189103" y="66040"/>
                  </a:lnTo>
                  <a:lnTo>
                    <a:pt x="189103" y="33020"/>
                  </a:lnTo>
                  <a:lnTo>
                    <a:pt x="189103" y="66040"/>
                  </a:lnTo>
                  <a:cubicBezTo>
                    <a:pt x="120396" y="66040"/>
                    <a:pt x="66040" y="120269"/>
                    <a:pt x="66040" y="185547"/>
                  </a:cubicBezTo>
                  <a:close/>
                </a:path>
              </a:pathLst>
            </a:custGeom>
            <a:solidFill>
              <a:srgbClr val="0078D4"/>
            </a:solidFill>
          </p:spPr>
          <p:txBody>
            <a:bodyPr/>
            <a:lstStyle/>
            <a:p>
              <a:pPr>
                <a:defRPr/>
              </a:pPr>
              <a:endParaRPr lang="en-US"/>
            </a:p>
          </p:txBody>
        </p:sp>
      </p:grpSp>
      <p:grpSp>
        <p:nvGrpSpPr>
          <p:cNvPr id="378348103" name="Group 10"/>
          <p:cNvGrpSpPr/>
          <p:nvPr/>
        </p:nvGrpSpPr>
        <p:grpSpPr bwMode="auto">
          <a:xfrm>
            <a:off x="1188222" y="3842923"/>
            <a:ext cx="629126" cy="686333"/>
            <a:chOff x="0" y="0"/>
            <a:chExt cx="838835" cy="915111"/>
          </a:xfrm>
        </p:grpSpPr>
        <p:sp>
          <p:nvSpPr>
            <p:cNvPr id="11" name="Freeform 11"/>
            <p:cNvSpPr/>
            <p:nvPr/>
          </p:nvSpPr>
          <p:spPr bwMode="auto">
            <a:xfrm>
              <a:off x="0" y="0"/>
              <a:ext cx="838835" cy="915035"/>
            </a:xfrm>
            <a:custGeom>
              <a:avLst/>
              <a:gdLst/>
              <a:ahLst/>
              <a:cxnLst/>
              <a:rect l="l" t="t" r="r" b="b"/>
              <a:pathLst>
                <a:path w="838835" h="915035" fill="norm" stroke="1" extrusionOk="0">
                  <a:moveTo>
                    <a:pt x="0" y="419354"/>
                  </a:moveTo>
                  <a:cubicBezTo>
                    <a:pt x="0" y="187833"/>
                    <a:pt x="187833" y="0"/>
                    <a:pt x="419354" y="0"/>
                  </a:cubicBezTo>
                  <a:cubicBezTo>
                    <a:pt x="650875" y="0"/>
                    <a:pt x="838835" y="187833"/>
                    <a:pt x="838835" y="419354"/>
                  </a:cubicBezTo>
                  <a:lnTo>
                    <a:pt x="838835" y="495681"/>
                  </a:lnTo>
                  <a:cubicBezTo>
                    <a:pt x="838835" y="727329"/>
                    <a:pt x="651002" y="915035"/>
                    <a:pt x="419481" y="915035"/>
                  </a:cubicBezTo>
                  <a:cubicBezTo>
                    <a:pt x="187960" y="915035"/>
                    <a:pt x="0" y="727329"/>
                    <a:pt x="0" y="495681"/>
                  </a:cubicBezTo>
                  <a:close/>
                </a:path>
              </a:pathLst>
            </a:custGeom>
            <a:solidFill>
              <a:srgbClr val="F3F2F1"/>
            </a:solidFill>
          </p:spPr>
          <p:txBody>
            <a:bodyPr/>
            <a:lstStyle/>
            <a:p>
              <a:pPr>
                <a:defRPr/>
              </a:pPr>
              <a:endParaRPr lang="en-US"/>
            </a:p>
          </p:txBody>
        </p:sp>
      </p:grpSp>
      <p:grpSp>
        <p:nvGrpSpPr>
          <p:cNvPr id="1654286609" name="Group 12"/>
          <p:cNvGrpSpPr/>
          <p:nvPr/>
        </p:nvGrpSpPr>
        <p:grpSpPr bwMode="auto">
          <a:xfrm>
            <a:off x="1331212" y="4011649"/>
            <a:ext cx="343157" cy="291694"/>
            <a:chOff x="0" y="0"/>
            <a:chExt cx="457543" cy="388925"/>
          </a:xfrm>
        </p:grpSpPr>
        <p:sp>
          <p:nvSpPr>
            <p:cNvPr id="13" name="Freeform 13" descr="image.png"/>
            <p:cNvSpPr/>
            <p:nvPr/>
          </p:nvSpPr>
          <p:spPr bwMode="auto">
            <a:xfrm>
              <a:off x="0" y="0"/>
              <a:ext cx="457581" cy="388874"/>
            </a:xfrm>
            <a:custGeom>
              <a:avLst/>
              <a:gdLst/>
              <a:ahLst/>
              <a:cxnLst/>
              <a:rect l="l" t="t" r="r" b="b"/>
              <a:pathLst>
                <a:path w="457581" h="388874" fill="norm" stroke="1" extrusionOk="0">
                  <a:moveTo>
                    <a:pt x="0" y="0"/>
                  </a:moveTo>
                  <a:lnTo>
                    <a:pt x="457581" y="0"/>
                  </a:lnTo>
                  <a:lnTo>
                    <a:pt x="457581" y="388874"/>
                  </a:lnTo>
                  <a:lnTo>
                    <a:pt x="0" y="388874"/>
                  </a:lnTo>
                  <a:lnTo>
                    <a:pt x="0" y="0"/>
                  </a:lnTo>
                  <a:close/>
                </a:path>
              </a:pathLst>
            </a:custGeom>
            <a:blipFill rotWithShape="1">
              <a:blip r:embed="rId4"/>
              <a:stretch>
                <a:fillRect l="-1" t="0" r="6" b="-13"/>
              </a:stretch>
            </a:blipFill>
          </p:spPr>
          <p:txBody>
            <a:bodyPr/>
            <a:lstStyle/>
            <a:p>
              <a:pPr>
                <a:defRPr/>
              </a:pPr>
              <a:endParaRPr lang="en-US"/>
            </a:p>
          </p:txBody>
        </p:sp>
      </p:grpSp>
      <p:grpSp>
        <p:nvGrpSpPr>
          <p:cNvPr id="666854195" name="Group 14"/>
          <p:cNvGrpSpPr/>
          <p:nvPr/>
        </p:nvGrpSpPr>
        <p:grpSpPr bwMode="auto">
          <a:xfrm>
            <a:off x="2031823" y="3785726"/>
            <a:ext cx="1744389" cy="424054"/>
            <a:chOff x="0" y="0"/>
            <a:chExt cx="2325853" cy="565405"/>
          </a:xfrm>
        </p:grpSpPr>
        <p:sp>
          <p:nvSpPr>
            <p:cNvPr id="15" name="Freeform 15"/>
            <p:cNvSpPr/>
            <p:nvPr/>
          </p:nvSpPr>
          <p:spPr bwMode="auto">
            <a:xfrm>
              <a:off x="0" y="0"/>
              <a:ext cx="2325857" cy="565398"/>
            </a:xfrm>
            <a:custGeom>
              <a:avLst/>
              <a:gdLst/>
              <a:ahLst/>
              <a:cxnLst/>
              <a:rect l="l" t="t" r="r" b="b"/>
              <a:pathLst>
                <a:path w="2325857" h="565398" fill="norm" stroke="1" extrusionOk="0">
                  <a:moveTo>
                    <a:pt x="0" y="0"/>
                  </a:moveTo>
                  <a:lnTo>
                    <a:pt x="2325857" y="0"/>
                  </a:lnTo>
                  <a:lnTo>
                    <a:pt x="2325857" y="565398"/>
                  </a:lnTo>
                  <a:lnTo>
                    <a:pt x="0" y="565398"/>
                  </a:lnTo>
                  <a:close/>
                </a:path>
              </a:pathLst>
            </a:custGeom>
            <a:blipFill rotWithShape="1">
              <a:blip r:embed="rId3">
                <a:alphaModFix amt="0"/>
              </a:blip>
              <a:stretch>
                <a:fillRect l="0" t="-44748" r="0" b="-15560"/>
              </a:stretch>
            </a:blipFill>
          </p:spPr>
          <p:txBody>
            <a:bodyPr/>
            <a:lstStyle/>
            <a:p>
              <a:pPr>
                <a:defRPr/>
              </a:pPr>
              <a:endParaRPr lang="en-US"/>
            </a:p>
          </p:txBody>
        </p:sp>
        <p:sp>
          <p:nvSpPr>
            <p:cNvPr id="16" name="TextBox 16"/>
            <p:cNvSpPr txBox="1"/>
            <p:nvPr/>
          </p:nvSpPr>
          <p:spPr bwMode="auto">
            <a:xfrm>
              <a:off x="0" y="0"/>
              <a:ext cx="2325853" cy="565405"/>
            </a:xfrm>
            <a:prstGeom prst="rect">
              <a:avLst/>
            </a:prstGeom>
            <a:grpFill/>
          </p:spPr>
          <p:txBody>
            <a:bodyPr lIns="0" tIns="0" rIns="0" bIns="0" rtlCol="0" anchor="ctr"/>
            <a:lstStyle/>
            <a:p>
              <a:pPr algn="l">
                <a:lnSpc>
                  <a:spcPts val="1938"/>
                </a:lnSpc>
                <a:defRPr/>
              </a:pPr>
              <a:r>
                <a:rPr lang="en-US" sz="1600" b="1">
                  <a:solidFill>
                    <a:srgbClr val="323130"/>
                  </a:solidFill>
                  <a:latin typeface="Helvetica World Bold"/>
                  <a:ea typeface="Helvetica World Bold"/>
                  <a:cs typeface="Helvetica World Bold"/>
                </a:rPr>
                <a:t>Public Entry</a:t>
              </a:r>
              <a:endParaRPr/>
            </a:p>
          </p:txBody>
        </p:sp>
      </p:grpSp>
      <p:grpSp>
        <p:nvGrpSpPr>
          <p:cNvPr id="1283882241" name="Group 17"/>
          <p:cNvGrpSpPr/>
          <p:nvPr/>
        </p:nvGrpSpPr>
        <p:grpSpPr bwMode="auto">
          <a:xfrm>
            <a:off x="2031823" y="4128892"/>
            <a:ext cx="1744389" cy="507848"/>
            <a:chOff x="0" y="0"/>
            <a:chExt cx="2325853" cy="677131"/>
          </a:xfrm>
        </p:grpSpPr>
        <p:sp>
          <p:nvSpPr>
            <p:cNvPr id="18" name="Freeform 18"/>
            <p:cNvSpPr/>
            <p:nvPr/>
          </p:nvSpPr>
          <p:spPr bwMode="auto">
            <a:xfrm>
              <a:off x="0" y="0"/>
              <a:ext cx="2325857" cy="677124"/>
            </a:xfrm>
            <a:custGeom>
              <a:avLst/>
              <a:gdLst/>
              <a:ahLst/>
              <a:cxnLst/>
              <a:rect l="l" t="t" r="r" b="b"/>
              <a:pathLst>
                <a:path w="2325857" h="677124" fill="norm" stroke="1" extrusionOk="0">
                  <a:moveTo>
                    <a:pt x="0" y="0"/>
                  </a:moveTo>
                  <a:lnTo>
                    <a:pt x="2325857" y="0"/>
                  </a:lnTo>
                  <a:lnTo>
                    <a:pt x="2325857" y="677124"/>
                  </a:lnTo>
                  <a:lnTo>
                    <a:pt x="0" y="677124"/>
                  </a:lnTo>
                  <a:close/>
                </a:path>
              </a:pathLst>
            </a:custGeom>
            <a:blipFill rotWithShape="1">
              <a:blip r:embed="rId3">
                <a:alphaModFix amt="0"/>
              </a:blip>
              <a:stretch>
                <a:fillRect l="0" t="-21879" r="0" b="-11977"/>
              </a:stretch>
            </a:blipFill>
          </p:spPr>
          <p:txBody>
            <a:bodyPr/>
            <a:lstStyle/>
            <a:p>
              <a:pPr>
                <a:defRPr/>
              </a:pPr>
              <a:endParaRPr lang="en-US"/>
            </a:p>
          </p:txBody>
        </p:sp>
        <p:sp>
          <p:nvSpPr>
            <p:cNvPr id="19" name="TextBox 19"/>
            <p:cNvSpPr txBox="1"/>
            <p:nvPr/>
          </p:nvSpPr>
          <p:spPr bwMode="auto">
            <a:xfrm>
              <a:off x="0" y="-9525"/>
              <a:ext cx="2325853" cy="686656"/>
            </a:xfrm>
            <a:prstGeom prst="rect">
              <a:avLst/>
            </a:prstGeom>
            <a:grpFill/>
          </p:spPr>
          <p:txBody>
            <a:bodyPr lIns="0" tIns="0" rIns="0" bIns="0" rtlCol="0" anchor="ctr"/>
            <a:lstStyle/>
            <a:p>
              <a:pPr algn="l">
                <a:lnSpc>
                  <a:spcPts val="1507"/>
                </a:lnSpc>
                <a:defRPr/>
              </a:pPr>
              <a:r>
                <a:rPr lang="en-US" sz="1250">
                  <a:solidFill>
                    <a:srgbClr val="605E5C"/>
                  </a:solidFill>
                  <a:latin typeface="Helvetica World"/>
                  <a:ea typeface="Helvetica World"/>
                  <a:cs typeface="Helvetica World"/>
                </a:rPr>
                <a:t>Azure Application Gateway</a:t>
              </a:r>
              <a:endParaRPr/>
            </a:p>
          </p:txBody>
        </p:sp>
      </p:grpSp>
      <p:grpSp>
        <p:nvGrpSpPr>
          <p:cNvPr id="1181989101" name="Group 20"/>
          <p:cNvGrpSpPr/>
          <p:nvPr/>
        </p:nvGrpSpPr>
        <p:grpSpPr bwMode="auto">
          <a:xfrm>
            <a:off x="820281" y="5004926"/>
            <a:ext cx="3280991" cy="1307849"/>
            <a:chOff x="0" y="0"/>
            <a:chExt cx="4374655" cy="1743799"/>
          </a:xfrm>
        </p:grpSpPr>
        <p:sp>
          <p:nvSpPr>
            <p:cNvPr id="21" name="Freeform 21"/>
            <p:cNvSpPr/>
            <p:nvPr/>
          </p:nvSpPr>
          <p:spPr bwMode="auto">
            <a:xfrm>
              <a:off x="33020" y="33020"/>
              <a:ext cx="4308602" cy="1677797"/>
            </a:xfrm>
            <a:custGeom>
              <a:avLst/>
              <a:gdLst/>
              <a:ahLst/>
              <a:cxnLst/>
              <a:rect l="l" t="t" r="r" b="b"/>
              <a:pathLst>
                <a:path w="4308602" h="1677797" fill="norm" stroke="1" extrusionOk="0">
                  <a:moveTo>
                    <a:pt x="0" y="152527"/>
                  </a:moveTo>
                  <a:cubicBezTo>
                    <a:pt x="0" y="68326"/>
                    <a:pt x="69977" y="0"/>
                    <a:pt x="156083" y="0"/>
                  </a:cubicBezTo>
                  <a:lnTo>
                    <a:pt x="4152519" y="0"/>
                  </a:lnTo>
                  <a:cubicBezTo>
                    <a:pt x="4238752" y="0"/>
                    <a:pt x="4308602" y="68326"/>
                    <a:pt x="4308602" y="152527"/>
                  </a:cubicBezTo>
                  <a:lnTo>
                    <a:pt x="4308602" y="1525270"/>
                  </a:lnTo>
                  <a:cubicBezTo>
                    <a:pt x="4308602" y="1609471"/>
                    <a:pt x="4238752" y="1677797"/>
                    <a:pt x="4152519" y="1677797"/>
                  </a:cubicBezTo>
                  <a:lnTo>
                    <a:pt x="156083" y="1677797"/>
                  </a:lnTo>
                  <a:cubicBezTo>
                    <a:pt x="69850" y="1677797"/>
                    <a:pt x="0" y="1609471"/>
                    <a:pt x="0" y="1525270"/>
                  </a:cubicBezTo>
                  <a:close/>
                </a:path>
              </a:pathLst>
            </a:custGeom>
            <a:solidFill>
              <a:srgbClr val="FFFFFF"/>
            </a:solidFill>
          </p:spPr>
          <p:txBody>
            <a:bodyPr/>
            <a:lstStyle/>
            <a:p>
              <a:pPr>
                <a:defRPr/>
              </a:pPr>
              <a:endParaRPr lang="en-US"/>
            </a:p>
          </p:txBody>
        </p:sp>
        <p:sp>
          <p:nvSpPr>
            <p:cNvPr id="22" name="Freeform 22"/>
            <p:cNvSpPr/>
            <p:nvPr/>
          </p:nvSpPr>
          <p:spPr bwMode="auto">
            <a:xfrm>
              <a:off x="0" y="0"/>
              <a:ext cx="4374642" cy="1743837"/>
            </a:xfrm>
            <a:custGeom>
              <a:avLst/>
              <a:gdLst/>
              <a:ahLst/>
              <a:cxnLst/>
              <a:rect l="l" t="t" r="r" b="b"/>
              <a:pathLst>
                <a:path w="4374642" h="1743837" fill="norm" stroke="1" extrusionOk="0">
                  <a:moveTo>
                    <a:pt x="0" y="185547"/>
                  </a:moveTo>
                  <a:cubicBezTo>
                    <a:pt x="0" y="82296"/>
                    <a:pt x="85471" y="0"/>
                    <a:pt x="189103" y="0"/>
                  </a:cubicBezTo>
                  <a:lnTo>
                    <a:pt x="4185539" y="0"/>
                  </a:lnTo>
                  <a:lnTo>
                    <a:pt x="4185539" y="33020"/>
                  </a:lnTo>
                  <a:lnTo>
                    <a:pt x="4185539" y="0"/>
                  </a:lnTo>
                  <a:cubicBezTo>
                    <a:pt x="4289298" y="0"/>
                    <a:pt x="4374642" y="82296"/>
                    <a:pt x="4374642" y="185547"/>
                  </a:cubicBezTo>
                  <a:lnTo>
                    <a:pt x="4341622" y="185547"/>
                  </a:lnTo>
                  <a:lnTo>
                    <a:pt x="4374642" y="185547"/>
                  </a:lnTo>
                  <a:lnTo>
                    <a:pt x="4374642" y="1558290"/>
                  </a:lnTo>
                  <a:lnTo>
                    <a:pt x="4341622" y="1558290"/>
                  </a:lnTo>
                  <a:lnTo>
                    <a:pt x="4374642" y="1558290"/>
                  </a:lnTo>
                  <a:cubicBezTo>
                    <a:pt x="4374642" y="1661541"/>
                    <a:pt x="4289171" y="1743837"/>
                    <a:pt x="4185539" y="1743837"/>
                  </a:cubicBezTo>
                  <a:lnTo>
                    <a:pt x="4185539" y="1710817"/>
                  </a:lnTo>
                  <a:lnTo>
                    <a:pt x="4185539" y="1743837"/>
                  </a:lnTo>
                  <a:lnTo>
                    <a:pt x="189103" y="1743837"/>
                  </a:lnTo>
                  <a:lnTo>
                    <a:pt x="189103" y="1710817"/>
                  </a:lnTo>
                  <a:lnTo>
                    <a:pt x="189103" y="1743837"/>
                  </a:lnTo>
                  <a:cubicBezTo>
                    <a:pt x="85471" y="1743837"/>
                    <a:pt x="0" y="1661414"/>
                    <a:pt x="0" y="1558290"/>
                  </a:cubicBezTo>
                  <a:lnTo>
                    <a:pt x="0" y="185547"/>
                  </a:lnTo>
                  <a:lnTo>
                    <a:pt x="33020" y="185547"/>
                  </a:lnTo>
                  <a:lnTo>
                    <a:pt x="0" y="185547"/>
                  </a:lnTo>
                  <a:moveTo>
                    <a:pt x="66040" y="185547"/>
                  </a:moveTo>
                  <a:lnTo>
                    <a:pt x="66040" y="1558290"/>
                  </a:lnTo>
                  <a:lnTo>
                    <a:pt x="33020" y="1558290"/>
                  </a:lnTo>
                  <a:lnTo>
                    <a:pt x="66040" y="1558290"/>
                  </a:lnTo>
                  <a:cubicBezTo>
                    <a:pt x="66040" y="1623568"/>
                    <a:pt x="120396" y="1677797"/>
                    <a:pt x="189103" y="1677797"/>
                  </a:cubicBezTo>
                  <a:lnTo>
                    <a:pt x="4185539" y="1677797"/>
                  </a:lnTo>
                  <a:cubicBezTo>
                    <a:pt x="4254246" y="1677797"/>
                    <a:pt x="4308602" y="1623568"/>
                    <a:pt x="4308602" y="1558290"/>
                  </a:cubicBezTo>
                  <a:lnTo>
                    <a:pt x="4308602" y="185547"/>
                  </a:lnTo>
                  <a:cubicBezTo>
                    <a:pt x="4308602" y="120269"/>
                    <a:pt x="4254246" y="66040"/>
                    <a:pt x="4185539" y="66040"/>
                  </a:cubicBezTo>
                  <a:lnTo>
                    <a:pt x="189103" y="66040"/>
                  </a:lnTo>
                  <a:lnTo>
                    <a:pt x="189103" y="33020"/>
                  </a:lnTo>
                  <a:lnTo>
                    <a:pt x="189103" y="66040"/>
                  </a:lnTo>
                  <a:cubicBezTo>
                    <a:pt x="120396" y="66040"/>
                    <a:pt x="66040" y="120269"/>
                    <a:pt x="66040" y="185547"/>
                  </a:cubicBezTo>
                  <a:close/>
                </a:path>
              </a:pathLst>
            </a:custGeom>
            <a:solidFill>
              <a:srgbClr val="0078D4"/>
            </a:solidFill>
          </p:spPr>
          <p:txBody>
            <a:bodyPr/>
            <a:lstStyle/>
            <a:p>
              <a:pPr>
                <a:defRPr/>
              </a:pPr>
              <a:endParaRPr lang="en-US"/>
            </a:p>
          </p:txBody>
        </p:sp>
      </p:grpSp>
      <p:grpSp>
        <p:nvGrpSpPr>
          <p:cNvPr id="1719923730" name="Group 23"/>
          <p:cNvGrpSpPr/>
          <p:nvPr/>
        </p:nvGrpSpPr>
        <p:grpSpPr bwMode="auto">
          <a:xfrm>
            <a:off x="1188222" y="5315679"/>
            <a:ext cx="629126" cy="686333"/>
            <a:chOff x="0" y="0"/>
            <a:chExt cx="838835" cy="915111"/>
          </a:xfrm>
        </p:grpSpPr>
        <p:sp>
          <p:nvSpPr>
            <p:cNvPr id="24" name="Freeform 24"/>
            <p:cNvSpPr/>
            <p:nvPr/>
          </p:nvSpPr>
          <p:spPr bwMode="auto">
            <a:xfrm>
              <a:off x="0" y="0"/>
              <a:ext cx="838835" cy="915035"/>
            </a:xfrm>
            <a:custGeom>
              <a:avLst/>
              <a:gdLst/>
              <a:ahLst/>
              <a:cxnLst/>
              <a:rect l="l" t="t" r="r" b="b"/>
              <a:pathLst>
                <a:path w="838835" h="915035" fill="norm" stroke="1" extrusionOk="0">
                  <a:moveTo>
                    <a:pt x="0" y="419354"/>
                  </a:moveTo>
                  <a:cubicBezTo>
                    <a:pt x="0" y="187833"/>
                    <a:pt x="187833" y="0"/>
                    <a:pt x="419354" y="0"/>
                  </a:cubicBezTo>
                  <a:cubicBezTo>
                    <a:pt x="650875" y="0"/>
                    <a:pt x="838835" y="187833"/>
                    <a:pt x="838835" y="419354"/>
                  </a:cubicBezTo>
                  <a:lnTo>
                    <a:pt x="838835" y="495681"/>
                  </a:lnTo>
                  <a:cubicBezTo>
                    <a:pt x="838835" y="727329"/>
                    <a:pt x="651002" y="915035"/>
                    <a:pt x="419481" y="915035"/>
                  </a:cubicBezTo>
                  <a:cubicBezTo>
                    <a:pt x="187960" y="915035"/>
                    <a:pt x="0" y="727329"/>
                    <a:pt x="0" y="495681"/>
                  </a:cubicBezTo>
                  <a:close/>
                </a:path>
              </a:pathLst>
            </a:custGeom>
            <a:solidFill>
              <a:srgbClr val="F3F2F1"/>
            </a:solidFill>
          </p:spPr>
          <p:txBody>
            <a:bodyPr/>
            <a:lstStyle/>
            <a:p>
              <a:pPr>
                <a:defRPr/>
              </a:pPr>
              <a:endParaRPr lang="en-US"/>
            </a:p>
          </p:txBody>
        </p:sp>
      </p:grpSp>
      <p:grpSp>
        <p:nvGrpSpPr>
          <p:cNvPr id="716891452" name="Group 25"/>
          <p:cNvGrpSpPr/>
          <p:nvPr/>
        </p:nvGrpSpPr>
        <p:grpSpPr bwMode="auto">
          <a:xfrm>
            <a:off x="1331212" y="5523019"/>
            <a:ext cx="343157" cy="214484"/>
            <a:chOff x="0" y="0"/>
            <a:chExt cx="457543" cy="285979"/>
          </a:xfrm>
        </p:grpSpPr>
        <p:sp>
          <p:nvSpPr>
            <p:cNvPr id="26" name="Freeform 26" descr="image.png"/>
            <p:cNvSpPr/>
            <p:nvPr/>
          </p:nvSpPr>
          <p:spPr bwMode="auto">
            <a:xfrm>
              <a:off x="0" y="0"/>
              <a:ext cx="457581" cy="286004"/>
            </a:xfrm>
            <a:custGeom>
              <a:avLst/>
              <a:gdLst/>
              <a:ahLst/>
              <a:cxnLst/>
              <a:rect l="l" t="t" r="r" b="b"/>
              <a:pathLst>
                <a:path w="457581" h="286004" fill="norm" stroke="1" extrusionOk="0">
                  <a:moveTo>
                    <a:pt x="0" y="0"/>
                  </a:moveTo>
                  <a:lnTo>
                    <a:pt x="457581" y="0"/>
                  </a:lnTo>
                  <a:lnTo>
                    <a:pt x="457581" y="286004"/>
                  </a:lnTo>
                  <a:lnTo>
                    <a:pt x="0" y="286004"/>
                  </a:lnTo>
                  <a:lnTo>
                    <a:pt x="0" y="0"/>
                  </a:lnTo>
                  <a:close/>
                </a:path>
              </a:pathLst>
            </a:custGeom>
            <a:blipFill rotWithShape="1">
              <a:blip r:embed="rId5"/>
              <a:stretch>
                <a:fillRect l="-1" t="0" r="6" b="7"/>
              </a:stretch>
            </a:blipFill>
          </p:spPr>
          <p:txBody>
            <a:bodyPr/>
            <a:lstStyle/>
            <a:p>
              <a:pPr>
                <a:defRPr/>
              </a:pPr>
              <a:endParaRPr lang="en-US"/>
            </a:p>
          </p:txBody>
        </p:sp>
      </p:grpSp>
      <p:grpSp>
        <p:nvGrpSpPr>
          <p:cNvPr id="903965937" name="Group 27"/>
          <p:cNvGrpSpPr/>
          <p:nvPr/>
        </p:nvGrpSpPr>
        <p:grpSpPr bwMode="auto">
          <a:xfrm>
            <a:off x="2031823" y="5258491"/>
            <a:ext cx="1744389" cy="424054"/>
            <a:chOff x="0" y="0"/>
            <a:chExt cx="2325853" cy="565405"/>
          </a:xfrm>
        </p:grpSpPr>
        <p:sp>
          <p:nvSpPr>
            <p:cNvPr id="28" name="Freeform 28"/>
            <p:cNvSpPr/>
            <p:nvPr/>
          </p:nvSpPr>
          <p:spPr bwMode="auto">
            <a:xfrm>
              <a:off x="0" y="0"/>
              <a:ext cx="2325857" cy="565398"/>
            </a:xfrm>
            <a:custGeom>
              <a:avLst/>
              <a:gdLst/>
              <a:ahLst/>
              <a:cxnLst/>
              <a:rect l="l" t="t" r="r" b="b"/>
              <a:pathLst>
                <a:path w="2325857" h="565398" fill="norm" stroke="1" extrusionOk="0">
                  <a:moveTo>
                    <a:pt x="0" y="0"/>
                  </a:moveTo>
                  <a:lnTo>
                    <a:pt x="2325857" y="0"/>
                  </a:lnTo>
                  <a:lnTo>
                    <a:pt x="2325857" y="565398"/>
                  </a:lnTo>
                  <a:lnTo>
                    <a:pt x="0" y="565398"/>
                  </a:lnTo>
                  <a:close/>
                </a:path>
              </a:pathLst>
            </a:custGeom>
            <a:blipFill rotWithShape="1">
              <a:blip r:embed="rId3">
                <a:alphaModFix amt="0"/>
              </a:blip>
              <a:stretch>
                <a:fillRect l="0" t="-44748" r="0" b="-15560"/>
              </a:stretch>
            </a:blipFill>
          </p:spPr>
          <p:txBody>
            <a:bodyPr/>
            <a:lstStyle/>
            <a:p>
              <a:pPr>
                <a:defRPr/>
              </a:pPr>
              <a:endParaRPr lang="en-US"/>
            </a:p>
          </p:txBody>
        </p:sp>
        <p:sp>
          <p:nvSpPr>
            <p:cNvPr id="29" name="TextBox 29"/>
            <p:cNvSpPr txBox="1"/>
            <p:nvPr/>
          </p:nvSpPr>
          <p:spPr bwMode="auto">
            <a:xfrm>
              <a:off x="0" y="0"/>
              <a:ext cx="2325853" cy="565405"/>
            </a:xfrm>
            <a:prstGeom prst="rect">
              <a:avLst/>
            </a:prstGeom>
            <a:grpFill/>
          </p:spPr>
          <p:txBody>
            <a:bodyPr lIns="0" tIns="0" rIns="0" bIns="0" rtlCol="0" anchor="ctr"/>
            <a:lstStyle/>
            <a:p>
              <a:pPr algn="l">
                <a:lnSpc>
                  <a:spcPts val="1938"/>
                </a:lnSpc>
                <a:defRPr/>
              </a:pPr>
              <a:r>
                <a:rPr lang="en-US" sz="1600" b="1">
                  <a:solidFill>
                    <a:srgbClr val="323130"/>
                  </a:solidFill>
                  <a:latin typeface="Helvetica World Bold"/>
                  <a:ea typeface="Helvetica World Bold"/>
                  <a:cs typeface="Helvetica World Bold"/>
                </a:rPr>
                <a:t>App Tier</a:t>
              </a:r>
              <a:endParaRPr/>
            </a:p>
          </p:txBody>
        </p:sp>
      </p:grpSp>
      <p:grpSp>
        <p:nvGrpSpPr>
          <p:cNvPr id="41840443" name="Group 30"/>
          <p:cNvGrpSpPr/>
          <p:nvPr/>
        </p:nvGrpSpPr>
        <p:grpSpPr bwMode="auto">
          <a:xfrm>
            <a:off x="2031823" y="5601657"/>
            <a:ext cx="1744389" cy="457557"/>
            <a:chOff x="0" y="0"/>
            <a:chExt cx="2325853" cy="610077"/>
          </a:xfrm>
        </p:grpSpPr>
        <p:sp>
          <p:nvSpPr>
            <p:cNvPr id="31" name="Freeform 31"/>
            <p:cNvSpPr/>
            <p:nvPr/>
          </p:nvSpPr>
          <p:spPr bwMode="auto">
            <a:xfrm>
              <a:off x="0" y="0"/>
              <a:ext cx="2325857" cy="610071"/>
            </a:xfrm>
            <a:custGeom>
              <a:avLst/>
              <a:gdLst/>
              <a:ahLst/>
              <a:cxnLst/>
              <a:rect l="l" t="t" r="r" b="b"/>
              <a:pathLst>
                <a:path w="2325857" h="610071" fill="norm" stroke="1" extrusionOk="0">
                  <a:moveTo>
                    <a:pt x="0" y="0"/>
                  </a:moveTo>
                  <a:lnTo>
                    <a:pt x="2325857" y="0"/>
                  </a:lnTo>
                  <a:lnTo>
                    <a:pt x="2325857" y="610071"/>
                  </a:lnTo>
                  <a:lnTo>
                    <a:pt x="0" y="610071"/>
                  </a:lnTo>
                  <a:close/>
                </a:path>
              </a:pathLst>
            </a:custGeom>
            <a:blipFill rotWithShape="1">
              <a:blip r:embed="rId3">
                <a:alphaModFix amt="0"/>
              </a:blip>
              <a:stretch>
                <a:fillRect l="0" t="-24284" r="0" b="-24286"/>
              </a:stretch>
            </a:blipFill>
          </p:spPr>
          <p:txBody>
            <a:bodyPr/>
            <a:lstStyle/>
            <a:p>
              <a:pPr>
                <a:defRPr/>
              </a:pPr>
              <a:endParaRPr lang="en-US"/>
            </a:p>
          </p:txBody>
        </p:sp>
        <p:sp>
          <p:nvSpPr>
            <p:cNvPr id="32" name="TextBox 32"/>
            <p:cNvSpPr txBox="1"/>
            <p:nvPr/>
          </p:nvSpPr>
          <p:spPr bwMode="auto">
            <a:xfrm>
              <a:off x="0" y="-9525"/>
              <a:ext cx="2325853" cy="619602"/>
            </a:xfrm>
            <a:prstGeom prst="rect">
              <a:avLst/>
            </a:prstGeom>
            <a:grpFill/>
          </p:spPr>
          <p:txBody>
            <a:bodyPr lIns="0" tIns="0" rIns="0" bIns="0" rtlCol="0" anchor="ctr"/>
            <a:lstStyle/>
            <a:p>
              <a:pPr algn="l">
                <a:lnSpc>
                  <a:spcPts val="1507"/>
                </a:lnSpc>
                <a:defRPr/>
              </a:pPr>
              <a:r>
                <a:rPr lang="en-US" sz="1250">
                  <a:solidFill>
                    <a:srgbClr val="605E5C"/>
                  </a:solidFill>
                  <a:latin typeface="Helvetica World"/>
                  <a:ea typeface="Helvetica World"/>
                  <a:cs typeface="Helvetica World"/>
                </a:rPr>
                <a:t>Azure Container Apps</a:t>
              </a:r>
              <a:endParaRPr/>
            </a:p>
          </p:txBody>
        </p:sp>
      </p:grpSp>
      <p:grpSp>
        <p:nvGrpSpPr>
          <p:cNvPr id="1057056156" name="Group 33"/>
          <p:cNvGrpSpPr/>
          <p:nvPr/>
        </p:nvGrpSpPr>
        <p:grpSpPr bwMode="auto">
          <a:xfrm>
            <a:off x="820281" y="6477691"/>
            <a:ext cx="3280991" cy="1307849"/>
            <a:chOff x="0" y="0"/>
            <a:chExt cx="4374655" cy="1743799"/>
          </a:xfrm>
        </p:grpSpPr>
        <p:sp>
          <p:nvSpPr>
            <p:cNvPr id="34" name="Freeform 34"/>
            <p:cNvSpPr/>
            <p:nvPr/>
          </p:nvSpPr>
          <p:spPr bwMode="auto">
            <a:xfrm>
              <a:off x="33020" y="33020"/>
              <a:ext cx="4308602" cy="1677797"/>
            </a:xfrm>
            <a:custGeom>
              <a:avLst/>
              <a:gdLst/>
              <a:ahLst/>
              <a:cxnLst/>
              <a:rect l="l" t="t" r="r" b="b"/>
              <a:pathLst>
                <a:path w="4308602" h="1677797" fill="norm" stroke="1" extrusionOk="0">
                  <a:moveTo>
                    <a:pt x="0" y="152527"/>
                  </a:moveTo>
                  <a:cubicBezTo>
                    <a:pt x="0" y="68326"/>
                    <a:pt x="69977" y="0"/>
                    <a:pt x="156083" y="0"/>
                  </a:cubicBezTo>
                  <a:lnTo>
                    <a:pt x="4152519" y="0"/>
                  </a:lnTo>
                  <a:cubicBezTo>
                    <a:pt x="4238752" y="0"/>
                    <a:pt x="4308602" y="68326"/>
                    <a:pt x="4308602" y="152527"/>
                  </a:cubicBezTo>
                  <a:lnTo>
                    <a:pt x="4308602" y="1525270"/>
                  </a:lnTo>
                  <a:cubicBezTo>
                    <a:pt x="4308602" y="1609471"/>
                    <a:pt x="4238752" y="1677797"/>
                    <a:pt x="4152519" y="1677797"/>
                  </a:cubicBezTo>
                  <a:lnTo>
                    <a:pt x="156083" y="1677797"/>
                  </a:lnTo>
                  <a:cubicBezTo>
                    <a:pt x="69850" y="1677797"/>
                    <a:pt x="0" y="1609471"/>
                    <a:pt x="0" y="1525270"/>
                  </a:cubicBezTo>
                  <a:close/>
                </a:path>
              </a:pathLst>
            </a:custGeom>
            <a:solidFill>
              <a:srgbClr val="FFFFFF"/>
            </a:solidFill>
          </p:spPr>
          <p:txBody>
            <a:bodyPr/>
            <a:lstStyle/>
            <a:p>
              <a:pPr>
                <a:defRPr/>
              </a:pPr>
              <a:endParaRPr lang="en-US"/>
            </a:p>
          </p:txBody>
        </p:sp>
        <p:sp>
          <p:nvSpPr>
            <p:cNvPr id="35" name="Freeform 35"/>
            <p:cNvSpPr/>
            <p:nvPr/>
          </p:nvSpPr>
          <p:spPr bwMode="auto">
            <a:xfrm>
              <a:off x="0" y="0"/>
              <a:ext cx="4374642" cy="1743837"/>
            </a:xfrm>
            <a:custGeom>
              <a:avLst/>
              <a:gdLst/>
              <a:ahLst/>
              <a:cxnLst/>
              <a:rect l="l" t="t" r="r" b="b"/>
              <a:pathLst>
                <a:path w="4374642" h="1743837" fill="norm" stroke="1" extrusionOk="0">
                  <a:moveTo>
                    <a:pt x="0" y="185547"/>
                  </a:moveTo>
                  <a:cubicBezTo>
                    <a:pt x="0" y="82296"/>
                    <a:pt x="85471" y="0"/>
                    <a:pt x="189103" y="0"/>
                  </a:cubicBezTo>
                  <a:lnTo>
                    <a:pt x="4185539" y="0"/>
                  </a:lnTo>
                  <a:lnTo>
                    <a:pt x="4185539" y="33020"/>
                  </a:lnTo>
                  <a:lnTo>
                    <a:pt x="4185539" y="0"/>
                  </a:lnTo>
                  <a:cubicBezTo>
                    <a:pt x="4289298" y="0"/>
                    <a:pt x="4374642" y="82296"/>
                    <a:pt x="4374642" y="185547"/>
                  </a:cubicBezTo>
                  <a:lnTo>
                    <a:pt x="4341622" y="185547"/>
                  </a:lnTo>
                  <a:lnTo>
                    <a:pt x="4374642" y="185547"/>
                  </a:lnTo>
                  <a:lnTo>
                    <a:pt x="4374642" y="1558290"/>
                  </a:lnTo>
                  <a:lnTo>
                    <a:pt x="4341622" y="1558290"/>
                  </a:lnTo>
                  <a:lnTo>
                    <a:pt x="4374642" y="1558290"/>
                  </a:lnTo>
                  <a:cubicBezTo>
                    <a:pt x="4374642" y="1661541"/>
                    <a:pt x="4289171" y="1743837"/>
                    <a:pt x="4185539" y="1743837"/>
                  </a:cubicBezTo>
                  <a:lnTo>
                    <a:pt x="4185539" y="1710817"/>
                  </a:lnTo>
                  <a:lnTo>
                    <a:pt x="4185539" y="1743837"/>
                  </a:lnTo>
                  <a:lnTo>
                    <a:pt x="189103" y="1743837"/>
                  </a:lnTo>
                  <a:lnTo>
                    <a:pt x="189103" y="1710817"/>
                  </a:lnTo>
                  <a:lnTo>
                    <a:pt x="189103" y="1743837"/>
                  </a:lnTo>
                  <a:cubicBezTo>
                    <a:pt x="85471" y="1743837"/>
                    <a:pt x="0" y="1661414"/>
                    <a:pt x="0" y="1558290"/>
                  </a:cubicBezTo>
                  <a:lnTo>
                    <a:pt x="0" y="185547"/>
                  </a:lnTo>
                  <a:lnTo>
                    <a:pt x="33020" y="185547"/>
                  </a:lnTo>
                  <a:lnTo>
                    <a:pt x="0" y="185547"/>
                  </a:lnTo>
                  <a:moveTo>
                    <a:pt x="66040" y="185547"/>
                  </a:moveTo>
                  <a:lnTo>
                    <a:pt x="66040" y="1558290"/>
                  </a:lnTo>
                  <a:lnTo>
                    <a:pt x="33020" y="1558290"/>
                  </a:lnTo>
                  <a:lnTo>
                    <a:pt x="66040" y="1558290"/>
                  </a:lnTo>
                  <a:cubicBezTo>
                    <a:pt x="66040" y="1623568"/>
                    <a:pt x="120396" y="1677797"/>
                    <a:pt x="189103" y="1677797"/>
                  </a:cubicBezTo>
                  <a:lnTo>
                    <a:pt x="4185539" y="1677797"/>
                  </a:lnTo>
                  <a:cubicBezTo>
                    <a:pt x="4254246" y="1677797"/>
                    <a:pt x="4308602" y="1623568"/>
                    <a:pt x="4308602" y="1558290"/>
                  </a:cubicBezTo>
                  <a:lnTo>
                    <a:pt x="4308602" y="185547"/>
                  </a:lnTo>
                  <a:cubicBezTo>
                    <a:pt x="4308602" y="120269"/>
                    <a:pt x="4254246" y="66040"/>
                    <a:pt x="4185539" y="66040"/>
                  </a:cubicBezTo>
                  <a:lnTo>
                    <a:pt x="189103" y="66040"/>
                  </a:lnTo>
                  <a:lnTo>
                    <a:pt x="189103" y="33020"/>
                  </a:lnTo>
                  <a:lnTo>
                    <a:pt x="189103" y="66040"/>
                  </a:lnTo>
                  <a:cubicBezTo>
                    <a:pt x="120396" y="66040"/>
                    <a:pt x="66040" y="120269"/>
                    <a:pt x="66040" y="185547"/>
                  </a:cubicBezTo>
                  <a:close/>
                </a:path>
              </a:pathLst>
            </a:custGeom>
            <a:solidFill>
              <a:srgbClr val="0078D4"/>
            </a:solidFill>
          </p:spPr>
          <p:txBody>
            <a:bodyPr/>
            <a:lstStyle/>
            <a:p>
              <a:pPr>
                <a:defRPr/>
              </a:pPr>
              <a:endParaRPr lang="en-US"/>
            </a:p>
          </p:txBody>
        </p:sp>
      </p:grpSp>
      <p:grpSp>
        <p:nvGrpSpPr>
          <p:cNvPr id="274942400" name="Group 36"/>
          <p:cNvGrpSpPr/>
          <p:nvPr/>
        </p:nvGrpSpPr>
        <p:grpSpPr bwMode="auto">
          <a:xfrm>
            <a:off x="1188222" y="6788444"/>
            <a:ext cx="629126" cy="686333"/>
            <a:chOff x="0" y="0"/>
            <a:chExt cx="838835" cy="915111"/>
          </a:xfrm>
        </p:grpSpPr>
        <p:sp>
          <p:nvSpPr>
            <p:cNvPr id="37" name="Freeform 37"/>
            <p:cNvSpPr/>
            <p:nvPr/>
          </p:nvSpPr>
          <p:spPr bwMode="auto">
            <a:xfrm>
              <a:off x="0" y="0"/>
              <a:ext cx="838835" cy="915035"/>
            </a:xfrm>
            <a:custGeom>
              <a:avLst/>
              <a:gdLst/>
              <a:ahLst/>
              <a:cxnLst/>
              <a:rect l="l" t="t" r="r" b="b"/>
              <a:pathLst>
                <a:path w="838835" h="915035" fill="norm" stroke="1" extrusionOk="0">
                  <a:moveTo>
                    <a:pt x="0" y="419354"/>
                  </a:moveTo>
                  <a:cubicBezTo>
                    <a:pt x="0" y="187833"/>
                    <a:pt x="187833" y="0"/>
                    <a:pt x="419354" y="0"/>
                  </a:cubicBezTo>
                  <a:cubicBezTo>
                    <a:pt x="650875" y="0"/>
                    <a:pt x="838835" y="187833"/>
                    <a:pt x="838835" y="419354"/>
                  </a:cubicBezTo>
                  <a:lnTo>
                    <a:pt x="838835" y="495681"/>
                  </a:lnTo>
                  <a:cubicBezTo>
                    <a:pt x="838835" y="727329"/>
                    <a:pt x="651002" y="915035"/>
                    <a:pt x="419481" y="915035"/>
                  </a:cubicBezTo>
                  <a:cubicBezTo>
                    <a:pt x="187960" y="915035"/>
                    <a:pt x="0" y="727329"/>
                    <a:pt x="0" y="495681"/>
                  </a:cubicBezTo>
                  <a:close/>
                </a:path>
              </a:pathLst>
            </a:custGeom>
            <a:solidFill>
              <a:srgbClr val="F3F2F1"/>
            </a:solidFill>
          </p:spPr>
          <p:txBody>
            <a:bodyPr/>
            <a:lstStyle/>
            <a:p>
              <a:pPr>
                <a:defRPr/>
              </a:pPr>
              <a:endParaRPr lang="en-US"/>
            </a:p>
          </p:txBody>
        </p:sp>
      </p:grpSp>
      <p:grpSp>
        <p:nvGrpSpPr>
          <p:cNvPr id="437306812" name="Group 38"/>
          <p:cNvGrpSpPr/>
          <p:nvPr/>
        </p:nvGrpSpPr>
        <p:grpSpPr bwMode="auto">
          <a:xfrm>
            <a:off x="1331212" y="6978620"/>
            <a:ext cx="343157" cy="248793"/>
            <a:chOff x="0" y="0"/>
            <a:chExt cx="457543" cy="331724"/>
          </a:xfrm>
        </p:grpSpPr>
        <p:sp>
          <p:nvSpPr>
            <p:cNvPr id="39" name="Freeform 39" descr="image.png"/>
            <p:cNvSpPr/>
            <p:nvPr/>
          </p:nvSpPr>
          <p:spPr bwMode="auto">
            <a:xfrm>
              <a:off x="0" y="0"/>
              <a:ext cx="457581" cy="331724"/>
            </a:xfrm>
            <a:custGeom>
              <a:avLst/>
              <a:gdLst/>
              <a:ahLst/>
              <a:cxnLst/>
              <a:rect l="l" t="t" r="r" b="b"/>
              <a:pathLst>
                <a:path w="457581" h="331724" fill="norm" stroke="1" extrusionOk="0">
                  <a:moveTo>
                    <a:pt x="0" y="0"/>
                  </a:moveTo>
                  <a:lnTo>
                    <a:pt x="457581" y="0"/>
                  </a:lnTo>
                  <a:lnTo>
                    <a:pt x="457581" y="331724"/>
                  </a:lnTo>
                  <a:lnTo>
                    <a:pt x="0" y="331724"/>
                  </a:lnTo>
                  <a:lnTo>
                    <a:pt x="0" y="0"/>
                  </a:lnTo>
                  <a:close/>
                </a:path>
              </a:pathLst>
            </a:custGeom>
            <a:blipFill rotWithShape="1">
              <a:blip r:embed="rId6"/>
              <a:stretch>
                <a:fillRect l="-1" t="0" r="6" b="0"/>
              </a:stretch>
            </a:blipFill>
          </p:spPr>
          <p:txBody>
            <a:bodyPr/>
            <a:lstStyle/>
            <a:p>
              <a:pPr>
                <a:defRPr/>
              </a:pPr>
              <a:endParaRPr lang="en-US"/>
            </a:p>
          </p:txBody>
        </p:sp>
      </p:grpSp>
      <p:grpSp>
        <p:nvGrpSpPr>
          <p:cNvPr id="47506883" name="Group 40"/>
          <p:cNvGrpSpPr/>
          <p:nvPr/>
        </p:nvGrpSpPr>
        <p:grpSpPr bwMode="auto">
          <a:xfrm>
            <a:off x="2031823" y="6731256"/>
            <a:ext cx="1744389" cy="424054"/>
            <a:chOff x="0" y="0"/>
            <a:chExt cx="2325853" cy="565405"/>
          </a:xfrm>
        </p:grpSpPr>
        <p:sp>
          <p:nvSpPr>
            <p:cNvPr id="41" name="Freeform 41"/>
            <p:cNvSpPr/>
            <p:nvPr/>
          </p:nvSpPr>
          <p:spPr bwMode="auto">
            <a:xfrm>
              <a:off x="0" y="0"/>
              <a:ext cx="2325857" cy="565398"/>
            </a:xfrm>
            <a:custGeom>
              <a:avLst/>
              <a:gdLst/>
              <a:ahLst/>
              <a:cxnLst/>
              <a:rect l="l" t="t" r="r" b="b"/>
              <a:pathLst>
                <a:path w="2325857" h="565398" fill="norm" stroke="1" extrusionOk="0">
                  <a:moveTo>
                    <a:pt x="0" y="0"/>
                  </a:moveTo>
                  <a:lnTo>
                    <a:pt x="2325857" y="0"/>
                  </a:lnTo>
                  <a:lnTo>
                    <a:pt x="2325857" y="565398"/>
                  </a:lnTo>
                  <a:lnTo>
                    <a:pt x="0" y="565398"/>
                  </a:lnTo>
                  <a:close/>
                </a:path>
              </a:pathLst>
            </a:custGeom>
            <a:blipFill rotWithShape="1">
              <a:blip r:embed="rId3">
                <a:alphaModFix amt="0"/>
              </a:blip>
              <a:stretch>
                <a:fillRect l="0" t="-44748" r="0" b="-15560"/>
              </a:stretch>
            </a:blipFill>
          </p:spPr>
          <p:txBody>
            <a:bodyPr/>
            <a:lstStyle/>
            <a:p>
              <a:pPr>
                <a:defRPr/>
              </a:pPr>
              <a:endParaRPr lang="en-US"/>
            </a:p>
          </p:txBody>
        </p:sp>
        <p:sp>
          <p:nvSpPr>
            <p:cNvPr id="42" name="TextBox 42"/>
            <p:cNvSpPr txBox="1"/>
            <p:nvPr/>
          </p:nvSpPr>
          <p:spPr bwMode="auto">
            <a:xfrm>
              <a:off x="0" y="0"/>
              <a:ext cx="2325853" cy="565405"/>
            </a:xfrm>
            <a:prstGeom prst="rect">
              <a:avLst/>
            </a:prstGeom>
            <a:grpFill/>
          </p:spPr>
          <p:txBody>
            <a:bodyPr lIns="0" tIns="0" rIns="0" bIns="0" rtlCol="0" anchor="ctr"/>
            <a:lstStyle/>
            <a:p>
              <a:pPr algn="l">
                <a:lnSpc>
                  <a:spcPts val="1938"/>
                </a:lnSpc>
                <a:defRPr/>
              </a:pPr>
              <a:r>
                <a:rPr lang="en-US" sz="1600" b="1">
                  <a:solidFill>
                    <a:srgbClr val="323130"/>
                  </a:solidFill>
                  <a:latin typeface="Helvetica World Bold"/>
                  <a:ea typeface="Helvetica World Bold"/>
                  <a:cs typeface="Helvetica World Bold"/>
                </a:rPr>
                <a:t>Data Tier</a:t>
              </a:r>
              <a:endParaRPr/>
            </a:p>
          </p:txBody>
        </p:sp>
      </p:grpSp>
      <p:grpSp>
        <p:nvGrpSpPr>
          <p:cNvPr id="1255947377" name="Group 43"/>
          <p:cNvGrpSpPr/>
          <p:nvPr/>
        </p:nvGrpSpPr>
        <p:grpSpPr bwMode="auto">
          <a:xfrm>
            <a:off x="2031823" y="7074422"/>
            <a:ext cx="1744389" cy="457557"/>
            <a:chOff x="0" y="0"/>
            <a:chExt cx="2325853" cy="610077"/>
          </a:xfrm>
        </p:grpSpPr>
        <p:sp>
          <p:nvSpPr>
            <p:cNvPr id="44" name="Freeform 44"/>
            <p:cNvSpPr/>
            <p:nvPr/>
          </p:nvSpPr>
          <p:spPr bwMode="auto">
            <a:xfrm>
              <a:off x="0" y="0"/>
              <a:ext cx="2325857" cy="610071"/>
            </a:xfrm>
            <a:custGeom>
              <a:avLst/>
              <a:gdLst/>
              <a:ahLst/>
              <a:cxnLst/>
              <a:rect l="l" t="t" r="r" b="b"/>
              <a:pathLst>
                <a:path w="2325857" h="610071" fill="norm" stroke="1" extrusionOk="0">
                  <a:moveTo>
                    <a:pt x="0" y="0"/>
                  </a:moveTo>
                  <a:lnTo>
                    <a:pt x="2325857" y="0"/>
                  </a:lnTo>
                  <a:lnTo>
                    <a:pt x="2325857" y="610071"/>
                  </a:lnTo>
                  <a:lnTo>
                    <a:pt x="0" y="610071"/>
                  </a:lnTo>
                  <a:close/>
                </a:path>
              </a:pathLst>
            </a:custGeom>
            <a:blipFill rotWithShape="1">
              <a:blip r:embed="rId3">
                <a:alphaModFix amt="0"/>
              </a:blip>
              <a:stretch>
                <a:fillRect l="0" t="-24284" r="0" b="-24286"/>
              </a:stretch>
            </a:blipFill>
          </p:spPr>
          <p:txBody>
            <a:bodyPr/>
            <a:lstStyle/>
            <a:p>
              <a:pPr>
                <a:defRPr/>
              </a:pPr>
              <a:endParaRPr lang="en-US"/>
            </a:p>
          </p:txBody>
        </p:sp>
        <p:sp>
          <p:nvSpPr>
            <p:cNvPr id="45" name="TextBox 45"/>
            <p:cNvSpPr txBox="1"/>
            <p:nvPr/>
          </p:nvSpPr>
          <p:spPr bwMode="auto">
            <a:xfrm>
              <a:off x="0" y="-9525"/>
              <a:ext cx="2325853" cy="619602"/>
            </a:xfrm>
            <a:prstGeom prst="rect">
              <a:avLst/>
            </a:prstGeom>
            <a:grpFill/>
          </p:spPr>
          <p:txBody>
            <a:bodyPr lIns="0" tIns="0" rIns="0" bIns="0" rtlCol="0" anchor="ctr"/>
            <a:lstStyle/>
            <a:p>
              <a:pPr algn="l">
                <a:lnSpc>
                  <a:spcPts val="1507"/>
                </a:lnSpc>
                <a:defRPr/>
              </a:pPr>
              <a:r>
                <a:rPr lang="en-US" sz="1250">
                  <a:solidFill>
                    <a:srgbClr val="605E5C"/>
                  </a:solidFill>
                  <a:latin typeface="Helvetica World"/>
                  <a:ea typeface="Helvetica World"/>
                  <a:cs typeface="Helvetica World"/>
                </a:rPr>
                <a:t>Azure SQL Database</a:t>
              </a:r>
              <a:endParaRPr/>
            </a:p>
          </p:txBody>
        </p:sp>
      </p:grpSp>
      <p:grpSp>
        <p:nvGrpSpPr>
          <p:cNvPr id="1408495648" name="Group 46"/>
          <p:cNvGrpSpPr/>
          <p:nvPr/>
        </p:nvGrpSpPr>
        <p:grpSpPr bwMode="auto">
          <a:xfrm>
            <a:off x="820281" y="7950451"/>
            <a:ext cx="3280991" cy="1307849"/>
            <a:chOff x="0" y="0"/>
            <a:chExt cx="4374655" cy="1743799"/>
          </a:xfrm>
        </p:grpSpPr>
        <p:sp>
          <p:nvSpPr>
            <p:cNvPr id="47" name="Freeform 47"/>
            <p:cNvSpPr/>
            <p:nvPr/>
          </p:nvSpPr>
          <p:spPr bwMode="auto">
            <a:xfrm>
              <a:off x="33020" y="33020"/>
              <a:ext cx="4308602" cy="1677797"/>
            </a:xfrm>
            <a:custGeom>
              <a:avLst/>
              <a:gdLst/>
              <a:ahLst/>
              <a:cxnLst/>
              <a:rect l="l" t="t" r="r" b="b"/>
              <a:pathLst>
                <a:path w="4308602" h="1677797" fill="norm" stroke="1" extrusionOk="0">
                  <a:moveTo>
                    <a:pt x="0" y="152527"/>
                  </a:moveTo>
                  <a:cubicBezTo>
                    <a:pt x="0" y="68326"/>
                    <a:pt x="69977" y="0"/>
                    <a:pt x="156083" y="0"/>
                  </a:cubicBezTo>
                  <a:lnTo>
                    <a:pt x="4152519" y="0"/>
                  </a:lnTo>
                  <a:cubicBezTo>
                    <a:pt x="4238752" y="0"/>
                    <a:pt x="4308602" y="68326"/>
                    <a:pt x="4308602" y="152527"/>
                  </a:cubicBezTo>
                  <a:lnTo>
                    <a:pt x="4308602" y="1525270"/>
                  </a:lnTo>
                  <a:cubicBezTo>
                    <a:pt x="4308602" y="1609471"/>
                    <a:pt x="4238752" y="1677797"/>
                    <a:pt x="4152519" y="1677797"/>
                  </a:cubicBezTo>
                  <a:lnTo>
                    <a:pt x="156083" y="1677797"/>
                  </a:lnTo>
                  <a:cubicBezTo>
                    <a:pt x="69850" y="1677797"/>
                    <a:pt x="0" y="1609471"/>
                    <a:pt x="0" y="1525270"/>
                  </a:cubicBezTo>
                  <a:close/>
                </a:path>
              </a:pathLst>
            </a:custGeom>
            <a:solidFill>
              <a:srgbClr val="FFFFFF"/>
            </a:solidFill>
          </p:spPr>
          <p:txBody>
            <a:bodyPr/>
            <a:lstStyle/>
            <a:p>
              <a:pPr>
                <a:defRPr/>
              </a:pPr>
              <a:endParaRPr lang="en-US"/>
            </a:p>
          </p:txBody>
        </p:sp>
        <p:sp>
          <p:nvSpPr>
            <p:cNvPr id="48" name="Freeform 48"/>
            <p:cNvSpPr/>
            <p:nvPr/>
          </p:nvSpPr>
          <p:spPr bwMode="auto">
            <a:xfrm>
              <a:off x="0" y="0"/>
              <a:ext cx="4374642" cy="1743837"/>
            </a:xfrm>
            <a:custGeom>
              <a:avLst/>
              <a:gdLst/>
              <a:ahLst/>
              <a:cxnLst/>
              <a:rect l="l" t="t" r="r" b="b"/>
              <a:pathLst>
                <a:path w="4374642" h="1743837" fill="norm" stroke="1" extrusionOk="0">
                  <a:moveTo>
                    <a:pt x="0" y="185547"/>
                  </a:moveTo>
                  <a:cubicBezTo>
                    <a:pt x="0" y="82296"/>
                    <a:pt x="85471" y="0"/>
                    <a:pt x="189103" y="0"/>
                  </a:cubicBezTo>
                  <a:lnTo>
                    <a:pt x="4185539" y="0"/>
                  </a:lnTo>
                  <a:lnTo>
                    <a:pt x="4185539" y="33020"/>
                  </a:lnTo>
                  <a:lnTo>
                    <a:pt x="4185539" y="0"/>
                  </a:lnTo>
                  <a:cubicBezTo>
                    <a:pt x="4289298" y="0"/>
                    <a:pt x="4374642" y="82296"/>
                    <a:pt x="4374642" y="185547"/>
                  </a:cubicBezTo>
                  <a:lnTo>
                    <a:pt x="4341622" y="185547"/>
                  </a:lnTo>
                  <a:lnTo>
                    <a:pt x="4374642" y="185547"/>
                  </a:lnTo>
                  <a:lnTo>
                    <a:pt x="4374642" y="1558290"/>
                  </a:lnTo>
                  <a:lnTo>
                    <a:pt x="4341622" y="1558290"/>
                  </a:lnTo>
                  <a:lnTo>
                    <a:pt x="4374642" y="1558290"/>
                  </a:lnTo>
                  <a:cubicBezTo>
                    <a:pt x="4374642" y="1661541"/>
                    <a:pt x="4289171" y="1743837"/>
                    <a:pt x="4185539" y="1743837"/>
                  </a:cubicBezTo>
                  <a:lnTo>
                    <a:pt x="4185539" y="1710817"/>
                  </a:lnTo>
                  <a:lnTo>
                    <a:pt x="4185539" y="1743837"/>
                  </a:lnTo>
                  <a:lnTo>
                    <a:pt x="189103" y="1743837"/>
                  </a:lnTo>
                  <a:lnTo>
                    <a:pt x="189103" y="1710817"/>
                  </a:lnTo>
                  <a:lnTo>
                    <a:pt x="189103" y="1743837"/>
                  </a:lnTo>
                  <a:cubicBezTo>
                    <a:pt x="85471" y="1743837"/>
                    <a:pt x="0" y="1661414"/>
                    <a:pt x="0" y="1558290"/>
                  </a:cubicBezTo>
                  <a:lnTo>
                    <a:pt x="0" y="185547"/>
                  </a:lnTo>
                  <a:lnTo>
                    <a:pt x="33020" y="185547"/>
                  </a:lnTo>
                  <a:lnTo>
                    <a:pt x="0" y="185547"/>
                  </a:lnTo>
                  <a:moveTo>
                    <a:pt x="66040" y="185547"/>
                  </a:moveTo>
                  <a:lnTo>
                    <a:pt x="66040" y="1558290"/>
                  </a:lnTo>
                  <a:lnTo>
                    <a:pt x="33020" y="1558290"/>
                  </a:lnTo>
                  <a:lnTo>
                    <a:pt x="66040" y="1558290"/>
                  </a:lnTo>
                  <a:cubicBezTo>
                    <a:pt x="66040" y="1623568"/>
                    <a:pt x="120396" y="1677797"/>
                    <a:pt x="189103" y="1677797"/>
                  </a:cubicBezTo>
                  <a:lnTo>
                    <a:pt x="4185539" y="1677797"/>
                  </a:lnTo>
                  <a:cubicBezTo>
                    <a:pt x="4254246" y="1677797"/>
                    <a:pt x="4308602" y="1623568"/>
                    <a:pt x="4308602" y="1558290"/>
                  </a:cubicBezTo>
                  <a:lnTo>
                    <a:pt x="4308602" y="185547"/>
                  </a:lnTo>
                  <a:cubicBezTo>
                    <a:pt x="4308602" y="120269"/>
                    <a:pt x="4254246" y="66040"/>
                    <a:pt x="4185539" y="66040"/>
                  </a:cubicBezTo>
                  <a:lnTo>
                    <a:pt x="189103" y="66040"/>
                  </a:lnTo>
                  <a:lnTo>
                    <a:pt x="189103" y="33020"/>
                  </a:lnTo>
                  <a:lnTo>
                    <a:pt x="189103" y="66040"/>
                  </a:lnTo>
                  <a:cubicBezTo>
                    <a:pt x="120396" y="66040"/>
                    <a:pt x="66040" y="120269"/>
                    <a:pt x="66040" y="185547"/>
                  </a:cubicBezTo>
                  <a:close/>
                </a:path>
              </a:pathLst>
            </a:custGeom>
            <a:solidFill>
              <a:srgbClr val="0078D4"/>
            </a:solidFill>
          </p:spPr>
          <p:txBody>
            <a:bodyPr/>
            <a:lstStyle/>
            <a:p>
              <a:pPr>
                <a:defRPr/>
              </a:pPr>
              <a:endParaRPr lang="en-US"/>
            </a:p>
          </p:txBody>
        </p:sp>
      </p:grpSp>
      <p:grpSp>
        <p:nvGrpSpPr>
          <p:cNvPr id="323279199" name="Group 49"/>
          <p:cNvGrpSpPr/>
          <p:nvPr/>
        </p:nvGrpSpPr>
        <p:grpSpPr bwMode="auto">
          <a:xfrm>
            <a:off x="1188222" y="8261209"/>
            <a:ext cx="629126" cy="686333"/>
            <a:chOff x="0" y="0"/>
            <a:chExt cx="838835" cy="915111"/>
          </a:xfrm>
        </p:grpSpPr>
        <p:sp>
          <p:nvSpPr>
            <p:cNvPr id="50" name="Freeform 50"/>
            <p:cNvSpPr/>
            <p:nvPr/>
          </p:nvSpPr>
          <p:spPr bwMode="auto">
            <a:xfrm>
              <a:off x="0" y="0"/>
              <a:ext cx="838835" cy="915035"/>
            </a:xfrm>
            <a:custGeom>
              <a:avLst/>
              <a:gdLst/>
              <a:ahLst/>
              <a:cxnLst/>
              <a:rect l="l" t="t" r="r" b="b"/>
              <a:pathLst>
                <a:path w="838835" h="915035" fill="norm" stroke="1" extrusionOk="0">
                  <a:moveTo>
                    <a:pt x="0" y="419354"/>
                  </a:moveTo>
                  <a:cubicBezTo>
                    <a:pt x="0" y="187833"/>
                    <a:pt x="187833" y="0"/>
                    <a:pt x="419354" y="0"/>
                  </a:cubicBezTo>
                  <a:cubicBezTo>
                    <a:pt x="650875" y="0"/>
                    <a:pt x="838835" y="187833"/>
                    <a:pt x="838835" y="419354"/>
                  </a:cubicBezTo>
                  <a:lnTo>
                    <a:pt x="838835" y="495681"/>
                  </a:lnTo>
                  <a:cubicBezTo>
                    <a:pt x="838835" y="727329"/>
                    <a:pt x="651002" y="915035"/>
                    <a:pt x="419481" y="915035"/>
                  </a:cubicBezTo>
                  <a:cubicBezTo>
                    <a:pt x="187960" y="915035"/>
                    <a:pt x="0" y="727329"/>
                    <a:pt x="0" y="495681"/>
                  </a:cubicBezTo>
                  <a:close/>
                </a:path>
              </a:pathLst>
            </a:custGeom>
            <a:solidFill>
              <a:srgbClr val="F3F2F1"/>
            </a:solidFill>
          </p:spPr>
          <p:txBody>
            <a:bodyPr/>
            <a:lstStyle/>
            <a:p>
              <a:pPr>
                <a:defRPr/>
              </a:pPr>
              <a:endParaRPr lang="en-US"/>
            </a:p>
          </p:txBody>
        </p:sp>
      </p:grpSp>
      <p:grpSp>
        <p:nvGrpSpPr>
          <p:cNvPr id="770542413" name="Group 51"/>
          <p:cNvGrpSpPr/>
          <p:nvPr/>
        </p:nvGrpSpPr>
        <p:grpSpPr bwMode="auto">
          <a:xfrm>
            <a:off x="1331212" y="8442803"/>
            <a:ext cx="343157" cy="265957"/>
            <a:chOff x="0" y="0"/>
            <a:chExt cx="457543" cy="354609"/>
          </a:xfrm>
        </p:grpSpPr>
        <p:sp>
          <p:nvSpPr>
            <p:cNvPr id="52" name="Freeform 52" descr="image.png"/>
            <p:cNvSpPr/>
            <p:nvPr/>
          </p:nvSpPr>
          <p:spPr bwMode="auto">
            <a:xfrm>
              <a:off x="0" y="0"/>
              <a:ext cx="457581" cy="354584"/>
            </a:xfrm>
            <a:custGeom>
              <a:avLst/>
              <a:gdLst/>
              <a:ahLst/>
              <a:cxnLst/>
              <a:rect l="l" t="t" r="r" b="b"/>
              <a:pathLst>
                <a:path w="457581" h="354584" fill="norm" stroke="1" extrusionOk="0">
                  <a:moveTo>
                    <a:pt x="0" y="0"/>
                  </a:moveTo>
                  <a:lnTo>
                    <a:pt x="457581" y="0"/>
                  </a:lnTo>
                  <a:lnTo>
                    <a:pt x="457581" y="354584"/>
                  </a:lnTo>
                  <a:lnTo>
                    <a:pt x="0" y="354584"/>
                  </a:lnTo>
                  <a:lnTo>
                    <a:pt x="0" y="0"/>
                  </a:lnTo>
                  <a:close/>
                </a:path>
              </a:pathLst>
            </a:custGeom>
            <a:blipFill rotWithShape="1">
              <a:blip r:embed="rId7"/>
              <a:stretch>
                <a:fillRect l="-1" t="0" r="6" b="-7"/>
              </a:stretch>
            </a:blipFill>
          </p:spPr>
          <p:txBody>
            <a:bodyPr/>
            <a:lstStyle/>
            <a:p>
              <a:pPr>
                <a:defRPr/>
              </a:pPr>
              <a:endParaRPr lang="en-US"/>
            </a:p>
          </p:txBody>
        </p:sp>
      </p:grpSp>
      <p:sp>
        <p:nvSpPr>
          <p:cNvPr id="553983861" name="Freeform 53"/>
          <p:cNvSpPr/>
          <p:nvPr/>
        </p:nvSpPr>
        <p:spPr bwMode="auto">
          <a:xfrm>
            <a:off x="4528766" y="1863131"/>
            <a:ext cx="13205659" cy="7395169"/>
          </a:xfrm>
          <a:custGeom>
            <a:avLst/>
            <a:gdLst/>
            <a:ahLst/>
            <a:cxnLst/>
            <a:rect l="l" t="t" r="r" b="b"/>
            <a:pathLst>
              <a:path w="13205659" h="7395169" fill="norm" stroke="1" extrusionOk="0">
                <a:moveTo>
                  <a:pt x="0" y="0"/>
                </a:moveTo>
                <a:lnTo>
                  <a:pt x="13205659" y="0"/>
                </a:lnTo>
                <a:lnTo>
                  <a:pt x="13205659" y="7395169"/>
                </a:lnTo>
                <a:lnTo>
                  <a:pt x="0" y="7395169"/>
                </a:lnTo>
                <a:lnTo>
                  <a:pt x="0" y="0"/>
                </a:lnTo>
                <a:close/>
              </a:path>
            </a:pathLst>
          </a:custGeom>
          <a:blipFill rotWithShape="1">
            <a:blip r:embed="rId8"/>
            <a:stretch/>
          </a:blipFill>
        </p:spPr>
        <p:txBody>
          <a:bodyPr/>
          <a:lstStyle/>
          <a:p>
            <a:pPr>
              <a:defRPr/>
            </a:pPr>
            <a:endParaRPr lang="en-US"/>
          </a:p>
        </p:txBody>
      </p:sp>
      <p:sp>
        <p:nvSpPr>
          <p:cNvPr id="367946638" name="TextBox 54"/>
          <p:cNvSpPr txBox="1"/>
          <p:nvPr/>
        </p:nvSpPr>
        <p:spPr bwMode="auto">
          <a:xfrm>
            <a:off x="1873838" y="8318940"/>
            <a:ext cx="1738788" cy="428625"/>
          </a:xfrm>
          <a:prstGeom prst="rect">
            <a:avLst/>
          </a:prstGeom>
        </p:spPr>
        <p:txBody>
          <a:bodyPr lIns="0" tIns="0" rIns="0" bIns="0" rtlCol="0" anchor="t">
            <a:spAutoFit/>
          </a:bodyPr>
          <a:lstStyle/>
          <a:p>
            <a:pPr algn="ctr">
              <a:lnSpc>
                <a:spcPts val="1722"/>
              </a:lnSpc>
              <a:spcBef>
                <a:spcPts val="0"/>
              </a:spcBef>
              <a:defRPr/>
            </a:pPr>
            <a:r>
              <a:rPr lang="en-US" sz="1450">
                <a:solidFill>
                  <a:srgbClr val="000000"/>
                </a:solidFill>
                <a:latin typeface="Helvetica World"/>
                <a:ea typeface="Helvetica World"/>
                <a:cs typeface="Helvetica World"/>
              </a:rPr>
              <a:t>Monitoring</a:t>
            </a:r>
            <a:endParaRPr/>
          </a:p>
          <a:p>
            <a:pPr algn="ctr">
              <a:lnSpc>
                <a:spcPts val="1722"/>
              </a:lnSpc>
              <a:spcBef>
                <a:spcPts val="0"/>
              </a:spcBef>
              <a:defRPr/>
            </a:pPr>
            <a:r>
              <a:rPr lang="en-US" sz="1450">
                <a:solidFill>
                  <a:srgbClr val="000000"/>
                </a:solidFill>
                <a:latin typeface="Helvetica World"/>
                <a:ea typeface="Helvetica World"/>
                <a:cs typeface="Helvetica World"/>
              </a:rPr>
              <a:t>Log Analytics + Alerts</a:t>
            </a:r>
            <a:endParaRPr/>
          </a:p>
        </p:txBody>
      </p:sp>
      <p:grpSp>
        <p:nvGrpSpPr>
          <p:cNvPr id="280703606" name="Group 55"/>
          <p:cNvGrpSpPr/>
          <p:nvPr/>
        </p:nvGrpSpPr>
        <p:grpSpPr bwMode="auto">
          <a:xfrm>
            <a:off x="571929" y="341820"/>
            <a:ext cx="6476635" cy="746224"/>
            <a:chOff x="0" y="0"/>
            <a:chExt cx="8635515" cy="994965"/>
          </a:xfrm>
        </p:grpSpPr>
        <p:sp>
          <p:nvSpPr>
            <p:cNvPr id="56" name="Freeform 56"/>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7" name="TextBox 57"/>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1210074764" name="Group 58"/>
          <p:cNvGrpSpPr/>
          <p:nvPr/>
        </p:nvGrpSpPr>
        <p:grpSpPr bwMode="auto">
          <a:xfrm>
            <a:off x="16389080" y="209531"/>
            <a:ext cx="1405661" cy="1010802"/>
            <a:chOff x="0" y="0"/>
            <a:chExt cx="692506" cy="497977"/>
          </a:xfrm>
        </p:grpSpPr>
        <p:sp>
          <p:nvSpPr>
            <p:cNvPr id="59" name="Freeform 59"/>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60" name="TextBox 60"/>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04</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747279005"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2023126032" name="Group 4"/>
          <p:cNvGrpSpPr/>
          <p:nvPr/>
        </p:nvGrpSpPr>
        <p:grpSpPr bwMode="auto">
          <a:xfrm>
            <a:off x="583960" y="1764568"/>
            <a:ext cx="15199162" cy="1742461"/>
            <a:chOff x="-14679676" y="-361361"/>
            <a:chExt cx="20265550" cy="2323283"/>
          </a:xfrm>
        </p:grpSpPr>
        <p:sp>
          <p:nvSpPr>
            <p:cNvPr id="5" name="Freeform 5"/>
            <p:cNvSpPr/>
            <p:nvPr/>
          </p:nvSpPr>
          <p:spPr bwMode="auto">
            <a:xfrm>
              <a:off x="0" y="0"/>
              <a:ext cx="5585874" cy="1961922"/>
            </a:xfrm>
            <a:custGeom>
              <a:avLst/>
              <a:gdLst/>
              <a:ahLst/>
              <a:cxnLst/>
              <a:rect l="l" t="t" r="r" b="b"/>
              <a:pathLst>
                <a:path w="5585874" h="1961922" fill="norm" stroke="1" extrusionOk="0">
                  <a:moveTo>
                    <a:pt x="0" y="0"/>
                  </a:moveTo>
                  <a:lnTo>
                    <a:pt x="5585874" y="0"/>
                  </a:lnTo>
                  <a:lnTo>
                    <a:pt x="5585874" y="1961922"/>
                  </a:lnTo>
                  <a:lnTo>
                    <a:pt x="0" y="1961922"/>
                  </a:lnTo>
                  <a:close/>
                </a:path>
              </a:pathLst>
            </a:custGeom>
            <a:blipFill rotWithShape="1">
              <a:blip r:embed="rId3">
                <a:alphaModFix amt="0"/>
              </a:blip>
              <a:stretch>
                <a:fillRect l="0" t="-9804" r="0" b="-1147"/>
              </a:stretch>
            </a:blipFill>
          </p:spPr>
          <p:txBody>
            <a:bodyPr/>
            <a:lstStyle/>
            <a:p>
              <a:pPr>
                <a:defRPr/>
              </a:pPr>
              <a:endParaRPr lang="en-US"/>
            </a:p>
          </p:txBody>
        </p:sp>
        <p:sp>
          <p:nvSpPr>
            <p:cNvPr id="6" name="TextBox 6"/>
            <p:cNvSpPr txBox="1"/>
            <p:nvPr/>
          </p:nvSpPr>
          <p:spPr bwMode="auto">
            <a:xfrm>
              <a:off x="-14679676" y="-361361"/>
              <a:ext cx="8147099" cy="2019068"/>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Architectural details</a:t>
              </a:r>
              <a:endParaRPr/>
            </a:p>
          </p:txBody>
        </p:sp>
      </p:grpSp>
      <p:grpSp>
        <p:nvGrpSpPr>
          <p:cNvPr id="628294504" name="Group 48"/>
          <p:cNvGrpSpPr/>
          <p:nvPr/>
        </p:nvGrpSpPr>
        <p:grpSpPr bwMode="auto">
          <a:xfrm>
            <a:off x="571929" y="341820"/>
            <a:ext cx="6476635" cy="746224"/>
            <a:chOff x="0" y="0"/>
            <a:chExt cx="8635515" cy="994965"/>
          </a:xfrm>
        </p:grpSpPr>
        <p:sp>
          <p:nvSpPr>
            <p:cNvPr id="49" name="Freeform 49"/>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0" name="TextBox 50"/>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799023120" name="Group 51"/>
          <p:cNvGrpSpPr/>
          <p:nvPr/>
        </p:nvGrpSpPr>
        <p:grpSpPr bwMode="auto">
          <a:xfrm>
            <a:off x="16389080" y="209531"/>
            <a:ext cx="1405661" cy="1010802"/>
            <a:chOff x="0" y="0"/>
            <a:chExt cx="692506" cy="497977"/>
          </a:xfrm>
        </p:grpSpPr>
        <p:sp>
          <p:nvSpPr>
            <p:cNvPr id="52" name="Freeform 52"/>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53" name="TextBox 53"/>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05</a:t>
              </a:r>
              <a:endParaRPr/>
            </a:p>
          </p:txBody>
        </p:sp>
      </p:grpSp>
      <p:sp>
        <p:nvSpPr>
          <p:cNvPr id="610393091" name="TextBox 54"/>
          <p:cNvSpPr txBox="1"/>
          <p:nvPr/>
        </p:nvSpPr>
        <p:spPr bwMode="auto">
          <a:xfrm>
            <a:off x="571928" y="3278868"/>
            <a:ext cx="11848671" cy="5016758"/>
          </a:xfrm>
          <a:prstGeom prst="rect">
            <a:avLst/>
          </a:prstGeom>
          <a:noFill/>
        </p:spPr>
        <p:txBody>
          <a:bodyPr wrap="square">
            <a:spAutoFit/>
          </a:bodyPr>
          <a:lstStyle/>
          <a:p>
            <a:pPr>
              <a:defRPr/>
            </a:pPr>
            <a:r>
              <a:rPr lang="en-US" sz="3200" b="1"/>
              <a:t>Frontend:</a:t>
            </a:r>
            <a:r>
              <a:rPr lang="en-US" sz="3200"/>
              <a:t> React app served by nginx, running in Azure Container Apps ports configured for both http and https</a:t>
            </a:r>
            <a:endParaRPr/>
          </a:p>
          <a:p>
            <a:pPr>
              <a:defRPr/>
            </a:pPr>
            <a:r>
              <a:rPr lang="en-US" sz="3200" b="1"/>
              <a:t>Backend:</a:t>
            </a:r>
            <a:r>
              <a:rPr lang="en-US" sz="3200"/>
              <a:t> TypeScript/Express API, running in Azure Container Apps</a:t>
            </a:r>
            <a:endParaRPr/>
          </a:p>
          <a:p>
            <a:pPr>
              <a:defRPr/>
            </a:pPr>
            <a:r>
              <a:rPr lang="en-US" sz="3200" b="1"/>
              <a:t>Database:</a:t>
            </a:r>
            <a:r>
              <a:rPr lang="en-US" sz="3200"/>
              <a:t> Azure SQL Database</a:t>
            </a:r>
            <a:endParaRPr/>
          </a:p>
          <a:p>
            <a:pPr>
              <a:defRPr/>
            </a:pPr>
            <a:r>
              <a:rPr lang="en-US" sz="3200" b="1"/>
              <a:t>Entry point:</a:t>
            </a:r>
            <a:r>
              <a:rPr lang="en-US" sz="3200"/>
              <a:t> Azure Application Gateway v2 — HTTP→HTTPS redirect, path-based routing (/ → frontend, /</a:t>
            </a:r>
            <a:r>
              <a:rPr lang="en-US" sz="3200"/>
              <a:t>api</a:t>
            </a:r>
            <a:r>
              <a:rPr lang="en-US" sz="3200"/>
              <a:t>/* → backend)</a:t>
            </a:r>
            <a:endParaRPr/>
          </a:p>
          <a:p>
            <a:pPr>
              <a:defRPr/>
            </a:pPr>
            <a:r>
              <a:rPr lang="en-US" sz="3200" b="1"/>
              <a:t>Networking:</a:t>
            </a:r>
            <a:r>
              <a:rPr lang="en-US" sz="3200"/>
              <a:t> Internal ACA environment on a private </a:t>
            </a:r>
            <a:r>
              <a:rPr lang="en-US" sz="3200"/>
              <a:t>VNet</a:t>
            </a:r>
            <a:r>
              <a:rPr lang="en-US" sz="3200"/>
              <a:t> subnet, with Private DNS zone for internal name resolution</a:t>
            </a:r>
            <a:endParaRPr/>
          </a:p>
          <a:p>
            <a:pPr>
              <a:defRPr/>
            </a:pPr>
            <a:r>
              <a:rPr lang="en-US" sz="3200" b="1"/>
              <a:t>Security:</a:t>
            </a:r>
            <a:r>
              <a:rPr lang="en-US" sz="3200"/>
              <a:t> Container Apps not publicly exposed; all traffic flows through the Application Gateway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09448945" name="Group 2"/>
          <p:cNvGrpSpPr/>
          <p:nvPr/>
        </p:nvGrpSpPr>
        <p:grpSpPr bwMode="auto">
          <a:xfrm>
            <a:off x="1028700" y="2841921"/>
            <a:ext cx="4703775" cy="1471439"/>
            <a:chOff x="0" y="0"/>
            <a:chExt cx="5890908" cy="1842799"/>
          </a:xfrm>
        </p:grpSpPr>
        <p:sp>
          <p:nvSpPr>
            <p:cNvPr id="3" name="Freeform 3"/>
            <p:cNvSpPr/>
            <p:nvPr/>
          </p:nvSpPr>
          <p:spPr bwMode="auto">
            <a:xfrm>
              <a:off x="0" y="0"/>
              <a:ext cx="5890904" cy="1842802"/>
            </a:xfrm>
            <a:custGeom>
              <a:avLst/>
              <a:gdLst/>
              <a:ahLst/>
              <a:cxnLst/>
              <a:rect l="l" t="t" r="r" b="b"/>
              <a:pathLst>
                <a:path w="5890904" h="1842802" fill="norm" stroke="1" extrusionOk="0">
                  <a:moveTo>
                    <a:pt x="0" y="0"/>
                  </a:moveTo>
                  <a:lnTo>
                    <a:pt x="5890904" y="0"/>
                  </a:lnTo>
                  <a:lnTo>
                    <a:pt x="5890904" y="1842802"/>
                  </a:lnTo>
                  <a:lnTo>
                    <a:pt x="0" y="1842802"/>
                  </a:lnTo>
                  <a:close/>
                </a:path>
              </a:pathLst>
            </a:custGeom>
            <a:blipFill rotWithShape="1">
              <a:blip r:embed="rId3">
                <a:alphaModFix amt="0"/>
              </a:blip>
              <a:stretch>
                <a:fillRect l="0" t="-13663" r="0" b="-10912"/>
              </a:stretch>
            </a:blipFill>
          </p:spPr>
          <p:txBody>
            <a:bodyPr/>
            <a:lstStyle/>
            <a:p>
              <a:pPr>
                <a:defRPr/>
              </a:pPr>
              <a:endParaRPr lang="en-US"/>
            </a:p>
          </p:txBody>
        </p:sp>
        <p:sp>
          <p:nvSpPr>
            <p:cNvPr id="4" name="TextBox 4"/>
            <p:cNvSpPr txBox="1"/>
            <p:nvPr/>
          </p:nvSpPr>
          <p:spPr bwMode="auto">
            <a:xfrm>
              <a:off x="0" y="-57150"/>
              <a:ext cx="5890908" cy="1899949"/>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Request Flow in the App</a:t>
              </a:r>
              <a:endParaRPr/>
            </a:p>
          </p:txBody>
        </p:sp>
      </p:grpSp>
      <p:grpSp>
        <p:nvGrpSpPr>
          <p:cNvPr id="1871916865" name="Group 5"/>
          <p:cNvGrpSpPr/>
          <p:nvPr/>
        </p:nvGrpSpPr>
        <p:grpSpPr bwMode="auto">
          <a:xfrm>
            <a:off x="1028700" y="4881795"/>
            <a:ext cx="548014" cy="548024"/>
            <a:chOff x="0" y="0"/>
            <a:chExt cx="686321" cy="686333"/>
          </a:xfrm>
        </p:grpSpPr>
        <p:sp>
          <p:nvSpPr>
            <p:cNvPr id="6" name="Freeform 6"/>
            <p:cNvSpPr/>
            <p:nvPr/>
          </p:nvSpPr>
          <p:spPr bwMode="auto">
            <a:xfrm>
              <a:off x="0" y="0"/>
              <a:ext cx="686308" cy="686308"/>
            </a:xfrm>
            <a:custGeom>
              <a:avLst/>
              <a:gdLst/>
              <a:ahLst/>
              <a:cxnLst/>
              <a:rect l="l" t="t" r="r" b="b"/>
              <a:pathLst>
                <a:path w="686308" h="686308" fill="norm" stroke="1" extrusionOk="0">
                  <a:moveTo>
                    <a:pt x="0" y="343154"/>
                  </a:moveTo>
                  <a:cubicBezTo>
                    <a:pt x="0" y="153670"/>
                    <a:pt x="153670" y="0"/>
                    <a:pt x="343154" y="0"/>
                  </a:cubicBezTo>
                  <a:cubicBezTo>
                    <a:pt x="532638" y="0"/>
                    <a:pt x="686308" y="153670"/>
                    <a:pt x="686308" y="343154"/>
                  </a:cubicBezTo>
                  <a:cubicBezTo>
                    <a:pt x="686308" y="532638"/>
                    <a:pt x="532638" y="686308"/>
                    <a:pt x="343154" y="686308"/>
                  </a:cubicBezTo>
                  <a:cubicBezTo>
                    <a:pt x="153670" y="686308"/>
                    <a:pt x="0" y="532638"/>
                    <a:pt x="0" y="343154"/>
                  </a:cubicBezTo>
                  <a:close/>
                </a:path>
              </a:pathLst>
            </a:custGeom>
            <a:solidFill>
              <a:srgbClr val="0078D4"/>
            </a:solidFill>
          </p:spPr>
          <p:txBody>
            <a:bodyPr/>
            <a:lstStyle/>
            <a:p>
              <a:pPr>
                <a:defRPr/>
              </a:pPr>
              <a:endParaRPr lang="en-US"/>
            </a:p>
          </p:txBody>
        </p:sp>
      </p:grpSp>
      <p:grpSp>
        <p:nvGrpSpPr>
          <p:cNvPr id="607350933" name="Group 7"/>
          <p:cNvGrpSpPr/>
          <p:nvPr/>
        </p:nvGrpSpPr>
        <p:grpSpPr bwMode="auto">
          <a:xfrm>
            <a:off x="1257038" y="4881795"/>
            <a:ext cx="548014" cy="548024"/>
            <a:chOff x="0" y="0"/>
            <a:chExt cx="686321" cy="686333"/>
          </a:xfrm>
        </p:grpSpPr>
        <p:sp>
          <p:nvSpPr>
            <p:cNvPr id="8" name="Freeform 8"/>
            <p:cNvSpPr/>
            <p:nvPr/>
          </p:nvSpPr>
          <p:spPr bwMode="auto">
            <a:xfrm>
              <a:off x="0" y="0"/>
              <a:ext cx="686318" cy="686336"/>
            </a:xfrm>
            <a:custGeom>
              <a:avLst/>
              <a:gdLst/>
              <a:ahLst/>
              <a:cxnLst/>
              <a:rect l="l" t="t" r="r" b="b"/>
              <a:pathLst>
                <a:path w="686318" h="686336" fill="norm" stroke="1" extrusionOk="0">
                  <a:moveTo>
                    <a:pt x="0" y="0"/>
                  </a:moveTo>
                  <a:lnTo>
                    <a:pt x="686318" y="0"/>
                  </a:lnTo>
                  <a:lnTo>
                    <a:pt x="686318" y="686336"/>
                  </a:lnTo>
                  <a:lnTo>
                    <a:pt x="0" y="686336"/>
                  </a:lnTo>
                  <a:close/>
                </a:path>
              </a:pathLst>
            </a:custGeom>
            <a:blipFill rotWithShape="1">
              <a:blip r:embed="rId3">
                <a:alphaModFix amt="0"/>
              </a:blip>
              <a:stretch>
                <a:fillRect l="-78306" t="0" r="-78305" b="0"/>
              </a:stretch>
            </a:blipFill>
          </p:spPr>
          <p:txBody>
            <a:bodyPr/>
            <a:lstStyle/>
            <a:p>
              <a:pPr>
                <a:defRPr/>
              </a:pPr>
              <a:endParaRPr lang="en-US"/>
            </a:p>
          </p:txBody>
        </p:sp>
        <p:sp>
          <p:nvSpPr>
            <p:cNvPr id="9" name="TextBox 9"/>
            <p:cNvSpPr txBox="1"/>
            <p:nvPr/>
          </p:nvSpPr>
          <p:spPr bwMode="auto">
            <a:xfrm>
              <a:off x="0" y="0"/>
              <a:ext cx="686321" cy="686333"/>
            </a:xfrm>
            <a:prstGeom prst="rect">
              <a:avLst/>
            </a:prstGeom>
            <a:grpFill/>
          </p:spPr>
          <p:txBody>
            <a:bodyPr lIns="0" tIns="0" rIns="0" bIns="0" rtlCol="0" anchor="ctr"/>
            <a:lstStyle/>
            <a:p>
              <a:pPr algn="l">
                <a:lnSpc>
                  <a:spcPts val="1938"/>
                </a:lnSpc>
                <a:defRPr/>
              </a:pPr>
              <a:r>
                <a:rPr lang="en-US" sz="1600" b="1">
                  <a:solidFill>
                    <a:srgbClr val="FFFFFF"/>
                  </a:solidFill>
                  <a:latin typeface="Helvetica World Bold"/>
                  <a:ea typeface="Helvetica World Bold"/>
                  <a:cs typeface="Helvetica World Bold"/>
                </a:rPr>
                <a:t>1</a:t>
              </a:r>
              <a:endParaRPr/>
            </a:p>
          </p:txBody>
        </p:sp>
      </p:grpSp>
      <p:grpSp>
        <p:nvGrpSpPr>
          <p:cNvPr id="1335554414" name="Group 10"/>
          <p:cNvGrpSpPr/>
          <p:nvPr/>
        </p:nvGrpSpPr>
        <p:grpSpPr bwMode="auto">
          <a:xfrm>
            <a:off x="1805052" y="4881795"/>
            <a:ext cx="2846617" cy="502360"/>
            <a:chOff x="0" y="0"/>
            <a:chExt cx="3565042" cy="629145"/>
          </a:xfrm>
        </p:grpSpPr>
        <p:sp>
          <p:nvSpPr>
            <p:cNvPr id="11" name="Freeform 11"/>
            <p:cNvSpPr/>
            <p:nvPr/>
          </p:nvSpPr>
          <p:spPr bwMode="auto">
            <a:xfrm>
              <a:off x="0" y="0"/>
              <a:ext cx="3565045" cy="629141"/>
            </a:xfrm>
            <a:custGeom>
              <a:avLst/>
              <a:gdLst/>
              <a:ahLst/>
              <a:cxnLst/>
              <a:rect l="l" t="t" r="r" b="b"/>
              <a:pathLst>
                <a:path w="3565045" h="629141" fill="norm" stroke="1" extrusionOk="0">
                  <a:moveTo>
                    <a:pt x="0" y="0"/>
                  </a:moveTo>
                  <a:lnTo>
                    <a:pt x="3565045" y="0"/>
                  </a:lnTo>
                  <a:lnTo>
                    <a:pt x="3565045" y="629141"/>
                  </a:lnTo>
                  <a:lnTo>
                    <a:pt x="0" y="629141"/>
                  </a:lnTo>
                  <a:close/>
                </a:path>
              </a:pathLst>
            </a:custGeom>
            <a:blipFill rotWithShape="1">
              <a:blip r:embed="rId3">
                <a:alphaModFix amt="0"/>
              </a:blip>
              <a:stretch>
                <a:fillRect l="0" t="-60412" r="0" b="-60412"/>
              </a:stretch>
            </a:blipFill>
          </p:spPr>
          <p:txBody>
            <a:bodyPr/>
            <a:lstStyle/>
            <a:p>
              <a:pPr>
                <a:defRPr/>
              </a:pPr>
              <a:endParaRPr lang="en-US"/>
            </a:p>
          </p:txBody>
        </p:sp>
        <p:sp>
          <p:nvSpPr>
            <p:cNvPr id="12" name="TextBox 12"/>
            <p:cNvSpPr txBox="1"/>
            <p:nvPr/>
          </p:nvSpPr>
          <p:spPr bwMode="auto">
            <a:xfrm>
              <a:off x="0" y="-66675"/>
              <a:ext cx="3565042" cy="695820"/>
            </a:xfrm>
            <a:prstGeom prst="rect">
              <a:avLst/>
            </a:prstGeom>
            <a:grpFill/>
          </p:spPr>
          <p:txBody>
            <a:bodyPr lIns="0" tIns="0" rIns="0" bIns="0" rtlCol="0" anchor="ctr"/>
            <a:lstStyle/>
            <a:p>
              <a:pPr algn="l">
                <a:lnSpc>
                  <a:spcPts val="2634"/>
                </a:lnSpc>
                <a:defRPr/>
              </a:pPr>
              <a:r>
                <a:rPr lang="en-US" sz="1600">
                  <a:solidFill>
                    <a:srgbClr val="323130"/>
                  </a:solidFill>
                  <a:latin typeface="Helvetica World"/>
                  <a:ea typeface="Helvetica World"/>
                  <a:cs typeface="Helvetica World"/>
                </a:rPr>
                <a:t>User opens the website</a:t>
              </a:r>
              <a:endParaRPr/>
            </a:p>
          </p:txBody>
        </p:sp>
      </p:grpSp>
      <p:grpSp>
        <p:nvGrpSpPr>
          <p:cNvPr id="52799497" name="Group 13"/>
          <p:cNvGrpSpPr/>
          <p:nvPr/>
        </p:nvGrpSpPr>
        <p:grpSpPr bwMode="auto">
          <a:xfrm>
            <a:off x="1028700" y="5734273"/>
            <a:ext cx="548014" cy="548024"/>
            <a:chOff x="0" y="0"/>
            <a:chExt cx="686321" cy="686333"/>
          </a:xfrm>
        </p:grpSpPr>
        <p:sp>
          <p:nvSpPr>
            <p:cNvPr id="14" name="Freeform 14"/>
            <p:cNvSpPr/>
            <p:nvPr/>
          </p:nvSpPr>
          <p:spPr bwMode="auto">
            <a:xfrm>
              <a:off x="0" y="0"/>
              <a:ext cx="686308" cy="686308"/>
            </a:xfrm>
            <a:custGeom>
              <a:avLst/>
              <a:gdLst/>
              <a:ahLst/>
              <a:cxnLst/>
              <a:rect l="l" t="t" r="r" b="b"/>
              <a:pathLst>
                <a:path w="686308" h="686308" fill="norm" stroke="1" extrusionOk="0">
                  <a:moveTo>
                    <a:pt x="0" y="343154"/>
                  </a:moveTo>
                  <a:cubicBezTo>
                    <a:pt x="0" y="153670"/>
                    <a:pt x="153670" y="0"/>
                    <a:pt x="343154" y="0"/>
                  </a:cubicBezTo>
                  <a:cubicBezTo>
                    <a:pt x="532638" y="0"/>
                    <a:pt x="686308" y="153670"/>
                    <a:pt x="686308" y="343154"/>
                  </a:cubicBezTo>
                  <a:cubicBezTo>
                    <a:pt x="686308" y="532638"/>
                    <a:pt x="532638" y="686308"/>
                    <a:pt x="343154" y="686308"/>
                  </a:cubicBezTo>
                  <a:cubicBezTo>
                    <a:pt x="153670" y="686308"/>
                    <a:pt x="0" y="532638"/>
                    <a:pt x="0" y="343154"/>
                  </a:cubicBezTo>
                  <a:close/>
                </a:path>
              </a:pathLst>
            </a:custGeom>
            <a:solidFill>
              <a:srgbClr val="0078D4"/>
            </a:solidFill>
          </p:spPr>
          <p:txBody>
            <a:bodyPr/>
            <a:lstStyle/>
            <a:p>
              <a:pPr>
                <a:defRPr/>
              </a:pPr>
              <a:endParaRPr lang="en-US"/>
            </a:p>
          </p:txBody>
        </p:sp>
      </p:grpSp>
      <p:grpSp>
        <p:nvGrpSpPr>
          <p:cNvPr id="590224179" name="Group 15"/>
          <p:cNvGrpSpPr/>
          <p:nvPr/>
        </p:nvGrpSpPr>
        <p:grpSpPr bwMode="auto">
          <a:xfrm>
            <a:off x="1257038" y="5790679"/>
            <a:ext cx="548014" cy="548024"/>
            <a:chOff x="0" y="0"/>
            <a:chExt cx="686321" cy="686333"/>
          </a:xfrm>
        </p:grpSpPr>
        <p:sp>
          <p:nvSpPr>
            <p:cNvPr id="16" name="Freeform 16"/>
            <p:cNvSpPr/>
            <p:nvPr/>
          </p:nvSpPr>
          <p:spPr bwMode="auto">
            <a:xfrm>
              <a:off x="0" y="0"/>
              <a:ext cx="686318" cy="686336"/>
            </a:xfrm>
            <a:custGeom>
              <a:avLst/>
              <a:gdLst/>
              <a:ahLst/>
              <a:cxnLst/>
              <a:rect l="l" t="t" r="r" b="b"/>
              <a:pathLst>
                <a:path w="686318" h="686336" fill="norm" stroke="1" extrusionOk="0">
                  <a:moveTo>
                    <a:pt x="0" y="0"/>
                  </a:moveTo>
                  <a:lnTo>
                    <a:pt x="686318" y="0"/>
                  </a:lnTo>
                  <a:lnTo>
                    <a:pt x="686318" y="686336"/>
                  </a:lnTo>
                  <a:lnTo>
                    <a:pt x="0" y="686336"/>
                  </a:lnTo>
                  <a:close/>
                </a:path>
              </a:pathLst>
            </a:custGeom>
            <a:blipFill rotWithShape="1">
              <a:blip r:embed="rId3">
                <a:alphaModFix amt="0"/>
              </a:blip>
              <a:stretch>
                <a:fillRect l="-78306" t="0" r="-78305" b="0"/>
              </a:stretch>
            </a:blipFill>
          </p:spPr>
          <p:txBody>
            <a:bodyPr/>
            <a:lstStyle/>
            <a:p>
              <a:pPr>
                <a:defRPr/>
              </a:pPr>
              <a:endParaRPr lang="en-US"/>
            </a:p>
          </p:txBody>
        </p:sp>
        <p:sp>
          <p:nvSpPr>
            <p:cNvPr id="17" name="TextBox 17"/>
            <p:cNvSpPr txBox="1"/>
            <p:nvPr/>
          </p:nvSpPr>
          <p:spPr bwMode="auto">
            <a:xfrm>
              <a:off x="0" y="0"/>
              <a:ext cx="686321" cy="686333"/>
            </a:xfrm>
            <a:prstGeom prst="rect">
              <a:avLst/>
            </a:prstGeom>
            <a:grpFill/>
          </p:spPr>
          <p:txBody>
            <a:bodyPr lIns="0" tIns="0" rIns="0" bIns="0" rtlCol="0" anchor="ctr"/>
            <a:lstStyle/>
            <a:p>
              <a:pPr algn="l">
                <a:lnSpc>
                  <a:spcPts val="1938"/>
                </a:lnSpc>
                <a:defRPr/>
              </a:pPr>
              <a:r>
                <a:rPr lang="en-US" sz="1600" b="1">
                  <a:solidFill>
                    <a:srgbClr val="FFFFFF"/>
                  </a:solidFill>
                  <a:latin typeface="Helvetica World Bold"/>
                  <a:ea typeface="Helvetica World Bold"/>
                  <a:cs typeface="Helvetica World Bold"/>
                </a:rPr>
                <a:t>2</a:t>
              </a:r>
              <a:endParaRPr/>
            </a:p>
          </p:txBody>
        </p:sp>
      </p:grpSp>
      <p:grpSp>
        <p:nvGrpSpPr>
          <p:cNvPr id="1376551547" name="Group 18"/>
          <p:cNvGrpSpPr/>
          <p:nvPr/>
        </p:nvGrpSpPr>
        <p:grpSpPr bwMode="auto">
          <a:xfrm>
            <a:off x="1812919" y="5813511"/>
            <a:ext cx="2663952" cy="502360"/>
            <a:chOff x="0" y="0"/>
            <a:chExt cx="3336277" cy="629145"/>
          </a:xfrm>
        </p:grpSpPr>
        <p:sp>
          <p:nvSpPr>
            <p:cNvPr id="19" name="Freeform 19"/>
            <p:cNvSpPr/>
            <p:nvPr/>
          </p:nvSpPr>
          <p:spPr bwMode="auto">
            <a:xfrm>
              <a:off x="0" y="0"/>
              <a:ext cx="3336272" cy="629141"/>
            </a:xfrm>
            <a:custGeom>
              <a:avLst/>
              <a:gdLst/>
              <a:ahLst/>
              <a:cxnLst/>
              <a:rect l="l" t="t" r="r" b="b"/>
              <a:pathLst>
                <a:path w="3336272" h="629141" fill="norm" stroke="1" extrusionOk="0">
                  <a:moveTo>
                    <a:pt x="0" y="0"/>
                  </a:moveTo>
                  <a:lnTo>
                    <a:pt x="3336272" y="0"/>
                  </a:lnTo>
                  <a:lnTo>
                    <a:pt x="3336272" y="629141"/>
                  </a:lnTo>
                  <a:lnTo>
                    <a:pt x="0" y="629141"/>
                  </a:lnTo>
                  <a:close/>
                </a:path>
              </a:pathLst>
            </a:custGeom>
            <a:blipFill rotWithShape="1">
              <a:blip r:embed="rId3">
                <a:alphaModFix amt="0"/>
              </a:blip>
              <a:stretch>
                <a:fillRect l="0" t="-53326" r="0" b="-53327"/>
              </a:stretch>
            </a:blipFill>
          </p:spPr>
          <p:txBody>
            <a:bodyPr/>
            <a:lstStyle/>
            <a:p>
              <a:pPr>
                <a:defRPr/>
              </a:pPr>
              <a:endParaRPr lang="en-US"/>
            </a:p>
          </p:txBody>
        </p:sp>
        <p:sp>
          <p:nvSpPr>
            <p:cNvPr id="20" name="TextBox 20"/>
            <p:cNvSpPr txBox="1"/>
            <p:nvPr/>
          </p:nvSpPr>
          <p:spPr bwMode="auto">
            <a:xfrm>
              <a:off x="0" y="-66675"/>
              <a:ext cx="3336277" cy="695820"/>
            </a:xfrm>
            <a:prstGeom prst="rect">
              <a:avLst/>
            </a:prstGeom>
            <a:grpFill/>
          </p:spPr>
          <p:txBody>
            <a:bodyPr lIns="0" tIns="0" rIns="0" bIns="0" rtlCol="0" anchor="ctr"/>
            <a:lstStyle/>
            <a:p>
              <a:pPr algn="l">
                <a:lnSpc>
                  <a:spcPts val="2634"/>
                </a:lnSpc>
                <a:defRPr/>
              </a:pPr>
              <a:r>
                <a:rPr lang="en-US" sz="1600">
                  <a:solidFill>
                    <a:srgbClr val="323130"/>
                  </a:solidFill>
                  <a:latin typeface="Helvetica World"/>
                  <a:ea typeface="Helvetica World"/>
                  <a:cs typeface="Helvetica World"/>
                </a:rPr>
                <a:t>Gateway routes traffic</a:t>
              </a:r>
              <a:endParaRPr/>
            </a:p>
          </p:txBody>
        </p:sp>
      </p:grpSp>
      <p:grpSp>
        <p:nvGrpSpPr>
          <p:cNvPr id="1484556255" name="Group 21"/>
          <p:cNvGrpSpPr/>
          <p:nvPr/>
        </p:nvGrpSpPr>
        <p:grpSpPr bwMode="auto">
          <a:xfrm>
            <a:off x="1028700" y="6586761"/>
            <a:ext cx="548014" cy="548024"/>
            <a:chOff x="0" y="0"/>
            <a:chExt cx="686321" cy="686333"/>
          </a:xfrm>
        </p:grpSpPr>
        <p:sp>
          <p:nvSpPr>
            <p:cNvPr id="22" name="Freeform 22"/>
            <p:cNvSpPr/>
            <p:nvPr/>
          </p:nvSpPr>
          <p:spPr bwMode="auto">
            <a:xfrm>
              <a:off x="0" y="0"/>
              <a:ext cx="686308" cy="686308"/>
            </a:xfrm>
            <a:custGeom>
              <a:avLst/>
              <a:gdLst/>
              <a:ahLst/>
              <a:cxnLst/>
              <a:rect l="l" t="t" r="r" b="b"/>
              <a:pathLst>
                <a:path w="686308" h="686308" fill="norm" stroke="1" extrusionOk="0">
                  <a:moveTo>
                    <a:pt x="0" y="343154"/>
                  </a:moveTo>
                  <a:cubicBezTo>
                    <a:pt x="0" y="153670"/>
                    <a:pt x="153670" y="0"/>
                    <a:pt x="343154" y="0"/>
                  </a:cubicBezTo>
                  <a:cubicBezTo>
                    <a:pt x="532638" y="0"/>
                    <a:pt x="686308" y="153670"/>
                    <a:pt x="686308" y="343154"/>
                  </a:cubicBezTo>
                  <a:cubicBezTo>
                    <a:pt x="686308" y="532638"/>
                    <a:pt x="532638" y="686308"/>
                    <a:pt x="343154" y="686308"/>
                  </a:cubicBezTo>
                  <a:cubicBezTo>
                    <a:pt x="153670" y="686308"/>
                    <a:pt x="0" y="532638"/>
                    <a:pt x="0" y="343154"/>
                  </a:cubicBezTo>
                  <a:close/>
                </a:path>
              </a:pathLst>
            </a:custGeom>
            <a:solidFill>
              <a:srgbClr val="0078D4"/>
            </a:solidFill>
          </p:spPr>
          <p:txBody>
            <a:bodyPr/>
            <a:lstStyle/>
            <a:p>
              <a:pPr>
                <a:defRPr/>
              </a:pPr>
              <a:endParaRPr lang="en-US"/>
            </a:p>
          </p:txBody>
        </p:sp>
      </p:grpSp>
      <p:grpSp>
        <p:nvGrpSpPr>
          <p:cNvPr id="1340936460" name="Group 23"/>
          <p:cNvGrpSpPr/>
          <p:nvPr/>
        </p:nvGrpSpPr>
        <p:grpSpPr bwMode="auto">
          <a:xfrm>
            <a:off x="1257038" y="6586761"/>
            <a:ext cx="548014" cy="548024"/>
            <a:chOff x="0" y="0"/>
            <a:chExt cx="686321" cy="686333"/>
          </a:xfrm>
        </p:grpSpPr>
        <p:sp>
          <p:nvSpPr>
            <p:cNvPr id="24" name="Freeform 24"/>
            <p:cNvSpPr/>
            <p:nvPr/>
          </p:nvSpPr>
          <p:spPr bwMode="auto">
            <a:xfrm>
              <a:off x="0" y="0"/>
              <a:ext cx="686318" cy="686336"/>
            </a:xfrm>
            <a:custGeom>
              <a:avLst/>
              <a:gdLst/>
              <a:ahLst/>
              <a:cxnLst/>
              <a:rect l="l" t="t" r="r" b="b"/>
              <a:pathLst>
                <a:path w="686318" h="686336" fill="norm" stroke="1" extrusionOk="0">
                  <a:moveTo>
                    <a:pt x="0" y="0"/>
                  </a:moveTo>
                  <a:lnTo>
                    <a:pt x="686318" y="0"/>
                  </a:lnTo>
                  <a:lnTo>
                    <a:pt x="686318" y="686336"/>
                  </a:lnTo>
                  <a:lnTo>
                    <a:pt x="0" y="686336"/>
                  </a:lnTo>
                  <a:close/>
                </a:path>
              </a:pathLst>
            </a:custGeom>
            <a:blipFill rotWithShape="1">
              <a:blip r:embed="rId3">
                <a:alphaModFix amt="0"/>
              </a:blip>
              <a:stretch>
                <a:fillRect l="-78306" t="0" r="-78305" b="0"/>
              </a:stretch>
            </a:blipFill>
          </p:spPr>
          <p:txBody>
            <a:bodyPr/>
            <a:lstStyle/>
            <a:p>
              <a:pPr>
                <a:defRPr/>
              </a:pPr>
              <a:endParaRPr lang="en-US"/>
            </a:p>
          </p:txBody>
        </p:sp>
        <p:sp>
          <p:nvSpPr>
            <p:cNvPr id="25" name="TextBox 25"/>
            <p:cNvSpPr txBox="1"/>
            <p:nvPr/>
          </p:nvSpPr>
          <p:spPr bwMode="auto">
            <a:xfrm>
              <a:off x="0" y="0"/>
              <a:ext cx="686321" cy="686333"/>
            </a:xfrm>
            <a:prstGeom prst="rect">
              <a:avLst/>
            </a:prstGeom>
            <a:grpFill/>
          </p:spPr>
          <p:txBody>
            <a:bodyPr lIns="0" tIns="0" rIns="0" bIns="0" rtlCol="0" anchor="ctr"/>
            <a:lstStyle/>
            <a:p>
              <a:pPr algn="l">
                <a:lnSpc>
                  <a:spcPts val="1938"/>
                </a:lnSpc>
                <a:defRPr/>
              </a:pPr>
              <a:r>
                <a:rPr lang="en-US" sz="1600" b="1">
                  <a:solidFill>
                    <a:srgbClr val="FFFFFF"/>
                  </a:solidFill>
                  <a:latin typeface="Helvetica World Bold"/>
                  <a:ea typeface="Helvetica World Bold"/>
                  <a:cs typeface="Helvetica World Bold"/>
                </a:rPr>
                <a:t>3</a:t>
              </a:r>
              <a:endParaRPr/>
            </a:p>
          </p:txBody>
        </p:sp>
      </p:grpSp>
      <p:grpSp>
        <p:nvGrpSpPr>
          <p:cNvPr id="1142074094" name="Group 26"/>
          <p:cNvGrpSpPr/>
          <p:nvPr/>
        </p:nvGrpSpPr>
        <p:grpSpPr bwMode="auto">
          <a:xfrm>
            <a:off x="1805052" y="6404086"/>
            <a:ext cx="3927423" cy="913373"/>
            <a:chOff x="0" y="0"/>
            <a:chExt cx="4918621" cy="1143889"/>
          </a:xfrm>
        </p:grpSpPr>
        <p:sp>
          <p:nvSpPr>
            <p:cNvPr id="27" name="Freeform 27"/>
            <p:cNvSpPr/>
            <p:nvPr/>
          </p:nvSpPr>
          <p:spPr bwMode="auto">
            <a:xfrm>
              <a:off x="0" y="0"/>
              <a:ext cx="4918619" cy="1143894"/>
            </a:xfrm>
            <a:custGeom>
              <a:avLst/>
              <a:gdLst/>
              <a:ahLst/>
              <a:cxnLst/>
              <a:rect l="l" t="t" r="r" b="b"/>
              <a:pathLst>
                <a:path w="4918619" h="1143894" fill="norm" stroke="1" extrusionOk="0">
                  <a:moveTo>
                    <a:pt x="0" y="0"/>
                  </a:moveTo>
                  <a:lnTo>
                    <a:pt x="4918619" y="0"/>
                  </a:lnTo>
                  <a:lnTo>
                    <a:pt x="4918619" y="1143894"/>
                  </a:lnTo>
                  <a:lnTo>
                    <a:pt x="0" y="1143894"/>
                  </a:lnTo>
                  <a:close/>
                </a:path>
              </a:pathLst>
            </a:custGeom>
            <a:blipFill rotWithShape="1">
              <a:blip r:embed="rId3">
                <a:alphaModFix amt="0"/>
              </a:blip>
              <a:stretch>
                <a:fillRect l="0" t="-33783" r="0" b="-33783"/>
              </a:stretch>
            </a:blipFill>
          </p:spPr>
          <p:txBody>
            <a:bodyPr/>
            <a:lstStyle/>
            <a:p>
              <a:pPr>
                <a:defRPr/>
              </a:pPr>
              <a:endParaRPr lang="en-US"/>
            </a:p>
          </p:txBody>
        </p:sp>
        <p:sp>
          <p:nvSpPr>
            <p:cNvPr id="28" name="TextBox 28"/>
            <p:cNvSpPr txBox="1"/>
            <p:nvPr/>
          </p:nvSpPr>
          <p:spPr bwMode="auto">
            <a:xfrm>
              <a:off x="0" y="-66675"/>
              <a:ext cx="4918621" cy="1210564"/>
            </a:xfrm>
            <a:prstGeom prst="rect">
              <a:avLst/>
            </a:prstGeom>
            <a:grpFill/>
          </p:spPr>
          <p:txBody>
            <a:bodyPr lIns="0" tIns="0" rIns="0" bIns="0" rtlCol="0" anchor="ctr"/>
            <a:lstStyle/>
            <a:p>
              <a:pPr algn="l">
                <a:lnSpc>
                  <a:spcPts val="2634"/>
                </a:lnSpc>
                <a:defRPr/>
              </a:pPr>
              <a:r>
                <a:rPr lang="en-US" sz="1600">
                  <a:solidFill>
                    <a:srgbClr val="323130"/>
                  </a:solidFill>
                  <a:latin typeface="Helvetica World"/>
                  <a:ea typeface="Helvetica World"/>
                  <a:cs typeface="Helvetica World"/>
                </a:rPr>
                <a:t>Backend processes API requests</a:t>
              </a:r>
              <a:endParaRPr/>
            </a:p>
          </p:txBody>
        </p:sp>
      </p:grpSp>
      <p:grpSp>
        <p:nvGrpSpPr>
          <p:cNvPr id="1960840736" name="Group 29"/>
          <p:cNvGrpSpPr/>
          <p:nvPr/>
        </p:nvGrpSpPr>
        <p:grpSpPr bwMode="auto">
          <a:xfrm>
            <a:off x="1028700" y="7439585"/>
            <a:ext cx="548014" cy="548024"/>
            <a:chOff x="0" y="0"/>
            <a:chExt cx="686321" cy="686333"/>
          </a:xfrm>
        </p:grpSpPr>
        <p:sp>
          <p:nvSpPr>
            <p:cNvPr id="30" name="Freeform 30"/>
            <p:cNvSpPr/>
            <p:nvPr/>
          </p:nvSpPr>
          <p:spPr bwMode="auto">
            <a:xfrm>
              <a:off x="0" y="0"/>
              <a:ext cx="686308" cy="686308"/>
            </a:xfrm>
            <a:custGeom>
              <a:avLst/>
              <a:gdLst/>
              <a:ahLst/>
              <a:cxnLst/>
              <a:rect l="l" t="t" r="r" b="b"/>
              <a:pathLst>
                <a:path w="686308" h="686308" fill="norm" stroke="1" extrusionOk="0">
                  <a:moveTo>
                    <a:pt x="0" y="343154"/>
                  </a:moveTo>
                  <a:cubicBezTo>
                    <a:pt x="0" y="153670"/>
                    <a:pt x="153670" y="0"/>
                    <a:pt x="343154" y="0"/>
                  </a:cubicBezTo>
                  <a:cubicBezTo>
                    <a:pt x="532638" y="0"/>
                    <a:pt x="686308" y="153670"/>
                    <a:pt x="686308" y="343154"/>
                  </a:cubicBezTo>
                  <a:cubicBezTo>
                    <a:pt x="686308" y="532638"/>
                    <a:pt x="532638" y="686308"/>
                    <a:pt x="343154" y="686308"/>
                  </a:cubicBezTo>
                  <a:cubicBezTo>
                    <a:pt x="153670" y="686308"/>
                    <a:pt x="0" y="532638"/>
                    <a:pt x="0" y="343154"/>
                  </a:cubicBezTo>
                  <a:close/>
                </a:path>
              </a:pathLst>
            </a:custGeom>
            <a:solidFill>
              <a:srgbClr val="0078D4"/>
            </a:solidFill>
          </p:spPr>
          <p:txBody>
            <a:bodyPr/>
            <a:lstStyle/>
            <a:p>
              <a:pPr>
                <a:defRPr/>
              </a:pPr>
              <a:endParaRPr lang="en-US"/>
            </a:p>
          </p:txBody>
        </p:sp>
      </p:grpSp>
      <p:grpSp>
        <p:nvGrpSpPr>
          <p:cNvPr id="1095801701" name="Group 31"/>
          <p:cNvGrpSpPr/>
          <p:nvPr/>
        </p:nvGrpSpPr>
        <p:grpSpPr bwMode="auto">
          <a:xfrm>
            <a:off x="1257038" y="7416753"/>
            <a:ext cx="548014" cy="548024"/>
            <a:chOff x="0" y="0"/>
            <a:chExt cx="686321" cy="686333"/>
          </a:xfrm>
        </p:grpSpPr>
        <p:sp>
          <p:nvSpPr>
            <p:cNvPr id="32" name="Freeform 32"/>
            <p:cNvSpPr/>
            <p:nvPr/>
          </p:nvSpPr>
          <p:spPr bwMode="auto">
            <a:xfrm>
              <a:off x="0" y="0"/>
              <a:ext cx="686318" cy="686336"/>
            </a:xfrm>
            <a:custGeom>
              <a:avLst/>
              <a:gdLst/>
              <a:ahLst/>
              <a:cxnLst/>
              <a:rect l="l" t="t" r="r" b="b"/>
              <a:pathLst>
                <a:path w="686318" h="686336" fill="norm" stroke="1" extrusionOk="0">
                  <a:moveTo>
                    <a:pt x="0" y="0"/>
                  </a:moveTo>
                  <a:lnTo>
                    <a:pt x="686318" y="0"/>
                  </a:lnTo>
                  <a:lnTo>
                    <a:pt x="686318" y="686336"/>
                  </a:lnTo>
                  <a:lnTo>
                    <a:pt x="0" y="686336"/>
                  </a:lnTo>
                  <a:close/>
                </a:path>
              </a:pathLst>
            </a:custGeom>
            <a:blipFill rotWithShape="1">
              <a:blip r:embed="rId3">
                <a:alphaModFix amt="0"/>
              </a:blip>
              <a:stretch>
                <a:fillRect l="-78306" t="0" r="-78305" b="0"/>
              </a:stretch>
            </a:blipFill>
          </p:spPr>
          <p:txBody>
            <a:bodyPr/>
            <a:lstStyle/>
            <a:p>
              <a:pPr>
                <a:defRPr/>
              </a:pPr>
              <a:endParaRPr lang="en-US"/>
            </a:p>
          </p:txBody>
        </p:sp>
        <p:sp>
          <p:nvSpPr>
            <p:cNvPr id="33" name="TextBox 33"/>
            <p:cNvSpPr txBox="1"/>
            <p:nvPr/>
          </p:nvSpPr>
          <p:spPr bwMode="auto">
            <a:xfrm>
              <a:off x="0" y="0"/>
              <a:ext cx="686321" cy="686333"/>
            </a:xfrm>
            <a:prstGeom prst="rect">
              <a:avLst/>
            </a:prstGeom>
            <a:grpFill/>
          </p:spPr>
          <p:txBody>
            <a:bodyPr lIns="0" tIns="0" rIns="0" bIns="0" rtlCol="0" anchor="ctr"/>
            <a:lstStyle/>
            <a:p>
              <a:pPr algn="l">
                <a:lnSpc>
                  <a:spcPts val="1938"/>
                </a:lnSpc>
                <a:defRPr/>
              </a:pPr>
              <a:r>
                <a:rPr lang="en-US" sz="1600" b="1">
                  <a:solidFill>
                    <a:srgbClr val="FFFFFF"/>
                  </a:solidFill>
                  <a:latin typeface="Helvetica World Bold"/>
                  <a:ea typeface="Helvetica World Bold"/>
                  <a:cs typeface="Helvetica World Bold"/>
                </a:rPr>
                <a:t>4</a:t>
              </a:r>
              <a:endParaRPr/>
            </a:p>
          </p:txBody>
        </p:sp>
      </p:grpSp>
      <p:grpSp>
        <p:nvGrpSpPr>
          <p:cNvPr id="203704226" name="Group 34"/>
          <p:cNvGrpSpPr/>
          <p:nvPr/>
        </p:nvGrpSpPr>
        <p:grpSpPr bwMode="auto">
          <a:xfrm>
            <a:off x="1812919" y="7462417"/>
            <a:ext cx="3394630" cy="502360"/>
            <a:chOff x="0" y="0"/>
            <a:chExt cx="4251363" cy="629145"/>
          </a:xfrm>
        </p:grpSpPr>
        <p:sp>
          <p:nvSpPr>
            <p:cNvPr id="35" name="Freeform 35"/>
            <p:cNvSpPr/>
            <p:nvPr/>
          </p:nvSpPr>
          <p:spPr bwMode="auto">
            <a:xfrm>
              <a:off x="0" y="0"/>
              <a:ext cx="4251363" cy="629141"/>
            </a:xfrm>
            <a:custGeom>
              <a:avLst/>
              <a:gdLst/>
              <a:ahLst/>
              <a:cxnLst/>
              <a:rect l="l" t="t" r="r" b="b"/>
              <a:pathLst>
                <a:path w="4251363" h="629141" fill="norm" stroke="1" extrusionOk="0">
                  <a:moveTo>
                    <a:pt x="0" y="0"/>
                  </a:moveTo>
                  <a:lnTo>
                    <a:pt x="4251363" y="0"/>
                  </a:lnTo>
                  <a:lnTo>
                    <a:pt x="4251363" y="629141"/>
                  </a:lnTo>
                  <a:lnTo>
                    <a:pt x="0" y="629141"/>
                  </a:lnTo>
                  <a:close/>
                </a:path>
              </a:pathLst>
            </a:custGeom>
            <a:blipFill rotWithShape="1">
              <a:blip r:embed="rId3">
                <a:alphaModFix amt="0"/>
              </a:blip>
              <a:stretch>
                <a:fillRect l="0" t="-81667" r="0" b="-81668"/>
              </a:stretch>
            </a:blipFill>
          </p:spPr>
          <p:txBody>
            <a:bodyPr/>
            <a:lstStyle/>
            <a:p>
              <a:pPr>
                <a:defRPr/>
              </a:pPr>
              <a:endParaRPr lang="en-US"/>
            </a:p>
          </p:txBody>
        </p:sp>
        <p:sp>
          <p:nvSpPr>
            <p:cNvPr id="36" name="TextBox 36"/>
            <p:cNvSpPr txBox="1"/>
            <p:nvPr/>
          </p:nvSpPr>
          <p:spPr bwMode="auto">
            <a:xfrm>
              <a:off x="0" y="-66675"/>
              <a:ext cx="4251363" cy="695820"/>
            </a:xfrm>
            <a:prstGeom prst="rect">
              <a:avLst/>
            </a:prstGeom>
            <a:grpFill/>
          </p:spPr>
          <p:txBody>
            <a:bodyPr lIns="0" tIns="0" rIns="0" bIns="0" rtlCol="0" anchor="ctr"/>
            <a:lstStyle/>
            <a:p>
              <a:pPr algn="l">
                <a:lnSpc>
                  <a:spcPts val="2634"/>
                </a:lnSpc>
                <a:defRPr/>
              </a:pPr>
              <a:r>
                <a:rPr lang="en-US" sz="1600">
                  <a:solidFill>
                    <a:srgbClr val="323130"/>
                  </a:solidFill>
                  <a:latin typeface="Helvetica World"/>
                  <a:ea typeface="Helvetica World"/>
                  <a:cs typeface="Helvetica World"/>
                </a:rPr>
                <a:t>SQL stores and returns data</a:t>
              </a:r>
              <a:endParaRPr/>
            </a:p>
          </p:txBody>
        </p:sp>
      </p:grpSp>
      <p:sp>
        <p:nvSpPr>
          <p:cNvPr id="252812338" name="Freeform 37"/>
          <p:cNvSpPr/>
          <p:nvPr/>
        </p:nvSpPr>
        <p:spPr bwMode="auto">
          <a:xfrm>
            <a:off x="8879172" y="2841921"/>
            <a:ext cx="8380128" cy="5897515"/>
          </a:xfrm>
          <a:custGeom>
            <a:avLst/>
            <a:gdLst/>
            <a:ahLst/>
            <a:cxnLst/>
            <a:rect l="l" t="t" r="r" b="b"/>
            <a:pathLst>
              <a:path w="8380128" h="5897515" fill="norm" stroke="1" extrusionOk="0">
                <a:moveTo>
                  <a:pt x="0" y="0"/>
                </a:moveTo>
                <a:lnTo>
                  <a:pt x="8380128" y="0"/>
                </a:lnTo>
                <a:lnTo>
                  <a:pt x="8380128" y="5897516"/>
                </a:lnTo>
                <a:lnTo>
                  <a:pt x="0" y="5897516"/>
                </a:lnTo>
                <a:lnTo>
                  <a:pt x="0" y="0"/>
                </a:lnTo>
                <a:close/>
              </a:path>
            </a:pathLst>
          </a:custGeom>
          <a:blipFill rotWithShape="1">
            <a:blip r:embed="rId4"/>
            <a:stretch/>
          </a:blipFill>
        </p:spPr>
        <p:txBody>
          <a:bodyPr/>
          <a:lstStyle/>
          <a:p>
            <a:pPr>
              <a:defRPr/>
            </a:pPr>
            <a:endParaRPr lang="en-US"/>
          </a:p>
        </p:txBody>
      </p:sp>
      <p:grpSp>
        <p:nvGrpSpPr>
          <p:cNvPr id="410061967" name="Group 38"/>
          <p:cNvGrpSpPr/>
          <p:nvPr/>
        </p:nvGrpSpPr>
        <p:grpSpPr bwMode="auto">
          <a:xfrm>
            <a:off x="0" y="0"/>
            <a:ext cx="18288000" cy="1429864"/>
            <a:chOff x="0" y="0"/>
            <a:chExt cx="24384000" cy="1906486"/>
          </a:xfrm>
        </p:grpSpPr>
        <p:sp>
          <p:nvSpPr>
            <p:cNvPr id="39" name="Freeform 39"/>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160763115" name="Group 40"/>
          <p:cNvGrpSpPr/>
          <p:nvPr/>
        </p:nvGrpSpPr>
        <p:grpSpPr bwMode="auto">
          <a:xfrm rot="-5400000">
            <a:off x="12709489" y="591012"/>
            <a:ext cx="898055" cy="247840"/>
            <a:chOff x="0" y="0"/>
            <a:chExt cx="1197407" cy="330454"/>
          </a:xfrm>
        </p:grpSpPr>
        <p:sp>
          <p:nvSpPr>
            <p:cNvPr id="41" name="Freeform 41"/>
            <p:cNvSpPr/>
            <p:nvPr/>
          </p:nvSpPr>
          <p:spPr bwMode="auto">
            <a:xfrm>
              <a:off x="0" y="0"/>
              <a:ext cx="1197381" cy="330454"/>
            </a:xfrm>
            <a:custGeom>
              <a:avLst/>
              <a:gdLst/>
              <a:ahLst/>
              <a:cxnLst/>
              <a:rect l="l" t="t" r="r" b="b"/>
              <a:pathLst>
                <a:path w="1197381" h="330454" fill="norm" stroke="1" extrusionOk="0">
                  <a:moveTo>
                    <a:pt x="170120" y="0"/>
                  </a:moveTo>
                  <a:lnTo>
                    <a:pt x="1027260" y="0"/>
                  </a:lnTo>
                  <a:cubicBezTo>
                    <a:pt x="1121278" y="0"/>
                    <a:pt x="1197381" y="73914"/>
                    <a:pt x="1197381" y="165227"/>
                  </a:cubicBezTo>
                  <a:lnTo>
                    <a:pt x="1197381" y="330454"/>
                  </a:lnTo>
                  <a:lnTo>
                    <a:pt x="0" y="330454"/>
                  </a:lnTo>
                  <a:lnTo>
                    <a:pt x="0" y="165227"/>
                  </a:lnTo>
                  <a:cubicBezTo>
                    <a:pt x="0" y="73914"/>
                    <a:pt x="76103" y="0"/>
                    <a:pt x="170120" y="0"/>
                  </a:cubicBezTo>
                  <a:close/>
                </a:path>
              </a:pathLst>
            </a:custGeom>
            <a:solidFill>
              <a:srgbClr val="0078D4"/>
            </a:solidFill>
          </p:spPr>
          <p:txBody>
            <a:bodyPr/>
            <a:lstStyle/>
            <a:p>
              <a:pPr>
                <a:defRPr/>
              </a:pPr>
              <a:endParaRPr lang="en-US"/>
            </a:p>
          </p:txBody>
        </p:sp>
      </p:grpSp>
      <p:grpSp>
        <p:nvGrpSpPr>
          <p:cNvPr id="810361593" name="Group 42"/>
          <p:cNvGrpSpPr/>
          <p:nvPr/>
        </p:nvGrpSpPr>
        <p:grpSpPr bwMode="auto">
          <a:xfrm>
            <a:off x="16389080" y="209531"/>
            <a:ext cx="1405661" cy="1010802"/>
            <a:chOff x="0" y="0"/>
            <a:chExt cx="692506" cy="497977"/>
          </a:xfrm>
        </p:grpSpPr>
        <p:sp>
          <p:nvSpPr>
            <p:cNvPr id="43" name="Freeform 43"/>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44" name="TextBox 44"/>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06</a:t>
              </a:r>
              <a:endParaRPr/>
            </a:p>
          </p:txBody>
        </p:sp>
      </p:grpSp>
      <p:grpSp>
        <p:nvGrpSpPr>
          <p:cNvPr id="2111787984" name="Group 45"/>
          <p:cNvGrpSpPr/>
          <p:nvPr/>
        </p:nvGrpSpPr>
        <p:grpSpPr bwMode="auto">
          <a:xfrm>
            <a:off x="590979" y="341820"/>
            <a:ext cx="6476635" cy="746224"/>
            <a:chOff x="0" y="0"/>
            <a:chExt cx="8635515" cy="994965"/>
          </a:xfrm>
        </p:grpSpPr>
        <p:sp>
          <p:nvSpPr>
            <p:cNvPr id="46" name="Freeform 46"/>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47" name="TextBox 47"/>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692597736"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1951239941" name="Group 4"/>
          <p:cNvGrpSpPr/>
          <p:nvPr/>
        </p:nvGrpSpPr>
        <p:grpSpPr bwMode="auto">
          <a:xfrm>
            <a:off x="551875" y="1278438"/>
            <a:ext cx="15231247" cy="2228592"/>
            <a:chOff x="-14722456" y="-1009534"/>
            <a:chExt cx="20308330" cy="2971456"/>
          </a:xfrm>
        </p:grpSpPr>
        <p:sp>
          <p:nvSpPr>
            <p:cNvPr id="5" name="Freeform 5"/>
            <p:cNvSpPr/>
            <p:nvPr/>
          </p:nvSpPr>
          <p:spPr bwMode="auto">
            <a:xfrm>
              <a:off x="0" y="0"/>
              <a:ext cx="5585874" cy="1961922"/>
            </a:xfrm>
            <a:custGeom>
              <a:avLst/>
              <a:gdLst/>
              <a:ahLst/>
              <a:cxnLst/>
              <a:rect l="l" t="t" r="r" b="b"/>
              <a:pathLst>
                <a:path w="5585874" h="1961922" fill="norm" stroke="1" extrusionOk="0">
                  <a:moveTo>
                    <a:pt x="0" y="0"/>
                  </a:moveTo>
                  <a:lnTo>
                    <a:pt x="5585874" y="0"/>
                  </a:lnTo>
                  <a:lnTo>
                    <a:pt x="5585874" y="1961922"/>
                  </a:lnTo>
                  <a:lnTo>
                    <a:pt x="0" y="1961922"/>
                  </a:lnTo>
                  <a:close/>
                </a:path>
              </a:pathLst>
            </a:custGeom>
            <a:blipFill rotWithShape="1">
              <a:blip r:embed="rId3">
                <a:alphaModFix amt="0"/>
              </a:blip>
              <a:stretch>
                <a:fillRect l="0" t="-9804" r="0" b="-1147"/>
              </a:stretch>
            </a:blipFill>
          </p:spPr>
          <p:txBody>
            <a:bodyPr/>
            <a:lstStyle/>
            <a:p>
              <a:pPr>
                <a:defRPr/>
              </a:pPr>
              <a:endParaRPr lang="en-US"/>
            </a:p>
          </p:txBody>
        </p:sp>
        <p:sp>
          <p:nvSpPr>
            <p:cNvPr id="6" name="TextBox 6"/>
            <p:cNvSpPr txBox="1"/>
            <p:nvPr/>
          </p:nvSpPr>
          <p:spPr bwMode="auto">
            <a:xfrm>
              <a:off x="-14722456" y="-1009534"/>
              <a:ext cx="8147099" cy="2019068"/>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Implementation details</a:t>
              </a:r>
              <a:endParaRPr/>
            </a:p>
          </p:txBody>
        </p:sp>
      </p:grpSp>
      <p:grpSp>
        <p:nvGrpSpPr>
          <p:cNvPr id="1851800369" name="Group 48"/>
          <p:cNvGrpSpPr/>
          <p:nvPr/>
        </p:nvGrpSpPr>
        <p:grpSpPr bwMode="auto">
          <a:xfrm>
            <a:off x="571929" y="341820"/>
            <a:ext cx="6476635" cy="746224"/>
            <a:chOff x="0" y="0"/>
            <a:chExt cx="8635515" cy="994965"/>
          </a:xfrm>
        </p:grpSpPr>
        <p:sp>
          <p:nvSpPr>
            <p:cNvPr id="49" name="Freeform 49"/>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0" name="TextBox 50"/>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1554521706" name="Group 51"/>
          <p:cNvGrpSpPr/>
          <p:nvPr/>
        </p:nvGrpSpPr>
        <p:grpSpPr bwMode="auto">
          <a:xfrm>
            <a:off x="16389080" y="209531"/>
            <a:ext cx="1405661" cy="1010802"/>
            <a:chOff x="0" y="0"/>
            <a:chExt cx="692506" cy="497977"/>
          </a:xfrm>
        </p:grpSpPr>
        <p:sp>
          <p:nvSpPr>
            <p:cNvPr id="52" name="Freeform 52"/>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53" name="TextBox 53"/>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07</a:t>
              </a:r>
              <a:endParaRPr/>
            </a:p>
          </p:txBody>
        </p:sp>
      </p:grpSp>
      <p:sp>
        <p:nvSpPr>
          <p:cNvPr id="102422882" name="TextBox 54"/>
          <p:cNvSpPr txBox="1"/>
          <p:nvPr/>
        </p:nvSpPr>
        <p:spPr bwMode="auto">
          <a:xfrm>
            <a:off x="551875" y="2583744"/>
            <a:ext cx="17716072" cy="6986528"/>
          </a:xfrm>
          <a:prstGeom prst="rect">
            <a:avLst/>
          </a:prstGeom>
          <a:noFill/>
        </p:spPr>
        <p:txBody>
          <a:bodyPr wrap="square">
            <a:spAutoFit/>
          </a:bodyPr>
          <a:lstStyle/>
          <a:p>
            <a:pPr>
              <a:defRPr/>
            </a:pPr>
            <a:r>
              <a:rPr lang="en-US" sz="3200" b="1"/>
              <a:t>Infrastructure provisioning</a:t>
            </a:r>
            <a:r>
              <a:rPr lang="en-US" sz="3200"/>
              <a:t> We provisioned a VNet with two dedicated subnets — one for the Application Gateway and one for the ACA environment. An internal Azure Container Apps environment was deployed into the ACA subnet, ensuring no container was directly reachable from the internet.</a:t>
            </a:r>
            <a:endParaRPr/>
          </a:p>
          <a:p>
            <a:pPr>
              <a:defRPr/>
            </a:pPr>
            <a:r>
              <a:rPr lang="en-US" sz="3200" b="1"/>
              <a:t>Container builds and deployment</a:t>
            </a:r>
            <a:r>
              <a:rPr lang="en-US" sz="3200"/>
              <a:t> Both frontend and backend were containerized with custom Dockerfiles. Images were pushed to Azure Container Registry and deployed as Container Apps. Environment variables — including the Azure SQL connection string — were injected via App Settings rather than Key Vault secrets, a deliberate choice given access constraints during the project.</a:t>
            </a:r>
            <a:endParaRPr/>
          </a:p>
          <a:p>
            <a:pPr>
              <a:defRPr/>
            </a:pPr>
            <a:r>
              <a:rPr lang="en-US" sz="3200" b="1"/>
              <a:t>Application Gateway configuration</a:t>
            </a:r>
            <a:r>
              <a:rPr lang="en-US" sz="3200"/>
              <a:t> We configured the gateway with two backend pools (frontend and backend), two HTTP settings with host override headers matching internal ACA FQDNs, custom health probes, a URL path map for routing, a self-signed TLS certificate for HTTPS termination, and an HTTP-to-HTTPS redirect rule.</a:t>
            </a:r>
            <a:endParaRPr/>
          </a:p>
          <a:p>
            <a:pPr>
              <a:defRPr/>
            </a:pPr>
            <a:r>
              <a:rPr lang="en-US" sz="3200" b="1"/>
              <a:t>Private DNS</a:t>
            </a:r>
            <a:r>
              <a:rPr lang="en-US" sz="3200"/>
              <a:t> A private DNS zone matching the ACA environment domain was linked to the VNet, with A records pointing to the ACA environment's static internal IP. This allowed the Application Gateway to resolve internal container app hostnames correctly.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500152077" name="Group 2"/>
          <p:cNvGrpSpPr/>
          <p:nvPr/>
        </p:nvGrpSpPr>
        <p:grpSpPr bwMode="auto">
          <a:xfrm>
            <a:off x="1028700" y="1995621"/>
            <a:ext cx="6339655" cy="7733671"/>
            <a:chOff x="0" y="0"/>
            <a:chExt cx="8452873" cy="10311562"/>
          </a:xfrm>
        </p:grpSpPr>
        <p:sp>
          <p:nvSpPr>
            <p:cNvPr id="3" name="Freeform 3"/>
            <p:cNvSpPr/>
            <p:nvPr/>
          </p:nvSpPr>
          <p:spPr bwMode="auto">
            <a:xfrm>
              <a:off x="13316" y="8255"/>
              <a:ext cx="8426404" cy="10295000"/>
            </a:xfrm>
            <a:custGeom>
              <a:avLst/>
              <a:gdLst/>
              <a:ahLst/>
              <a:cxnLst/>
              <a:rect l="l" t="t" r="r" b="b"/>
              <a:pathLst>
                <a:path w="8426404" h="10295001" fill="norm" stroke="1" extrusionOk="0">
                  <a:moveTo>
                    <a:pt x="0" y="305435"/>
                  </a:moveTo>
                  <a:cubicBezTo>
                    <a:pt x="0" y="136779"/>
                    <a:pt x="220227" y="0"/>
                    <a:pt x="492080" y="0"/>
                  </a:cubicBezTo>
                  <a:lnTo>
                    <a:pt x="7934325" y="0"/>
                  </a:lnTo>
                  <a:cubicBezTo>
                    <a:pt x="8205973" y="0"/>
                    <a:pt x="8426405" y="136779"/>
                    <a:pt x="8426405" y="305435"/>
                  </a:cubicBezTo>
                  <a:lnTo>
                    <a:pt x="8426405" y="9989566"/>
                  </a:lnTo>
                  <a:cubicBezTo>
                    <a:pt x="8426405" y="10158222"/>
                    <a:pt x="8206178" y="10295001"/>
                    <a:pt x="7934325" y="10295001"/>
                  </a:cubicBezTo>
                  <a:lnTo>
                    <a:pt x="492080" y="10295001"/>
                  </a:lnTo>
                  <a:cubicBezTo>
                    <a:pt x="220227" y="10295001"/>
                    <a:pt x="0" y="10158222"/>
                    <a:pt x="0" y="9989566"/>
                  </a:cubicBezTo>
                  <a:close/>
                </a:path>
              </a:pathLst>
            </a:custGeom>
            <a:solidFill>
              <a:srgbClr val="FFFFFF"/>
            </a:solidFill>
          </p:spPr>
          <p:txBody>
            <a:bodyPr/>
            <a:lstStyle/>
            <a:p>
              <a:pPr>
                <a:defRPr/>
              </a:pPr>
              <a:endParaRPr lang="en-US"/>
            </a:p>
          </p:txBody>
        </p:sp>
        <p:sp>
          <p:nvSpPr>
            <p:cNvPr id="4" name="Freeform 4"/>
            <p:cNvSpPr/>
            <p:nvPr/>
          </p:nvSpPr>
          <p:spPr bwMode="auto">
            <a:xfrm>
              <a:off x="0" y="0"/>
              <a:ext cx="8452975" cy="10311510"/>
            </a:xfrm>
            <a:custGeom>
              <a:avLst/>
              <a:gdLst/>
              <a:ahLst/>
              <a:cxnLst/>
              <a:rect l="l" t="t" r="r" b="b"/>
              <a:pathLst>
                <a:path w="8452975" h="10311511" fill="norm" stroke="1" extrusionOk="0">
                  <a:moveTo>
                    <a:pt x="0" y="313690"/>
                  </a:moveTo>
                  <a:cubicBezTo>
                    <a:pt x="0" y="140462"/>
                    <a:pt x="226168" y="0"/>
                    <a:pt x="505396" y="0"/>
                  </a:cubicBezTo>
                  <a:lnTo>
                    <a:pt x="7947641" y="0"/>
                  </a:lnTo>
                  <a:lnTo>
                    <a:pt x="7947641" y="8255"/>
                  </a:lnTo>
                  <a:lnTo>
                    <a:pt x="7947641" y="0"/>
                  </a:lnTo>
                  <a:cubicBezTo>
                    <a:pt x="8226664" y="0"/>
                    <a:pt x="8452975" y="140462"/>
                    <a:pt x="8452975" y="313690"/>
                  </a:cubicBezTo>
                  <a:lnTo>
                    <a:pt x="8439721" y="313690"/>
                  </a:lnTo>
                  <a:lnTo>
                    <a:pt x="8452975" y="313690"/>
                  </a:lnTo>
                  <a:lnTo>
                    <a:pt x="8452975" y="9997821"/>
                  </a:lnTo>
                  <a:lnTo>
                    <a:pt x="8439721" y="9997821"/>
                  </a:lnTo>
                  <a:lnTo>
                    <a:pt x="8452975" y="9997821"/>
                  </a:lnTo>
                  <a:cubicBezTo>
                    <a:pt x="8452975" y="10171049"/>
                    <a:pt x="8226868" y="10311511"/>
                    <a:pt x="7947641" y="10311511"/>
                  </a:cubicBezTo>
                  <a:lnTo>
                    <a:pt x="7947641" y="10303256"/>
                  </a:lnTo>
                  <a:lnTo>
                    <a:pt x="7947641" y="10311511"/>
                  </a:lnTo>
                  <a:lnTo>
                    <a:pt x="505396" y="10311511"/>
                  </a:lnTo>
                  <a:lnTo>
                    <a:pt x="505396" y="10303256"/>
                  </a:lnTo>
                  <a:lnTo>
                    <a:pt x="505396" y="10311511"/>
                  </a:lnTo>
                  <a:cubicBezTo>
                    <a:pt x="226168" y="10311511"/>
                    <a:pt x="0" y="10171049"/>
                    <a:pt x="0" y="9997821"/>
                  </a:cubicBezTo>
                  <a:lnTo>
                    <a:pt x="0" y="313690"/>
                  </a:lnTo>
                  <a:lnTo>
                    <a:pt x="13316" y="313690"/>
                  </a:lnTo>
                  <a:lnTo>
                    <a:pt x="0" y="313690"/>
                  </a:lnTo>
                  <a:moveTo>
                    <a:pt x="26632" y="313690"/>
                  </a:moveTo>
                  <a:lnTo>
                    <a:pt x="26632" y="9997821"/>
                  </a:lnTo>
                  <a:lnTo>
                    <a:pt x="13316" y="9997821"/>
                  </a:lnTo>
                  <a:lnTo>
                    <a:pt x="26632" y="9997821"/>
                  </a:lnTo>
                  <a:cubicBezTo>
                    <a:pt x="26632" y="10162032"/>
                    <a:pt x="240918" y="10295001"/>
                    <a:pt x="505396" y="10295001"/>
                  </a:cubicBezTo>
                  <a:lnTo>
                    <a:pt x="7947641" y="10295001"/>
                  </a:lnTo>
                  <a:cubicBezTo>
                    <a:pt x="8211913" y="10295001"/>
                    <a:pt x="8426404" y="10161905"/>
                    <a:pt x="8426404" y="9997821"/>
                  </a:cubicBezTo>
                  <a:lnTo>
                    <a:pt x="8426404" y="313690"/>
                  </a:lnTo>
                  <a:cubicBezTo>
                    <a:pt x="8426404" y="149479"/>
                    <a:pt x="8212119" y="16510"/>
                    <a:pt x="7947641" y="16510"/>
                  </a:cubicBezTo>
                  <a:lnTo>
                    <a:pt x="505396" y="16510"/>
                  </a:lnTo>
                  <a:lnTo>
                    <a:pt x="505396" y="8255"/>
                  </a:lnTo>
                  <a:lnTo>
                    <a:pt x="505396" y="16510"/>
                  </a:lnTo>
                  <a:cubicBezTo>
                    <a:pt x="240918" y="16510"/>
                    <a:pt x="26632" y="149606"/>
                    <a:pt x="26632" y="313690"/>
                  </a:cubicBezTo>
                  <a:close/>
                </a:path>
              </a:pathLst>
            </a:custGeom>
            <a:solidFill>
              <a:srgbClr val="E1DFDD"/>
            </a:solidFill>
          </p:spPr>
          <p:txBody>
            <a:bodyPr/>
            <a:lstStyle/>
            <a:p>
              <a:pPr>
                <a:defRPr/>
              </a:pPr>
              <a:endParaRPr lang="en-US"/>
            </a:p>
          </p:txBody>
        </p:sp>
      </p:grpSp>
      <p:grpSp>
        <p:nvGrpSpPr>
          <p:cNvPr id="258620185" name="Group 5"/>
          <p:cNvGrpSpPr/>
          <p:nvPr/>
        </p:nvGrpSpPr>
        <p:grpSpPr bwMode="auto">
          <a:xfrm>
            <a:off x="1523043" y="2345607"/>
            <a:ext cx="645809" cy="313325"/>
            <a:chOff x="0" y="0"/>
            <a:chExt cx="861078" cy="417767"/>
          </a:xfrm>
        </p:grpSpPr>
        <p:sp>
          <p:nvSpPr>
            <p:cNvPr id="6" name="Freeform 6" descr="image.png"/>
            <p:cNvSpPr/>
            <p:nvPr/>
          </p:nvSpPr>
          <p:spPr bwMode="auto">
            <a:xfrm>
              <a:off x="0" y="0"/>
              <a:ext cx="861037" cy="417830"/>
            </a:xfrm>
            <a:custGeom>
              <a:avLst/>
              <a:gdLst/>
              <a:ahLst/>
              <a:cxnLst/>
              <a:rect l="l" t="t" r="r" b="b"/>
              <a:pathLst>
                <a:path w="861037" h="417830" fill="norm" stroke="1" extrusionOk="0">
                  <a:moveTo>
                    <a:pt x="0" y="0"/>
                  </a:moveTo>
                  <a:lnTo>
                    <a:pt x="861037" y="0"/>
                  </a:lnTo>
                  <a:lnTo>
                    <a:pt x="861037" y="417830"/>
                  </a:lnTo>
                  <a:lnTo>
                    <a:pt x="0" y="417830"/>
                  </a:lnTo>
                  <a:lnTo>
                    <a:pt x="0" y="0"/>
                  </a:lnTo>
                  <a:close/>
                </a:path>
              </a:pathLst>
            </a:custGeom>
            <a:blipFill rotWithShape="1">
              <a:blip r:embed="rId3"/>
              <a:stretch>
                <a:fillRect l="0" t="-30652" r="-4" b="-30627"/>
              </a:stretch>
            </a:blipFill>
          </p:spPr>
          <p:txBody>
            <a:bodyPr/>
            <a:lstStyle/>
            <a:p>
              <a:pPr>
                <a:defRPr/>
              </a:pPr>
              <a:endParaRPr lang="en-US"/>
            </a:p>
          </p:txBody>
        </p:sp>
      </p:grpSp>
      <p:grpSp>
        <p:nvGrpSpPr>
          <p:cNvPr id="779415485" name="Group 7"/>
          <p:cNvGrpSpPr/>
          <p:nvPr/>
        </p:nvGrpSpPr>
        <p:grpSpPr bwMode="auto">
          <a:xfrm>
            <a:off x="2399491" y="2265033"/>
            <a:ext cx="3182903" cy="525045"/>
            <a:chOff x="0" y="0"/>
            <a:chExt cx="4243870" cy="700059"/>
          </a:xfrm>
        </p:grpSpPr>
        <p:sp>
          <p:nvSpPr>
            <p:cNvPr id="8" name="Freeform 8"/>
            <p:cNvSpPr/>
            <p:nvPr/>
          </p:nvSpPr>
          <p:spPr bwMode="auto">
            <a:xfrm>
              <a:off x="0" y="0"/>
              <a:ext cx="4243863" cy="700061"/>
            </a:xfrm>
            <a:custGeom>
              <a:avLst/>
              <a:gdLst/>
              <a:ahLst/>
              <a:cxnLst/>
              <a:rect l="l" t="t" r="r" b="b"/>
              <a:pathLst>
                <a:path w="4243863" h="700061" fill="norm" stroke="1" extrusionOk="0">
                  <a:moveTo>
                    <a:pt x="0" y="0"/>
                  </a:moveTo>
                  <a:lnTo>
                    <a:pt x="4243863" y="0"/>
                  </a:lnTo>
                  <a:lnTo>
                    <a:pt x="4243863" y="700061"/>
                  </a:lnTo>
                  <a:lnTo>
                    <a:pt x="0" y="700061"/>
                  </a:lnTo>
                  <a:close/>
                </a:path>
              </a:pathLst>
            </a:custGeom>
            <a:blipFill rotWithShape="1">
              <a:blip r:embed="rId4">
                <a:alphaModFix amt="0"/>
              </a:blip>
              <a:stretch>
                <a:fillRect l="0" t="-39185" r="38007" b="-7266"/>
              </a:stretch>
            </a:blipFill>
          </p:spPr>
          <p:txBody>
            <a:bodyPr/>
            <a:lstStyle/>
            <a:p>
              <a:pPr>
                <a:defRPr/>
              </a:pPr>
              <a:endParaRPr lang="en-US"/>
            </a:p>
          </p:txBody>
        </p:sp>
        <p:sp>
          <p:nvSpPr>
            <p:cNvPr id="9" name="TextBox 9"/>
            <p:cNvSpPr txBox="1"/>
            <p:nvPr/>
          </p:nvSpPr>
          <p:spPr bwMode="auto">
            <a:xfrm>
              <a:off x="0" y="-9525"/>
              <a:ext cx="4243870" cy="709584"/>
            </a:xfrm>
            <a:prstGeom prst="rect">
              <a:avLst/>
            </a:prstGeom>
            <a:grpFill/>
          </p:spPr>
          <p:txBody>
            <a:bodyPr lIns="0" tIns="0" rIns="0" bIns="0" rtlCol="0" anchor="ctr"/>
            <a:lstStyle/>
            <a:p>
              <a:pPr algn="l">
                <a:lnSpc>
                  <a:spcPts val="2368"/>
                </a:lnSpc>
                <a:defRPr/>
              </a:pPr>
              <a:r>
                <a:rPr lang="en-US" sz="1950" b="1">
                  <a:solidFill>
                    <a:srgbClr val="003868"/>
                  </a:solidFill>
                  <a:latin typeface="Helvetica World Bold"/>
                  <a:ea typeface="Helvetica World Bold"/>
                  <a:cs typeface="Helvetica World Bold"/>
                </a:rPr>
                <a:t>Routing Rules</a:t>
              </a:r>
              <a:endParaRPr/>
            </a:p>
          </p:txBody>
        </p:sp>
      </p:grpSp>
      <p:grpSp>
        <p:nvGrpSpPr>
          <p:cNvPr id="523539259" name="Group 10"/>
          <p:cNvGrpSpPr/>
          <p:nvPr/>
        </p:nvGrpSpPr>
        <p:grpSpPr bwMode="auto">
          <a:xfrm>
            <a:off x="9611314" y="3305895"/>
            <a:ext cx="5426533" cy="4157367"/>
            <a:chOff x="0" y="0"/>
            <a:chExt cx="7187908" cy="5506788"/>
          </a:xfrm>
        </p:grpSpPr>
        <p:sp>
          <p:nvSpPr>
            <p:cNvPr id="11" name="Freeform 11"/>
            <p:cNvSpPr/>
            <p:nvPr/>
          </p:nvSpPr>
          <p:spPr bwMode="auto">
            <a:xfrm>
              <a:off x="26632" y="15857"/>
              <a:ext cx="7134745" cy="5475038"/>
            </a:xfrm>
            <a:custGeom>
              <a:avLst/>
              <a:gdLst/>
              <a:ahLst/>
              <a:cxnLst/>
              <a:rect l="l" t="t" r="r" b="b"/>
              <a:pathLst>
                <a:path w="7134746" h="5475038" fill="norm" stroke="1" extrusionOk="0">
                  <a:moveTo>
                    <a:pt x="0" y="146741"/>
                  </a:moveTo>
                  <a:cubicBezTo>
                    <a:pt x="0" y="65747"/>
                    <a:pt x="110216" y="0"/>
                    <a:pt x="246040" y="0"/>
                  </a:cubicBezTo>
                  <a:lnTo>
                    <a:pt x="6888706" y="0"/>
                  </a:lnTo>
                  <a:cubicBezTo>
                    <a:pt x="7024531" y="0"/>
                    <a:pt x="7134746" y="65747"/>
                    <a:pt x="7134746" y="146741"/>
                  </a:cubicBezTo>
                  <a:lnTo>
                    <a:pt x="7134746" y="5328297"/>
                  </a:lnTo>
                  <a:cubicBezTo>
                    <a:pt x="7134746" y="5409292"/>
                    <a:pt x="7024531" y="5475038"/>
                    <a:pt x="6888706" y="5475038"/>
                  </a:cubicBezTo>
                  <a:lnTo>
                    <a:pt x="246040" y="5475038"/>
                  </a:lnTo>
                  <a:cubicBezTo>
                    <a:pt x="110216" y="5475038"/>
                    <a:pt x="0" y="5409292"/>
                    <a:pt x="0" y="5328297"/>
                  </a:cubicBezTo>
                  <a:close/>
                </a:path>
              </a:pathLst>
            </a:custGeom>
            <a:blipFill rotWithShape="1">
              <a:blip r:embed="rId4"/>
              <a:stretch>
                <a:fillRect l="-72250" t="-289" r="-33958" b="-4430"/>
              </a:stretch>
            </a:blipFill>
          </p:spPr>
          <p:txBody>
            <a:bodyPr/>
            <a:lstStyle/>
            <a:p>
              <a:pPr>
                <a:defRPr/>
              </a:pPr>
              <a:endParaRPr lang="en-US"/>
            </a:p>
          </p:txBody>
        </p:sp>
        <p:sp>
          <p:nvSpPr>
            <p:cNvPr id="12" name="Freeform 12"/>
            <p:cNvSpPr/>
            <p:nvPr/>
          </p:nvSpPr>
          <p:spPr bwMode="auto">
            <a:xfrm>
              <a:off x="0" y="0"/>
              <a:ext cx="7187971" cy="5506753"/>
            </a:xfrm>
            <a:custGeom>
              <a:avLst/>
              <a:gdLst/>
              <a:ahLst/>
              <a:cxnLst/>
              <a:rect l="l" t="t" r="r" b="b"/>
              <a:pathLst>
                <a:path w="7187971" h="5506753" fill="norm" stroke="1" extrusionOk="0">
                  <a:moveTo>
                    <a:pt x="0" y="162598"/>
                  </a:moveTo>
                  <a:cubicBezTo>
                    <a:pt x="0" y="72822"/>
                    <a:pt x="122098" y="0"/>
                    <a:pt x="272672" y="0"/>
                  </a:cubicBezTo>
                  <a:lnTo>
                    <a:pt x="6915338" y="0"/>
                  </a:lnTo>
                  <a:lnTo>
                    <a:pt x="6915338" y="15857"/>
                  </a:lnTo>
                  <a:lnTo>
                    <a:pt x="6915338" y="0"/>
                  </a:lnTo>
                  <a:cubicBezTo>
                    <a:pt x="7065913" y="0"/>
                    <a:pt x="7187971" y="72822"/>
                    <a:pt x="7187971" y="162598"/>
                  </a:cubicBezTo>
                  <a:lnTo>
                    <a:pt x="7161378" y="162598"/>
                  </a:lnTo>
                  <a:lnTo>
                    <a:pt x="7187971" y="162598"/>
                  </a:lnTo>
                  <a:lnTo>
                    <a:pt x="7187971" y="5344154"/>
                  </a:lnTo>
                  <a:lnTo>
                    <a:pt x="7161378" y="5344154"/>
                  </a:lnTo>
                  <a:lnTo>
                    <a:pt x="7187971" y="5344154"/>
                  </a:lnTo>
                  <a:cubicBezTo>
                    <a:pt x="7187971" y="5433931"/>
                    <a:pt x="7065913" y="5506753"/>
                    <a:pt x="6915338" y="5506753"/>
                  </a:cubicBezTo>
                  <a:lnTo>
                    <a:pt x="6915338" y="5490895"/>
                  </a:lnTo>
                  <a:lnTo>
                    <a:pt x="6915338" y="5506753"/>
                  </a:lnTo>
                  <a:lnTo>
                    <a:pt x="272672" y="5506753"/>
                  </a:lnTo>
                  <a:lnTo>
                    <a:pt x="272672" y="5490895"/>
                  </a:lnTo>
                  <a:lnTo>
                    <a:pt x="272672" y="5506753"/>
                  </a:lnTo>
                  <a:cubicBezTo>
                    <a:pt x="122098" y="5506753"/>
                    <a:pt x="0" y="5433931"/>
                    <a:pt x="0" y="5344154"/>
                  </a:cubicBezTo>
                  <a:lnTo>
                    <a:pt x="0" y="162598"/>
                  </a:lnTo>
                  <a:lnTo>
                    <a:pt x="26632" y="162598"/>
                  </a:lnTo>
                  <a:lnTo>
                    <a:pt x="0" y="162598"/>
                  </a:lnTo>
                  <a:moveTo>
                    <a:pt x="53264" y="162598"/>
                  </a:moveTo>
                  <a:lnTo>
                    <a:pt x="53264" y="5344154"/>
                  </a:lnTo>
                  <a:lnTo>
                    <a:pt x="26632" y="5344154"/>
                  </a:lnTo>
                  <a:lnTo>
                    <a:pt x="53264" y="5344154"/>
                  </a:lnTo>
                  <a:cubicBezTo>
                    <a:pt x="53264" y="5416488"/>
                    <a:pt x="151598" y="5475038"/>
                    <a:pt x="272672" y="5475038"/>
                  </a:cubicBezTo>
                  <a:lnTo>
                    <a:pt x="6915338" y="5475038"/>
                  </a:lnTo>
                  <a:cubicBezTo>
                    <a:pt x="7036412" y="5475038"/>
                    <a:pt x="7134746" y="5416488"/>
                    <a:pt x="7134746" y="5344154"/>
                  </a:cubicBezTo>
                  <a:lnTo>
                    <a:pt x="7134746" y="162598"/>
                  </a:lnTo>
                  <a:cubicBezTo>
                    <a:pt x="7134746" y="90265"/>
                    <a:pt x="7036412" y="31715"/>
                    <a:pt x="6915338" y="31715"/>
                  </a:cubicBezTo>
                  <a:lnTo>
                    <a:pt x="272672" y="31715"/>
                  </a:lnTo>
                  <a:lnTo>
                    <a:pt x="272672" y="15857"/>
                  </a:lnTo>
                  <a:lnTo>
                    <a:pt x="272672" y="31715"/>
                  </a:lnTo>
                  <a:cubicBezTo>
                    <a:pt x="151598" y="31715"/>
                    <a:pt x="53264" y="90265"/>
                    <a:pt x="53264" y="162598"/>
                  </a:cubicBezTo>
                  <a:close/>
                </a:path>
              </a:pathLst>
            </a:custGeom>
            <a:solidFill>
              <a:srgbClr val="BDBDBD"/>
            </a:solidFill>
          </p:spPr>
          <p:txBody>
            <a:bodyPr/>
            <a:lstStyle/>
            <a:p>
              <a:pPr>
                <a:defRPr/>
              </a:pPr>
              <a:endParaRPr lang="en-US"/>
            </a:p>
          </p:txBody>
        </p:sp>
      </p:grpSp>
      <p:grpSp>
        <p:nvGrpSpPr>
          <p:cNvPr id="268715394" name="Group 13"/>
          <p:cNvGrpSpPr/>
          <p:nvPr/>
        </p:nvGrpSpPr>
        <p:grpSpPr bwMode="auto">
          <a:xfrm>
            <a:off x="1051762" y="7843771"/>
            <a:ext cx="6293530" cy="1871215"/>
            <a:chOff x="0" y="0"/>
            <a:chExt cx="8391373" cy="2494953"/>
          </a:xfrm>
        </p:grpSpPr>
        <p:sp>
          <p:nvSpPr>
            <p:cNvPr id="14" name="Freeform 14"/>
            <p:cNvSpPr/>
            <p:nvPr/>
          </p:nvSpPr>
          <p:spPr bwMode="auto">
            <a:xfrm>
              <a:off x="13316" y="8255"/>
              <a:ext cx="8364741" cy="2478405"/>
            </a:xfrm>
            <a:custGeom>
              <a:avLst/>
              <a:gdLst/>
              <a:ahLst/>
              <a:cxnLst/>
              <a:rect l="l" t="t" r="r" b="b"/>
              <a:pathLst>
                <a:path w="8364741" h="2478405" fill="norm" stroke="1" extrusionOk="0">
                  <a:moveTo>
                    <a:pt x="0" y="0"/>
                  </a:moveTo>
                  <a:lnTo>
                    <a:pt x="8364741" y="0"/>
                  </a:lnTo>
                  <a:lnTo>
                    <a:pt x="8364741" y="2478405"/>
                  </a:lnTo>
                  <a:lnTo>
                    <a:pt x="0" y="2478405"/>
                  </a:lnTo>
                  <a:close/>
                </a:path>
              </a:pathLst>
            </a:custGeom>
            <a:solidFill>
              <a:srgbClr val="FAFAFA"/>
            </a:solidFill>
          </p:spPr>
          <p:txBody>
            <a:bodyPr/>
            <a:lstStyle/>
            <a:p>
              <a:pPr>
                <a:defRPr/>
              </a:pPr>
              <a:endParaRPr lang="en-US"/>
            </a:p>
          </p:txBody>
        </p:sp>
        <p:sp>
          <p:nvSpPr>
            <p:cNvPr id="15" name="Freeform 15"/>
            <p:cNvSpPr/>
            <p:nvPr/>
          </p:nvSpPr>
          <p:spPr bwMode="auto">
            <a:xfrm>
              <a:off x="0" y="0"/>
              <a:ext cx="8391372" cy="2494915"/>
            </a:xfrm>
            <a:custGeom>
              <a:avLst/>
              <a:gdLst/>
              <a:ahLst/>
              <a:cxnLst/>
              <a:rect l="l" t="t" r="r" b="b"/>
              <a:pathLst>
                <a:path w="8391372" h="2494915" fill="norm" stroke="1" extrusionOk="0">
                  <a:moveTo>
                    <a:pt x="13316" y="0"/>
                  </a:moveTo>
                  <a:lnTo>
                    <a:pt x="8378057" y="0"/>
                  </a:lnTo>
                  <a:cubicBezTo>
                    <a:pt x="8385432" y="0"/>
                    <a:pt x="8391372" y="3683"/>
                    <a:pt x="8391372" y="8255"/>
                  </a:cubicBezTo>
                  <a:lnTo>
                    <a:pt x="8391372" y="2486660"/>
                  </a:lnTo>
                  <a:cubicBezTo>
                    <a:pt x="8391372" y="2491232"/>
                    <a:pt x="8385432" y="2494915"/>
                    <a:pt x="8378057" y="2494915"/>
                  </a:cubicBezTo>
                  <a:lnTo>
                    <a:pt x="13316" y="2494915"/>
                  </a:lnTo>
                  <a:cubicBezTo>
                    <a:pt x="5941" y="2494915"/>
                    <a:pt x="0" y="2491232"/>
                    <a:pt x="0" y="2486660"/>
                  </a:cubicBezTo>
                  <a:lnTo>
                    <a:pt x="0" y="8255"/>
                  </a:lnTo>
                  <a:cubicBezTo>
                    <a:pt x="0" y="3683"/>
                    <a:pt x="5941" y="0"/>
                    <a:pt x="13316" y="0"/>
                  </a:cubicBezTo>
                  <a:moveTo>
                    <a:pt x="13316" y="16510"/>
                  </a:moveTo>
                  <a:lnTo>
                    <a:pt x="13316" y="8255"/>
                  </a:lnTo>
                  <a:lnTo>
                    <a:pt x="26632" y="8255"/>
                  </a:lnTo>
                  <a:lnTo>
                    <a:pt x="26632" y="2486660"/>
                  </a:lnTo>
                  <a:lnTo>
                    <a:pt x="13316" y="2486660"/>
                  </a:lnTo>
                  <a:lnTo>
                    <a:pt x="13316" y="2478405"/>
                  </a:lnTo>
                  <a:lnTo>
                    <a:pt x="8378057" y="2478405"/>
                  </a:lnTo>
                  <a:lnTo>
                    <a:pt x="8378057" y="2486660"/>
                  </a:lnTo>
                  <a:lnTo>
                    <a:pt x="8364741" y="2486660"/>
                  </a:lnTo>
                  <a:lnTo>
                    <a:pt x="8364741" y="8255"/>
                  </a:lnTo>
                  <a:lnTo>
                    <a:pt x="8378057" y="8255"/>
                  </a:lnTo>
                  <a:lnTo>
                    <a:pt x="8378057" y="16510"/>
                  </a:lnTo>
                  <a:lnTo>
                    <a:pt x="13316" y="16510"/>
                  </a:lnTo>
                  <a:close/>
                </a:path>
              </a:pathLst>
            </a:custGeom>
            <a:solidFill>
              <a:srgbClr val="E1DFDD"/>
            </a:solidFill>
          </p:spPr>
          <p:txBody>
            <a:bodyPr/>
            <a:lstStyle/>
            <a:p>
              <a:pPr>
                <a:defRPr/>
              </a:pPr>
              <a:endParaRPr lang="en-US"/>
            </a:p>
          </p:txBody>
        </p:sp>
      </p:grpSp>
      <p:grpSp>
        <p:nvGrpSpPr>
          <p:cNvPr id="1557984159" name="Group 16"/>
          <p:cNvGrpSpPr/>
          <p:nvPr/>
        </p:nvGrpSpPr>
        <p:grpSpPr bwMode="auto">
          <a:xfrm>
            <a:off x="1753690" y="8120362"/>
            <a:ext cx="5350952" cy="401194"/>
            <a:chOff x="0" y="0"/>
            <a:chExt cx="7134603" cy="534925"/>
          </a:xfrm>
        </p:grpSpPr>
        <p:sp>
          <p:nvSpPr>
            <p:cNvPr id="17" name="Freeform 17"/>
            <p:cNvSpPr/>
            <p:nvPr/>
          </p:nvSpPr>
          <p:spPr bwMode="auto">
            <a:xfrm>
              <a:off x="0" y="0"/>
              <a:ext cx="7134606" cy="534919"/>
            </a:xfrm>
            <a:custGeom>
              <a:avLst/>
              <a:gdLst/>
              <a:ahLst/>
              <a:cxnLst/>
              <a:rect l="l" t="t" r="r" b="b"/>
              <a:pathLst>
                <a:path w="7134606" h="534919" fill="norm" stroke="1" extrusionOk="0">
                  <a:moveTo>
                    <a:pt x="0" y="0"/>
                  </a:moveTo>
                  <a:lnTo>
                    <a:pt x="7134606" y="0"/>
                  </a:lnTo>
                  <a:lnTo>
                    <a:pt x="7134606" y="534919"/>
                  </a:lnTo>
                  <a:lnTo>
                    <a:pt x="0" y="534919"/>
                  </a:lnTo>
                  <a:close/>
                </a:path>
              </a:pathLst>
            </a:custGeom>
            <a:blipFill rotWithShape="1">
              <a:blip r:embed="rId4">
                <a:alphaModFix amt="0"/>
              </a:blip>
              <a:stretch>
                <a:fillRect l="0" t="-123687" r="38007" b="-98533"/>
              </a:stretch>
            </a:blipFill>
          </p:spPr>
          <p:txBody>
            <a:bodyPr/>
            <a:lstStyle/>
            <a:p>
              <a:pPr>
                <a:defRPr/>
              </a:pPr>
              <a:endParaRPr lang="en-US"/>
            </a:p>
          </p:txBody>
        </p:sp>
        <p:sp>
          <p:nvSpPr>
            <p:cNvPr id="18" name="TextBox 18"/>
            <p:cNvSpPr txBox="1"/>
            <p:nvPr/>
          </p:nvSpPr>
          <p:spPr bwMode="auto">
            <a:xfrm>
              <a:off x="0" y="0"/>
              <a:ext cx="7134603" cy="534925"/>
            </a:xfrm>
            <a:prstGeom prst="rect">
              <a:avLst/>
            </a:prstGeom>
            <a:grpFill/>
          </p:spPr>
          <p:txBody>
            <a:bodyPr lIns="0" tIns="0" rIns="0" bIns="0" rtlCol="0" anchor="ctr"/>
            <a:lstStyle/>
            <a:p>
              <a:pPr algn="l">
                <a:lnSpc>
                  <a:spcPts val="1938"/>
                </a:lnSpc>
                <a:defRPr/>
              </a:pPr>
              <a:r>
                <a:rPr lang="en-US" sz="1600">
                  <a:solidFill>
                    <a:srgbClr val="323130"/>
                  </a:solidFill>
                  <a:latin typeface="Helvetica World"/>
                  <a:ea typeface="Helvetica World"/>
                  <a:cs typeface="Helvetica World"/>
                </a:rPr>
                <a:t> </a:t>
              </a:r>
              <a:r>
                <a:rPr lang="en-US" sz="1600">
                  <a:solidFill>
                    <a:srgbClr val="000000"/>
                  </a:solidFill>
                  <a:latin typeface="Helvetica World"/>
                  <a:ea typeface="Helvetica World"/>
                  <a:cs typeface="Helvetica World"/>
                </a:rPr>
                <a:t>  </a:t>
              </a:r>
              <a:r>
                <a:rPr lang="en-US" sz="1600">
                  <a:solidFill>
                    <a:srgbClr val="323130"/>
                  </a:solidFill>
                  <a:latin typeface="Helvetica World"/>
                  <a:ea typeface="Helvetica World"/>
                  <a:cs typeface="Helvetica World"/>
                </a:rPr>
                <a:t> Single public entry point </a:t>
              </a:r>
              <a:endParaRPr/>
            </a:p>
          </p:txBody>
        </p:sp>
      </p:grpSp>
      <p:grpSp>
        <p:nvGrpSpPr>
          <p:cNvPr id="342262632" name="Group 19"/>
          <p:cNvGrpSpPr/>
          <p:nvPr/>
        </p:nvGrpSpPr>
        <p:grpSpPr bwMode="auto">
          <a:xfrm>
            <a:off x="1523043" y="8171269"/>
            <a:ext cx="461293" cy="243916"/>
            <a:chOff x="0" y="0"/>
            <a:chExt cx="615059" cy="325222"/>
          </a:xfrm>
        </p:grpSpPr>
        <p:sp>
          <p:nvSpPr>
            <p:cNvPr id="20" name="Freeform 20" descr="image.png"/>
            <p:cNvSpPr/>
            <p:nvPr/>
          </p:nvSpPr>
          <p:spPr bwMode="auto">
            <a:xfrm>
              <a:off x="0" y="0"/>
              <a:ext cx="614997" cy="325247"/>
            </a:xfrm>
            <a:custGeom>
              <a:avLst/>
              <a:gdLst/>
              <a:ahLst/>
              <a:cxnLst/>
              <a:rect l="l" t="t" r="r" b="b"/>
              <a:pathLst>
                <a:path w="614997" h="325247" fill="norm" stroke="1" extrusionOk="0">
                  <a:moveTo>
                    <a:pt x="0" y="0"/>
                  </a:moveTo>
                  <a:lnTo>
                    <a:pt x="614997" y="0"/>
                  </a:lnTo>
                  <a:lnTo>
                    <a:pt x="614997" y="325247"/>
                  </a:lnTo>
                  <a:lnTo>
                    <a:pt x="0" y="325247"/>
                  </a:lnTo>
                  <a:lnTo>
                    <a:pt x="0" y="0"/>
                  </a:lnTo>
                  <a:close/>
                </a:path>
              </a:pathLst>
            </a:custGeom>
            <a:blipFill rotWithShape="1">
              <a:blip r:embed="rId5"/>
              <a:stretch>
                <a:fillRect l="0" t="-30652" r="-7" b="-30639"/>
              </a:stretch>
            </a:blipFill>
          </p:spPr>
          <p:txBody>
            <a:bodyPr/>
            <a:lstStyle/>
            <a:p>
              <a:pPr>
                <a:defRPr/>
              </a:pPr>
              <a:endParaRPr lang="en-US"/>
            </a:p>
          </p:txBody>
        </p:sp>
      </p:grpSp>
      <p:grpSp>
        <p:nvGrpSpPr>
          <p:cNvPr id="220532482" name="Group 21"/>
          <p:cNvGrpSpPr/>
          <p:nvPr/>
        </p:nvGrpSpPr>
        <p:grpSpPr bwMode="auto">
          <a:xfrm>
            <a:off x="1523043" y="8674246"/>
            <a:ext cx="461293" cy="210274"/>
            <a:chOff x="0" y="0"/>
            <a:chExt cx="615059" cy="280365"/>
          </a:xfrm>
        </p:grpSpPr>
        <p:sp>
          <p:nvSpPr>
            <p:cNvPr id="22" name="Freeform 22" descr="image.png"/>
            <p:cNvSpPr/>
            <p:nvPr/>
          </p:nvSpPr>
          <p:spPr bwMode="auto">
            <a:xfrm>
              <a:off x="0" y="0"/>
              <a:ext cx="614997" cy="280416"/>
            </a:xfrm>
            <a:custGeom>
              <a:avLst/>
              <a:gdLst/>
              <a:ahLst/>
              <a:cxnLst/>
              <a:rect l="l" t="t" r="r" b="b"/>
              <a:pathLst>
                <a:path w="614997" h="280416" fill="norm" stroke="1" extrusionOk="0">
                  <a:moveTo>
                    <a:pt x="0" y="0"/>
                  </a:moveTo>
                  <a:lnTo>
                    <a:pt x="614997" y="0"/>
                  </a:lnTo>
                  <a:lnTo>
                    <a:pt x="614997" y="280416"/>
                  </a:lnTo>
                  <a:lnTo>
                    <a:pt x="0" y="280416"/>
                  </a:lnTo>
                  <a:lnTo>
                    <a:pt x="0" y="0"/>
                  </a:lnTo>
                  <a:close/>
                </a:path>
              </a:pathLst>
            </a:custGeom>
            <a:blipFill rotWithShape="1">
              <a:blip r:embed="rId6"/>
              <a:stretch>
                <a:fillRect l="0" t="-30652" r="-7" b="-30622"/>
              </a:stretch>
            </a:blipFill>
          </p:spPr>
          <p:txBody>
            <a:bodyPr/>
            <a:lstStyle/>
            <a:p>
              <a:pPr>
                <a:defRPr/>
              </a:pPr>
              <a:endParaRPr lang="en-US"/>
            </a:p>
          </p:txBody>
        </p:sp>
      </p:grpSp>
      <p:grpSp>
        <p:nvGrpSpPr>
          <p:cNvPr id="1946769388" name="Group 23"/>
          <p:cNvGrpSpPr/>
          <p:nvPr/>
        </p:nvGrpSpPr>
        <p:grpSpPr bwMode="auto">
          <a:xfrm>
            <a:off x="2214977" y="8622097"/>
            <a:ext cx="507418" cy="314573"/>
            <a:chOff x="0" y="0"/>
            <a:chExt cx="676558" cy="419430"/>
          </a:xfrm>
        </p:grpSpPr>
        <p:sp>
          <p:nvSpPr>
            <p:cNvPr id="24" name="Freeform 24"/>
            <p:cNvSpPr/>
            <p:nvPr/>
          </p:nvSpPr>
          <p:spPr bwMode="auto">
            <a:xfrm>
              <a:off x="0" y="0"/>
              <a:ext cx="676622" cy="419481"/>
            </a:xfrm>
            <a:custGeom>
              <a:avLst/>
              <a:gdLst/>
              <a:ahLst/>
              <a:cxnLst/>
              <a:rect l="l" t="t" r="r" b="b"/>
              <a:pathLst>
                <a:path w="676622" h="419481" fill="norm" stroke="1" extrusionOk="0">
                  <a:moveTo>
                    <a:pt x="0" y="152527"/>
                  </a:moveTo>
                  <a:cubicBezTo>
                    <a:pt x="0" y="68326"/>
                    <a:pt x="110216" y="0"/>
                    <a:pt x="246040" y="0"/>
                  </a:cubicBezTo>
                  <a:lnTo>
                    <a:pt x="430621" y="0"/>
                  </a:lnTo>
                  <a:cubicBezTo>
                    <a:pt x="566445" y="0"/>
                    <a:pt x="676622" y="68326"/>
                    <a:pt x="676622" y="152527"/>
                  </a:cubicBezTo>
                  <a:lnTo>
                    <a:pt x="676622" y="266954"/>
                  </a:lnTo>
                  <a:cubicBezTo>
                    <a:pt x="676622" y="351155"/>
                    <a:pt x="566445" y="419481"/>
                    <a:pt x="430621" y="419481"/>
                  </a:cubicBezTo>
                  <a:lnTo>
                    <a:pt x="246040" y="419481"/>
                  </a:lnTo>
                  <a:cubicBezTo>
                    <a:pt x="110216" y="419481"/>
                    <a:pt x="0" y="351155"/>
                    <a:pt x="0" y="266954"/>
                  </a:cubicBezTo>
                  <a:close/>
                </a:path>
              </a:pathLst>
            </a:custGeom>
            <a:solidFill>
              <a:srgbClr val="E1DFDD"/>
            </a:solidFill>
          </p:spPr>
          <p:txBody>
            <a:bodyPr/>
            <a:lstStyle/>
            <a:p>
              <a:pPr>
                <a:defRPr/>
              </a:pPr>
              <a:endParaRPr lang="en-US"/>
            </a:p>
          </p:txBody>
        </p:sp>
      </p:grpSp>
      <p:grpSp>
        <p:nvGrpSpPr>
          <p:cNvPr id="2020919361" name="Group 25"/>
          <p:cNvGrpSpPr/>
          <p:nvPr/>
        </p:nvGrpSpPr>
        <p:grpSpPr bwMode="auto">
          <a:xfrm>
            <a:off x="1523043" y="9160402"/>
            <a:ext cx="461293" cy="210274"/>
            <a:chOff x="0" y="0"/>
            <a:chExt cx="615059" cy="280365"/>
          </a:xfrm>
        </p:grpSpPr>
        <p:sp>
          <p:nvSpPr>
            <p:cNvPr id="26" name="Freeform 26" descr="image.png"/>
            <p:cNvSpPr/>
            <p:nvPr/>
          </p:nvSpPr>
          <p:spPr bwMode="auto">
            <a:xfrm>
              <a:off x="0" y="0"/>
              <a:ext cx="614997" cy="280416"/>
            </a:xfrm>
            <a:custGeom>
              <a:avLst/>
              <a:gdLst/>
              <a:ahLst/>
              <a:cxnLst/>
              <a:rect l="l" t="t" r="r" b="b"/>
              <a:pathLst>
                <a:path w="614997" h="280416" fill="norm" stroke="1" extrusionOk="0">
                  <a:moveTo>
                    <a:pt x="0" y="0"/>
                  </a:moveTo>
                  <a:lnTo>
                    <a:pt x="614997" y="0"/>
                  </a:lnTo>
                  <a:lnTo>
                    <a:pt x="614997" y="280416"/>
                  </a:lnTo>
                  <a:lnTo>
                    <a:pt x="0" y="280416"/>
                  </a:lnTo>
                  <a:lnTo>
                    <a:pt x="0" y="0"/>
                  </a:lnTo>
                  <a:close/>
                </a:path>
              </a:pathLst>
            </a:custGeom>
            <a:blipFill rotWithShape="1">
              <a:blip r:embed="rId6"/>
              <a:stretch>
                <a:fillRect l="0" t="-30652" r="-7" b="-30622"/>
              </a:stretch>
            </a:blipFill>
          </p:spPr>
          <p:txBody>
            <a:bodyPr/>
            <a:lstStyle/>
            <a:p>
              <a:pPr>
                <a:defRPr/>
              </a:pPr>
              <a:endParaRPr lang="en-US"/>
            </a:p>
          </p:txBody>
        </p:sp>
      </p:grpSp>
      <p:grpSp>
        <p:nvGrpSpPr>
          <p:cNvPr id="1555280846" name="Group 27"/>
          <p:cNvGrpSpPr/>
          <p:nvPr/>
        </p:nvGrpSpPr>
        <p:grpSpPr bwMode="auto">
          <a:xfrm>
            <a:off x="2214977" y="9108253"/>
            <a:ext cx="1614506" cy="314573"/>
            <a:chOff x="0" y="0"/>
            <a:chExt cx="2152675" cy="419430"/>
          </a:xfrm>
        </p:grpSpPr>
        <p:sp>
          <p:nvSpPr>
            <p:cNvPr id="28" name="Freeform 28"/>
            <p:cNvSpPr/>
            <p:nvPr/>
          </p:nvSpPr>
          <p:spPr bwMode="auto">
            <a:xfrm>
              <a:off x="0" y="0"/>
              <a:ext cx="2152687" cy="419481"/>
            </a:xfrm>
            <a:custGeom>
              <a:avLst/>
              <a:gdLst/>
              <a:ahLst/>
              <a:cxnLst/>
              <a:rect l="l" t="t" r="r" b="b"/>
              <a:pathLst>
                <a:path w="2152687" h="419481" fill="norm" stroke="1" extrusionOk="0">
                  <a:moveTo>
                    <a:pt x="0" y="152527"/>
                  </a:moveTo>
                  <a:cubicBezTo>
                    <a:pt x="0" y="68326"/>
                    <a:pt x="110216" y="0"/>
                    <a:pt x="246040" y="0"/>
                  </a:cubicBezTo>
                  <a:lnTo>
                    <a:pt x="1906655" y="0"/>
                  </a:lnTo>
                  <a:cubicBezTo>
                    <a:pt x="2042479" y="0"/>
                    <a:pt x="2152687" y="68326"/>
                    <a:pt x="2152687" y="152527"/>
                  </a:cubicBezTo>
                  <a:lnTo>
                    <a:pt x="2152687" y="266954"/>
                  </a:lnTo>
                  <a:cubicBezTo>
                    <a:pt x="2152687" y="351155"/>
                    <a:pt x="2042479" y="419481"/>
                    <a:pt x="1906655" y="419481"/>
                  </a:cubicBezTo>
                  <a:lnTo>
                    <a:pt x="246040" y="419481"/>
                  </a:lnTo>
                  <a:cubicBezTo>
                    <a:pt x="110216" y="419481"/>
                    <a:pt x="0" y="351155"/>
                    <a:pt x="0" y="266954"/>
                  </a:cubicBezTo>
                  <a:close/>
                </a:path>
              </a:pathLst>
            </a:custGeom>
            <a:solidFill>
              <a:srgbClr val="E1DFDD"/>
            </a:solidFill>
          </p:spPr>
          <p:txBody>
            <a:bodyPr/>
            <a:lstStyle/>
            <a:p>
              <a:pPr>
                <a:defRPr/>
              </a:pPr>
              <a:endParaRPr lang="en-US"/>
            </a:p>
          </p:txBody>
        </p:sp>
      </p:grpSp>
      <p:grpSp>
        <p:nvGrpSpPr>
          <p:cNvPr id="1008960002" name="Group 29"/>
          <p:cNvGrpSpPr/>
          <p:nvPr/>
        </p:nvGrpSpPr>
        <p:grpSpPr bwMode="auto">
          <a:xfrm>
            <a:off x="9304857" y="1995621"/>
            <a:ext cx="6884433" cy="7733671"/>
            <a:chOff x="0" y="0"/>
            <a:chExt cx="9179244" cy="10311562"/>
          </a:xfrm>
        </p:grpSpPr>
        <p:sp>
          <p:nvSpPr>
            <p:cNvPr id="30" name="Freeform 30"/>
            <p:cNvSpPr/>
            <p:nvPr/>
          </p:nvSpPr>
          <p:spPr bwMode="auto">
            <a:xfrm>
              <a:off x="14460" y="8255"/>
              <a:ext cx="9150501" cy="10295000"/>
            </a:xfrm>
            <a:custGeom>
              <a:avLst/>
              <a:gdLst/>
              <a:ahLst/>
              <a:cxnLst/>
              <a:rect l="l" t="t" r="r" b="b"/>
              <a:pathLst>
                <a:path w="9150501" h="10295001" fill="norm" stroke="1" extrusionOk="0">
                  <a:moveTo>
                    <a:pt x="0" y="305435"/>
                  </a:moveTo>
                  <a:cubicBezTo>
                    <a:pt x="0" y="136779"/>
                    <a:pt x="239152" y="0"/>
                    <a:pt x="534365" y="0"/>
                  </a:cubicBezTo>
                  <a:lnTo>
                    <a:pt x="8616136" y="0"/>
                  </a:lnTo>
                  <a:cubicBezTo>
                    <a:pt x="8911128" y="0"/>
                    <a:pt x="9150502" y="136779"/>
                    <a:pt x="9150502" y="305435"/>
                  </a:cubicBezTo>
                  <a:lnTo>
                    <a:pt x="9150502" y="9989566"/>
                  </a:lnTo>
                  <a:cubicBezTo>
                    <a:pt x="9150502" y="10158222"/>
                    <a:pt x="8911349" y="10295001"/>
                    <a:pt x="8616136" y="10295001"/>
                  </a:cubicBezTo>
                  <a:lnTo>
                    <a:pt x="534365" y="10295001"/>
                  </a:lnTo>
                  <a:cubicBezTo>
                    <a:pt x="239152" y="10295001"/>
                    <a:pt x="0" y="10158222"/>
                    <a:pt x="0" y="9989566"/>
                  </a:cubicBezTo>
                  <a:close/>
                </a:path>
              </a:pathLst>
            </a:custGeom>
            <a:solidFill>
              <a:srgbClr val="FFFFFF"/>
            </a:solidFill>
          </p:spPr>
          <p:txBody>
            <a:bodyPr/>
            <a:lstStyle/>
            <a:p>
              <a:pPr>
                <a:defRPr/>
              </a:pPr>
              <a:endParaRPr lang="en-US"/>
            </a:p>
          </p:txBody>
        </p:sp>
        <p:sp>
          <p:nvSpPr>
            <p:cNvPr id="31" name="Freeform 31"/>
            <p:cNvSpPr/>
            <p:nvPr/>
          </p:nvSpPr>
          <p:spPr bwMode="auto">
            <a:xfrm>
              <a:off x="0" y="0"/>
              <a:ext cx="9179346" cy="10311510"/>
            </a:xfrm>
            <a:custGeom>
              <a:avLst/>
              <a:gdLst/>
              <a:ahLst/>
              <a:cxnLst/>
              <a:rect l="l" t="t" r="r" b="b"/>
              <a:pathLst>
                <a:path w="9179346" h="10311511" fill="norm" stroke="1" extrusionOk="0">
                  <a:moveTo>
                    <a:pt x="0" y="313690"/>
                  </a:moveTo>
                  <a:cubicBezTo>
                    <a:pt x="0" y="140462"/>
                    <a:pt x="245603" y="0"/>
                    <a:pt x="548825" y="0"/>
                  </a:cubicBezTo>
                  <a:lnTo>
                    <a:pt x="8630596" y="0"/>
                  </a:lnTo>
                  <a:lnTo>
                    <a:pt x="8630596" y="8255"/>
                  </a:lnTo>
                  <a:lnTo>
                    <a:pt x="8630596" y="0"/>
                  </a:lnTo>
                  <a:cubicBezTo>
                    <a:pt x="8933596" y="0"/>
                    <a:pt x="9179346" y="140462"/>
                    <a:pt x="9179346" y="313690"/>
                  </a:cubicBezTo>
                  <a:lnTo>
                    <a:pt x="9164962" y="313690"/>
                  </a:lnTo>
                  <a:lnTo>
                    <a:pt x="9179346" y="313690"/>
                  </a:lnTo>
                  <a:lnTo>
                    <a:pt x="9179346" y="9997821"/>
                  </a:lnTo>
                  <a:lnTo>
                    <a:pt x="9164962" y="9997821"/>
                  </a:lnTo>
                  <a:lnTo>
                    <a:pt x="9179346" y="9997821"/>
                  </a:lnTo>
                  <a:cubicBezTo>
                    <a:pt x="9179346" y="10171049"/>
                    <a:pt x="8933819" y="10311511"/>
                    <a:pt x="8630596" y="10311511"/>
                  </a:cubicBezTo>
                  <a:lnTo>
                    <a:pt x="8630596" y="10303256"/>
                  </a:lnTo>
                  <a:lnTo>
                    <a:pt x="8630596" y="10311511"/>
                  </a:lnTo>
                  <a:lnTo>
                    <a:pt x="548825" y="10311511"/>
                  </a:lnTo>
                  <a:lnTo>
                    <a:pt x="548825" y="10303256"/>
                  </a:lnTo>
                  <a:lnTo>
                    <a:pt x="548825" y="10311511"/>
                  </a:lnTo>
                  <a:cubicBezTo>
                    <a:pt x="245603" y="10311511"/>
                    <a:pt x="0" y="10171049"/>
                    <a:pt x="0" y="9997821"/>
                  </a:cubicBezTo>
                  <a:lnTo>
                    <a:pt x="0" y="313690"/>
                  </a:lnTo>
                  <a:lnTo>
                    <a:pt x="14460" y="313690"/>
                  </a:lnTo>
                  <a:lnTo>
                    <a:pt x="0" y="313690"/>
                  </a:lnTo>
                  <a:moveTo>
                    <a:pt x="28921" y="313690"/>
                  </a:moveTo>
                  <a:lnTo>
                    <a:pt x="28921" y="9997821"/>
                  </a:lnTo>
                  <a:lnTo>
                    <a:pt x="14460" y="9997821"/>
                  </a:lnTo>
                  <a:lnTo>
                    <a:pt x="28921" y="9997821"/>
                  </a:lnTo>
                  <a:cubicBezTo>
                    <a:pt x="28921" y="10162032"/>
                    <a:pt x="261621" y="10295001"/>
                    <a:pt x="548825" y="10295001"/>
                  </a:cubicBezTo>
                  <a:lnTo>
                    <a:pt x="8630596" y="10295001"/>
                  </a:lnTo>
                  <a:cubicBezTo>
                    <a:pt x="8917578" y="10295001"/>
                    <a:pt x="9150501" y="10161905"/>
                    <a:pt x="9150501" y="9997821"/>
                  </a:cubicBezTo>
                  <a:lnTo>
                    <a:pt x="9150501" y="313690"/>
                  </a:lnTo>
                  <a:cubicBezTo>
                    <a:pt x="9150501" y="149479"/>
                    <a:pt x="8917801" y="16510"/>
                    <a:pt x="8630596" y="16510"/>
                  </a:cubicBezTo>
                  <a:lnTo>
                    <a:pt x="548825" y="16510"/>
                  </a:lnTo>
                  <a:lnTo>
                    <a:pt x="548825" y="8255"/>
                  </a:lnTo>
                  <a:lnTo>
                    <a:pt x="548825" y="16510"/>
                  </a:lnTo>
                  <a:cubicBezTo>
                    <a:pt x="261621" y="16510"/>
                    <a:pt x="28921" y="149606"/>
                    <a:pt x="28921" y="313690"/>
                  </a:cubicBezTo>
                  <a:close/>
                </a:path>
              </a:pathLst>
            </a:custGeom>
            <a:solidFill>
              <a:srgbClr val="E1DFDD"/>
            </a:solidFill>
          </p:spPr>
          <p:txBody>
            <a:bodyPr/>
            <a:lstStyle/>
            <a:p>
              <a:pPr>
                <a:defRPr/>
              </a:pPr>
              <a:endParaRPr lang="en-US"/>
            </a:p>
          </p:txBody>
        </p:sp>
      </p:grpSp>
      <p:grpSp>
        <p:nvGrpSpPr>
          <p:cNvPr id="899355807" name="Group 32"/>
          <p:cNvGrpSpPr/>
          <p:nvPr/>
        </p:nvGrpSpPr>
        <p:grpSpPr bwMode="auto">
          <a:xfrm>
            <a:off x="9611314" y="2323843"/>
            <a:ext cx="400355" cy="356844"/>
            <a:chOff x="0" y="0"/>
            <a:chExt cx="533806" cy="475793"/>
          </a:xfrm>
        </p:grpSpPr>
        <p:sp>
          <p:nvSpPr>
            <p:cNvPr id="33" name="Freeform 33" descr="image.png"/>
            <p:cNvSpPr/>
            <p:nvPr/>
          </p:nvSpPr>
          <p:spPr bwMode="auto">
            <a:xfrm>
              <a:off x="0" y="0"/>
              <a:ext cx="533781" cy="475742"/>
            </a:xfrm>
            <a:custGeom>
              <a:avLst/>
              <a:gdLst/>
              <a:ahLst/>
              <a:cxnLst/>
              <a:rect l="l" t="t" r="r" b="b"/>
              <a:pathLst>
                <a:path w="533781" h="475742" fill="norm" stroke="1" extrusionOk="0">
                  <a:moveTo>
                    <a:pt x="0" y="0"/>
                  </a:moveTo>
                  <a:lnTo>
                    <a:pt x="533781" y="0"/>
                  </a:lnTo>
                  <a:lnTo>
                    <a:pt x="533781" y="475742"/>
                  </a:lnTo>
                  <a:lnTo>
                    <a:pt x="0" y="475742"/>
                  </a:lnTo>
                  <a:lnTo>
                    <a:pt x="0" y="0"/>
                  </a:lnTo>
                  <a:close/>
                </a:path>
              </a:pathLst>
            </a:custGeom>
            <a:blipFill rotWithShape="1">
              <a:blip r:embed="rId7"/>
              <a:stretch>
                <a:fillRect l="-1" t="0" r="-6" b="-10"/>
              </a:stretch>
            </a:blipFill>
          </p:spPr>
          <p:txBody>
            <a:bodyPr/>
            <a:lstStyle/>
            <a:p>
              <a:pPr>
                <a:defRPr/>
              </a:pPr>
              <a:endParaRPr lang="en-US"/>
            </a:p>
          </p:txBody>
        </p:sp>
      </p:grpSp>
      <p:grpSp>
        <p:nvGrpSpPr>
          <p:cNvPr id="187723987" name="Group 34"/>
          <p:cNvGrpSpPr/>
          <p:nvPr/>
        </p:nvGrpSpPr>
        <p:grpSpPr bwMode="auto">
          <a:xfrm>
            <a:off x="10154659" y="2316385"/>
            <a:ext cx="2894363" cy="525045"/>
            <a:chOff x="0" y="0"/>
            <a:chExt cx="3374403" cy="612125"/>
          </a:xfrm>
        </p:grpSpPr>
        <p:sp>
          <p:nvSpPr>
            <p:cNvPr id="35" name="Freeform 35"/>
            <p:cNvSpPr/>
            <p:nvPr/>
          </p:nvSpPr>
          <p:spPr bwMode="auto">
            <a:xfrm>
              <a:off x="0" y="0"/>
              <a:ext cx="3374400" cy="612127"/>
            </a:xfrm>
            <a:custGeom>
              <a:avLst/>
              <a:gdLst/>
              <a:ahLst/>
              <a:cxnLst/>
              <a:rect l="l" t="t" r="r" b="b"/>
              <a:pathLst>
                <a:path w="3374400" h="612127" fill="norm" stroke="1" extrusionOk="0">
                  <a:moveTo>
                    <a:pt x="0" y="0"/>
                  </a:moveTo>
                  <a:lnTo>
                    <a:pt x="3374400" y="0"/>
                  </a:lnTo>
                  <a:lnTo>
                    <a:pt x="3374400" y="612127"/>
                  </a:lnTo>
                  <a:lnTo>
                    <a:pt x="0" y="612127"/>
                  </a:lnTo>
                  <a:close/>
                </a:path>
              </a:pathLst>
            </a:custGeom>
            <a:blipFill rotWithShape="1">
              <a:blip r:embed="rId4">
                <a:alphaModFix amt="0"/>
              </a:blip>
              <a:stretch>
                <a:fillRect l="0" t="-68481" r="0" b="-46343"/>
              </a:stretch>
            </a:blipFill>
          </p:spPr>
          <p:txBody>
            <a:bodyPr/>
            <a:lstStyle/>
            <a:p>
              <a:pPr>
                <a:defRPr/>
              </a:pPr>
              <a:endParaRPr lang="en-US"/>
            </a:p>
          </p:txBody>
        </p:sp>
        <p:sp>
          <p:nvSpPr>
            <p:cNvPr id="36" name="TextBox 36"/>
            <p:cNvSpPr txBox="1"/>
            <p:nvPr/>
          </p:nvSpPr>
          <p:spPr bwMode="auto">
            <a:xfrm>
              <a:off x="0" y="-9525"/>
              <a:ext cx="3374403" cy="621650"/>
            </a:xfrm>
            <a:prstGeom prst="rect">
              <a:avLst/>
            </a:prstGeom>
            <a:grpFill/>
          </p:spPr>
          <p:txBody>
            <a:bodyPr lIns="0" tIns="0" rIns="0" bIns="0" rtlCol="0" anchor="ctr"/>
            <a:lstStyle/>
            <a:p>
              <a:pPr algn="l">
                <a:lnSpc>
                  <a:spcPts val="2368"/>
                </a:lnSpc>
                <a:defRPr/>
              </a:pPr>
              <a:r>
                <a:rPr lang="en-US" sz="1950" b="1">
                  <a:solidFill>
                    <a:srgbClr val="003868"/>
                  </a:solidFill>
                  <a:latin typeface="Helvetica World Bold"/>
                  <a:ea typeface="Helvetica World Bold"/>
                  <a:cs typeface="Helvetica World Bold"/>
                </a:rPr>
                <a:t>Security &amp; HTTPS</a:t>
              </a:r>
              <a:endParaRPr/>
            </a:p>
          </p:txBody>
        </p:sp>
      </p:grpSp>
      <p:grpSp>
        <p:nvGrpSpPr>
          <p:cNvPr id="469698489" name="Group 37"/>
          <p:cNvGrpSpPr/>
          <p:nvPr/>
        </p:nvGrpSpPr>
        <p:grpSpPr bwMode="auto">
          <a:xfrm>
            <a:off x="1459708" y="3305895"/>
            <a:ext cx="5477623" cy="4157367"/>
            <a:chOff x="0" y="0"/>
            <a:chExt cx="7905891" cy="6000356"/>
          </a:xfrm>
        </p:grpSpPr>
        <p:sp>
          <p:nvSpPr>
            <p:cNvPr id="38" name="Freeform 38"/>
            <p:cNvSpPr/>
            <p:nvPr/>
          </p:nvSpPr>
          <p:spPr bwMode="auto">
            <a:xfrm>
              <a:off x="29292" y="16510"/>
              <a:ext cx="7847419" cy="5967222"/>
            </a:xfrm>
            <a:custGeom>
              <a:avLst/>
              <a:gdLst/>
              <a:ahLst/>
              <a:cxnLst/>
              <a:rect l="l" t="t" r="r" b="b"/>
              <a:pathLst>
                <a:path w="7847419" h="5967222" fill="norm" stroke="1" extrusionOk="0">
                  <a:moveTo>
                    <a:pt x="0" y="152781"/>
                  </a:moveTo>
                  <a:cubicBezTo>
                    <a:pt x="0" y="68453"/>
                    <a:pt x="121226" y="0"/>
                    <a:pt x="270617" y="0"/>
                  </a:cubicBezTo>
                  <a:lnTo>
                    <a:pt x="7576803" y="0"/>
                  </a:lnTo>
                  <a:cubicBezTo>
                    <a:pt x="7726194" y="0"/>
                    <a:pt x="7847419" y="68453"/>
                    <a:pt x="7847419" y="152781"/>
                  </a:cubicBezTo>
                  <a:lnTo>
                    <a:pt x="7847419" y="5814441"/>
                  </a:lnTo>
                  <a:cubicBezTo>
                    <a:pt x="7847419" y="5898769"/>
                    <a:pt x="7726194" y="5967222"/>
                    <a:pt x="7576803" y="5967222"/>
                  </a:cubicBezTo>
                  <a:lnTo>
                    <a:pt x="270617" y="5967222"/>
                  </a:lnTo>
                  <a:cubicBezTo>
                    <a:pt x="121226" y="5967222"/>
                    <a:pt x="0" y="5898769"/>
                    <a:pt x="0" y="5814441"/>
                  </a:cubicBezTo>
                  <a:close/>
                </a:path>
              </a:pathLst>
            </a:custGeom>
            <a:blipFill rotWithShape="1">
              <a:blip r:embed="rId8"/>
              <a:stretch>
                <a:fillRect l="0" t="-9488" r="0" b="-9488"/>
              </a:stretch>
            </a:blipFill>
          </p:spPr>
          <p:txBody>
            <a:bodyPr/>
            <a:lstStyle/>
            <a:p>
              <a:pPr>
                <a:defRPr/>
              </a:pPr>
              <a:endParaRPr lang="en-US"/>
            </a:p>
          </p:txBody>
        </p:sp>
        <p:sp>
          <p:nvSpPr>
            <p:cNvPr id="39" name="Freeform 39"/>
            <p:cNvSpPr/>
            <p:nvPr/>
          </p:nvSpPr>
          <p:spPr bwMode="auto">
            <a:xfrm>
              <a:off x="0" y="0"/>
              <a:ext cx="7905955" cy="6000242"/>
            </a:xfrm>
            <a:custGeom>
              <a:avLst/>
              <a:gdLst/>
              <a:ahLst/>
              <a:cxnLst/>
              <a:rect l="l" t="t" r="r" b="b"/>
              <a:pathLst>
                <a:path w="7905955" h="6000242" fill="norm" stroke="1" extrusionOk="0">
                  <a:moveTo>
                    <a:pt x="0" y="169291"/>
                  </a:moveTo>
                  <a:cubicBezTo>
                    <a:pt x="0" y="75819"/>
                    <a:pt x="134294" y="0"/>
                    <a:pt x="299909" y="0"/>
                  </a:cubicBezTo>
                  <a:lnTo>
                    <a:pt x="7606095" y="0"/>
                  </a:lnTo>
                  <a:lnTo>
                    <a:pt x="7606095" y="16510"/>
                  </a:lnTo>
                  <a:lnTo>
                    <a:pt x="7606095" y="0"/>
                  </a:lnTo>
                  <a:cubicBezTo>
                    <a:pt x="7771709" y="0"/>
                    <a:pt x="7905955" y="75819"/>
                    <a:pt x="7905955" y="169291"/>
                  </a:cubicBezTo>
                  <a:lnTo>
                    <a:pt x="7876711" y="169291"/>
                  </a:lnTo>
                  <a:lnTo>
                    <a:pt x="7905955" y="169291"/>
                  </a:lnTo>
                  <a:lnTo>
                    <a:pt x="7905955" y="5830951"/>
                  </a:lnTo>
                  <a:lnTo>
                    <a:pt x="7876711" y="5830951"/>
                  </a:lnTo>
                  <a:lnTo>
                    <a:pt x="7905955" y="5830951"/>
                  </a:lnTo>
                  <a:cubicBezTo>
                    <a:pt x="7905955" y="5924423"/>
                    <a:pt x="7771709" y="6000242"/>
                    <a:pt x="7606095" y="6000242"/>
                  </a:cubicBezTo>
                  <a:lnTo>
                    <a:pt x="7606095" y="5983732"/>
                  </a:lnTo>
                  <a:lnTo>
                    <a:pt x="7606095" y="6000242"/>
                  </a:lnTo>
                  <a:lnTo>
                    <a:pt x="299909" y="6000242"/>
                  </a:lnTo>
                  <a:lnTo>
                    <a:pt x="299909" y="5983732"/>
                  </a:lnTo>
                  <a:lnTo>
                    <a:pt x="299909" y="6000242"/>
                  </a:lnTo>
                  <a:cubicBezTo>
                    <a:pt x="134294" y="6000369"/>
                    <a:pt x="0" y="5924550"/>
                    <a:pt x="0" y="5831078"/>
                  </a:cubicBezTo>
                  <a:lnTo>
                    <a:pt x="0" y="169291"/>
                  </a:lnTo>
                  <a:lnTo>
                    <a:pt x="29292" y="169291"/>
                  </a:lnTo>
                  <a:lnTo>
                    <a:pt x="0" y="169291"/>
                  </a:lnTo>
                  <a:moveTo>
                    <a:pt x="58585" y="169291"/>
                  </a:moveTo>
                  <a:lnTo>
                    <a:pt x="58585" y="5830951"/>
                  </a:lnTo>
                  <a:lnTo>
                    <a:pt x="29292" y="5830951"/>
                  </a:lnTo>
                  <a:lnTo>
                    <a:pt x="58585" y="5830951"/>
                  </a:lnTo>
                  <a:cubicBezTo>
                    <a:pt x="58585" y="5906262"/>
                    <a:pt x="166741" y="5967222"/>
                    <a:pt x="299909" y="5967222"/>
                  </a:cubicBezTo>
                  <a:lnTo>
                    <a:pt x="7606095" y="5967222"/>
                  </a:lnTo>
                  <a:cubicBezTo>
                    <a:pt x="7739262" y="5967222"/>
                    <a:pt x="7847419" y="5906262"/>
                    <a:pt x="7847419" y="5830951"/>
                  </a:cubicBezTo>
                  <a:lnTo>
                    <a:pt x="7847419" y="169291"/>
                  </a:lnTo>
                  <a:cubicBezTo>
                    <a:pt x="7847419" y="93980"/>
                    <a:pt x="7739262" y="33020"/>
                    <a:pt x="7606095" y="33020"/>
                  </a:cubicBezTo>
                  <a:lnTo>
                    <a:pt x="299909" y="33020"/>
                  </a:lnTo>
                  <a:lnTo>
                    <a:pt x="299909" y="16510"/>
                  </a:lnTo>
                  <a:lnTo>
                    <a:pt x="299909" y="33020"/>
                  </a:lnTo>
                  <a:cubicBezTo>
                    <a:pt x="166741" y="33020"/>
                    <a:pt x="58585" y="93980"/>
                    <a:pt x="58585" y="169291"/>
                  </a:cubicBezTo>
                  <a:close/>
                </a:path>
              </a:pathLst>
            </a:custGeom>
            <a:solidFill>
              <a:srgbClr val="BDBDBD"/>
            </a:solidFill>
          </p:spPr>
          <p:txBody>
            <a:bodyPr/>
            <a:lstStyle/>
            <a:p>
              <a:pPr>
                <a:defRPr/>
              </a:pPr>
              <a:endParaRPr lang="en-US"/>
            </a:p>
          </p:txBody>
        </p:sp>
      </p:grpSp>
      <p:grpSp>
        <p:nvGrpSpPr>
          <p:cNvPr id="983375852" name="Group 40"/>
          <p:cNvGrpSpPr/>
          <p:nvPr/>
        </p:nvGrpSpPr>
        <p:grpSpPr bwMode="auto">
          <a:xfrm>
            <a:off x="9319154" y="8043958"/>
            <a:ext cx="6364563" cy="1671037"/>
            <a:chOff x="0" y="0"/>
            <a:chExt cx="8486084" cy="2228050"/>
          </a:xfrm>
        </p:grpSpPr>
        <p:sp>
          <p:nvSpPr>
            <p:cNvPr id="41" name="Freeform 41"/>
            <p:cNvSpPr/>
            <p:nvPr/>
          </p:nvSpPr>
          <p:spPr bwMode="auto">
            <a:xfrm>
              <a:off x="13465" y="8255"/>
              <a:ext cx="8459151" cy="2211578"/>
            </a:xfrm>
            <a:custGeom>
              <a:avLst/>
              <a:gdLst/>
              <a:ahLst/>
              <a:cxnLst/>
              <a:rect l="l" t="t" r="r" b="b"/>
              <a:pathLst>
                <a:path w="8459151" h="2211578" fill="norm" stroke="1" extrusionOk="0">
                  <a:moveTo>
                    <a:pt x="0" y="0"/>
                  </a:moveTo>
                  <a:lnTo>
                    <a:pt x="8459152" y="0"/>
                  </a:lnTo>
                  <a:lnTo>
                    <a:pt x="8459152" y="2211578"/>
                  </a:lnTo>
                  <a:lnTo>
                    <a:pt x="0" y="2211578"/>
                  </a:lnTo>
                  <a:close/>
                </a:path>
              </a:pathLst>
            </a:custGeom>
            <a:solidFill>
              <a:srgbClr val="FAFAFA"/>
            </a:solidFill>
          </p:spPr>
          <p:txBody>
            <a:bodyPr/>
            <a:lstStyle/>
            <a:p>
              <a:pPr>
                <a:defRPr/>
              </a:pPr>
              <a:endParaRPr lang="en-US"/>
            </a:p>
          </p:txBody>
        </p:sp>
        <p:sp>
          <p:nvSpPr>
            <p:cNvPr id="42" name="Freeform 42"/>
            <p:cNvSpPr/>
            <p:nvPr/>
          </p:nvSpPr>
          <p:spPr bwMode="auto">
            <a:xfrm>
              <a:off x="0" y="0"/>
              <a:ext cx="8486084" cy="2228088"/>
            </a:xfrm>
            <a:custGeom>
              <a:avLst/>
              <a:gdLst/>
              <a:ahLst/>
              <a:cxnLst/>
              <a:rect l="l" t="t" r="r" b="b"/>
              <a:pathLst>
                <a:path w="8486084" h="2228088" fill="norm" stroke="1" extrusionOk="0">
                  <a:moveTo>
                    <a:pt x="13466" y="0"/>
                  </a:moveTo>
                  <a:lnTo>
                    <a:pt x="8472618" y="0"/>
                  </a:lnTo>
                  <a:cubicBezTo>
                    <a:pt x="8480075" y="0"/>
                    <a:pt x="8486084" y="3683"/>
                    <a:pt x="8486084" y="8255"/>
                  </a:cubicBezTo>
                  <a:lnTo>
                    <a:pt x="8486084" y="2219833"/>
                  </a:lnTo>
                  <a:cubicBezTo>
                    <a:pt x="8486084" y="2224405"/>
                    <a:pt x="8480075" y="2228088"/>
                    <a:pt x="8472618" y="2228088"/>
                  </a:cubicBezTo>
                  <a:lnTo>
                    <a:pt x="13466" y="2228088"/>
                  </a:lnTo>
                  <a:cubicBezTo>
                    <a:pt x="6008" y="2228088"/>
                    <a:pt x="0" y="2224405"/>
                    <a:pt x="0" y="2219833"/>
                  </a:cubicBezTo>
                  <a:lnTo>
                    <a:pt x="0" y="8255"/>
                  </a:lnTo>
                  <a:cubicBezTo>
                    <a:pt x="0" y="3683"/>
                    <a:pt x="6008" y="0"/>
                    <a:pt x="13466" y="0"/>
                  </a:cubicBezTo>
                  <a:moveTo>
                    <a:pt x="13466" y="16510"/>
                  </a:moveTo>
                  <a:lnTo>
                    <a:pt x="13466" y="8255"/>
                  </a:lnTo>
                  <a:lnTo>
                    <a:pt x="26933" y="8255"/>
                  </a:lnTo>
                  <a:lnTo>
                    <a:pt x="26933" y="2219833"/>
                  </a:lnTo>
                  <a:lnTo>
                    <a:pt x="13466" y="2219833"/>
                  </a:lnTo>
                  <a:lnTo>
                    <a:pt x="13466" y="2211578"/>
                  </a:lnTo>
                  <a:lnTo>
                    <a:pt x="8472618" y="2211578"/>
                  </a:lnTo>
                  <a:lnTo>
                    <a:pt x="8472618" y="2219833"/>
                  </a:lnTo>
                  <a:lnTo>
                    <a:pt x="8459151" y="2219833"/>
                  </a:lnTo>
                  <a:lnTo>
                    <a:pt x="8459151" y="8255"/>
                  </a:lnTo>
                  <a:lnTo>
                    <a:pt x="8472618" y="8255"/>
                  </a:lnTo>
                  <a:lnTo>
                    <a:pt x="8472618" y="16510"/>
                  </a:lnTo>
                  <a:lnTo>
                    <a:pt x="13466" y="16510"/>
                  </a:lnTo>
                  <a:close/>
                </a:path>
              </a:pathLst>
            </a:custGeom>
            <a:solidFill>
              <a:srgbClr val="E1DFDD"/>
            </a:solidFill>
          </p:spPr>
          <p:txBody>
            <a:bodyPr/>
            <a:lstStyle/>
            <a:p>
              <a:pPr>
                <a:defRPr/>
              </a:pPr>
              <a:endParaRPr lang="en-US"/>
            </a:p>
          </p:txBody>
        </p:sp>
      </p:grpSp>
      <p:grpSp>
        <p:nvGrpSpPr>
          <p:cNvPr id="1782825620" name="Group 43"/>
          <p:cNvGrpSpPr/>
          <p:nvPr/>
        </p:nvGrpSpPr>
        <p:grpSpPr bwMode="auto">
          <a:xfrm>
            <a:off x="9611314" y="8358835"/>
            <a:ext cx="285969" cy="269148"/>
            <a:chOff x="0" y="0"/>
            <a:chExt cx="381292" cy="358864"/>
          </a:xfrm>
        </p:grpSpPr>
        <p:sp>
          <p:nvSpPr>
            <p:cNvPr id="44" name="Freeform 44" descr="image.png"/>
            <p:cNvSpPr/>
            <p:nvPr/>
          </p:nvSpPr>
          <p:spPr bwMode="auto">
            <a:xfrm>
              <a:off x="0" y="0"/>
              <a:ext cx="381254" cy="358902"/>
            </a:xfrm>
            <a:custGeom>
              <a:avLst/>
              <a:gdLst/>
              <a:ahLst/>
              <a:cxnLst/>
              <a:rect l="l" t="t" r="r" b="b"/>
              <a:pathLst>
                <a:path w="381254" h="358902" fill="norm" stroke="1" extrusionOk="0">
                  <a:moveTo>
                    <a:pt x="0" y="0"/>
                  </a:moveTo>
                  <a:lnTo>
                    <a:pt x="381254" y="0"/>
                  </a:lnTo>
                  <a:lnTo>
                    <a:pt x="381254" y="358902"/>
                  </a:lnTo>
                  <a:lnTo>
                    <a:pt x="0" y="358902"/>
                  </a:lnTo>
                  <a:lnTo>
                    <a:pt x="0" y="0"/>
                  </a:lnTo>
                  <a:close/>
                </a:path>
              </a:pathLst>
            </a:custGeom>
            <a:blipFill rotWithShape="1">
              <a:blip r:embed="rId9"/>
              <a:stretch>
                <a:fillRect l="-1" t="0" r="-7" b="10"/>
              </a:stretch>
            </a:blipFill>
          </p:spPr>
          <p:txBody>
            <a:bodyPr/>
            <a:lstStyle/>
            <a:p>
              <a:pPr>
                <a:defRPr/>
              </a:pPr>
              <a:endParaRPr lang="en-US"/>
            </a:p>
          </p:txBody>
        </p:sp>
      </p:grpSp>
      <p:grpSp>
        <p:nvGrpSpPr>
          <p:cNvPr id="1498761035" name="Group 45"/>
          <p:cNvGrpSpPr/>
          <p:nvPr/>
        </p:nvGrpSpPr>
        <p:grpSpPr bwMode="auto">
          <a:xfrm>
            <a:off x="9611314" y="9072086"/>
            <a:ext cx="285969" cy="100927"/>
            <a:chOff x="0" y="0"/>
            <a:chExt cx="381292" cy="134569"/>
          </a:xfrm>
        </p:grpSpPr>
        <p:sp>
          <p:nvSpPr>
            <p:cNvPr id="46" name="Freeform 46" descr="image.png"/>
            <p:cNvSpPr/>
            <p:nvPr/>
          </p:nvSpPr>
          <p:spPr bwMode="auto">
            <a:xfrm>
              <a:off x="0" y="0"/>
              <a:ext cx="381254" cy="134620"/>
            </a:xfrm>
            <a:custGeom>
              <a:avLst/>
              <a:gdLst/>
              <a:ahLst/>
              <a:cxnLst/>
              <a:rect l="l" t="t" r="r" b="b"/>
              <a:pathLst>
                <a:path w="381254" h="134620" fill="norm" stroke="1" extrusionOk="0">
                  <a:moveTo>
                    <a:pt x="0" y="0"/>
                  </a:moveTo>
                  <a:lnTo>
                    <a:pt x="381254" y="0"/>
                  </a:lnTo>
                  <a:lnTo>
                    <a:pt x="381254" y="134620"/>
                  </a:lnTo>
                  <a:lnTo>
                    <a:pt x="0" y="134620"/>
                  </a:lnTo>
                  <a:lnTo>
                    <a:pt x="0" y="0"/>
                  </a:lnTo>
                  <a:close/>
                </a:path>
              </a:pathLst>
            </a:custGeom>
            <a:blipFill rotWithShape="1">
              <a:blip r:embed="rId10"/>
              <a:stretch>
                <a:fillRect l="-1" t="0" r="-7" b="37"/>
              </a:stretch>
            </a:blipFill>
          </p:spPr>
          <p:txBody>
            <a:bodyPr/>
            <a:lstStyle/>
            <a:p>
              <a:pPr>
                <a:defRPr/>
              </a:pPr>
              <a:endParaRPr lang="en-US"/>
            </a:p>
          </p:txBody>
        </p:sp>
      </p:grpSp>
      <p:grpSp>
        <p:nvGrpSpPr>
          <p:cNvPr id="1906356896" name="Group 47"/>
          <p:cNvGrpSpPr/>
          <p:nvPr/>
        </p:nvGrpSpPr>
        <p:grpSpPr bwMode="auto">
          <a:xfrm>
            <a:off x="10011669" y="3305895"/>
            <a:ext cx="5477623" cy="4157367"/>
            <a:chOff x="0" y="0"/>
            <a:chExt cx="7905891" cy="6000356"/>
          </a:xfrm>
        </p:grpSpPr>
        <p:sp>
          <p:nvSpPr>
            <p:cNvPr id="48" name="Freeform 48"/>
            <p:cNvSpPr/>
            <p:nvPr/>
          </p:nvSpPr>
          <p:spPr bwMode="auto">
            <a:xfrm>
              <a:off x="29292" y="16510"/>
              <a:ext cx="7847419" cy="5967222"/>
            </a:xfrm>
            <a:custGeom>
              <a:avLst/>
              <a:gdLst/>
              <a:ahLst/>
              <a:cxnLst/>
              <a:rect l="l" t="t" r="r" b="b"/>
              <a:pathLst>
                <a:path w="7847419" h="5967222" fill="norm" stroke="1" extrusionOk="0">
                  <a:moveTo>
                    <a:pt x="0" y="152781"/>
                  </a:moveTo>
                  <a:cubicBezTo>
                    <a:pt x="0" y="68453"/>
                    <a:pt x="121226" y="0"/>
                    <a:pt x="270617" y="0"/>
                  </a:cubicBezTo>
                  <a:lnTo>
                    <a:pt x="7576803" y="0"/>
                  </a:lnTo>
                  <a:cubicBezTo>
                    <a:pt x="7726194" y="0"/>
                    <a:pt x="7847419" y="68453"/>
                    <a:pt x="7847419" y="152781"/>
                  </a:cubicBezTo>
                  <a:lnTo>
                    <a:pt x="7847419" y="5814441"/>
                  </a:lnTo>
                  <a:cubicBezTo>
                    <a:pt x="7847419" y="5898769"/>
                    <a:pt x="7726194" y="5967222"/>
                    <a:pt x="7576803" y="5967222"/>
                  </a:cubicBezTo>
                  <a:lnTo>
                    <a:pt x="270617" y="5967222"/>
                  </a:lnTo>
                  <a:cubicBezTo>
                    <a:pt x="121226" y="5967222"/>
                    <a:pt x="0" y="5898769"/>
                    <a:pt x="0" y="5814441"/>
                  </a:cubicBezTo>
                  <a:close/>
                </a:path>
              </a:pathLst>
            </a:custGeom>
            <a:blipFill rotWithShape="1">
              <a:blip r:embed="rId11"/>
              <a:stretch>
                <a:fillRect l="0" t="-16267" r="0" b="-16266"/>
              </a:stretch>
            </a:blipFill>
          </p:spPr>
          <p:txBody>
            <a:bodyPr/>
            <a:lstStyle/>
            <a:p>
              <a:pPr>
                <a:defRPr/>
              </a:pPr>
              <a:endParaRPr lang="en-US"/>
            </a:p>
          </p:txBody>
        </p:sp>
        <p:sp>
          <p:nvSpPr>
            <p:cNvPr id="49" name="Freeform 49"/>
            <p:cNvSpPr/>
            <p:nvPr/>
          </p:nvSpPr>
          <p:spPr bwMode="auto">
            <a:xfrm>
              <a:off x="0" y="0"/>
              <a:ext cx="7905955" cy="6000242"/>
            </a:xfrm>
            <a:custGeom>
              <a:avLst/>
              <a:gdLst/>
              <a:ahLst/>
              <a:cxnLst/>
              <a:rect l="l" t="t" r="r" b="b"/>
              <a:pathLst>
                <a:path w="7905955" h="6000242" fill="norm" stroke="1" extrusionOk="0">
                  <a:moveTo>
                    <a:pt x="0" y="169291"/>
                  </a:moveTo>
                  <a:cubicBezTo>
                    <a:pt x="0" y="75819"/>
                    <a:pt x="134294" y="0"/>
                    <a:pt x="299909" y="0"/>
                  </a:cubicBezTo>
                  <a:lnTo>
                    <a:pt x="7606095" y="0"/>
                  </a:lnTo>
                  <a:lnTo>
                    <a:pt x="7606095" y="16510"/>
                  </a:lnTo>
                  <a:lnTo>
                    <a:pt x="7606095" y="0"/>
                  </a:lnTo>
                  <a:cubicBezTo>
                    <a:pt x="7771709" y="0"/>
                    <a:pt x="7905955" y="75819"/>
                    <a:pt x="7905955" y="169291"/>
                  </a:cubicBezTo>
                  <a:lnTo>
                    <a:pt x="7876711" y="169291"/>
                  </a:lnTo>
                  <a:lnTo>
                    <a:pt x="7905955" y="169291"/>
                  </a:lnTo>
                  <a:lnTo>
                    <a:pt x="7905955" y="5830951"/>
                  </a:lnTo>
                  <a:lnTo>
                    <a:pt x="7876711" y="5830951"/>
                  </a:lnTo>
                  <a:lnTo>
                    <a:pt x="7905955" y="5830951"/>
                  </a:lnTo>
                  <a:cubicBezTo>
                    <a:pt x="7905955" y="5924423"/>
                    <a:pt x="7771709" y="6000242"/>
                    <a:pt x="7606095" y="6000242"/>
                  </a:cubicBezTo>
                  <a:lnTo>
                    <a:pt x="7606095" y="5983732"/>
                  </a:lnTo>
                  <a:lnTo>
                    <a:pt x="7606095" y="6000242"/>
                  </a:lnTo>
                  <a:lnTo>
                    <a:pt x="299909" y="6000242"/>
                  </a:lnTo>
                  <a:lnTo>
                    <a:pt x="299909" y="5983732"/>
                  </a:lnTo>
                  <a:lnTo>
                    <a:pt x="299909" y="6000242"/>
                  </a:lnTo>
                  <a:cubicBezTo>
                    <a:pt x="134294" y="6000369"/>
                    <a:pt x="0" y="5924550"/>
                    <a:pt x="0" y="5831078"/>
                  </a:cubicBezTo>
                  <a:lnTo>
                    <a:pt x="0" y="169291"/>
                  </a:lnTo>
                  <a:lnTo>
                    <a:pt x="29292" y="169291"/>
                  </a:lnTo>
                  <a:lnTo>
                    <a:pt x="0" y="169291"/>
                  </a:lnTo>
                  <a:moveTo>
                    <a:pt x="58585" y="169291"/>
                  </a:moveTo>
                  <a:lnTo>
                    <a:pt x="58585" y="5830951"/>
                  </a:lnTo>
                  <a:lnTo>
                    <a:pt x="29292" y="5830951"/>
                  </a:lnTo>
                  <a:lnTo>
                    <a:pt x="58585" y="5830951"/>
                  </a:lnTo>
                  <a:cubicBezTo>
                    <a:pt x="58585" y="5906262"/>
                    <a:pt x="166741" y="5967222"/>
                    <a:pt x="299909" y="5967222"/>
                  </a:cubicBezTo>
                  <a:lnTo>
                    <a:pt x="7606095" y="5967222"/>
                  </a:lnTo>
                  <a:cubicBezTo>
                    <a:pt x="7739262" y="5967222"/>
                    <a:pt x="7847419" y="5906262"/>
                    <a:pt x="7847419" y="5830951"/>
                  </a:cubicBezTo>
                  <a:lnTo>
                    <a:pt x="7847419" y="169291"/>
                  </a:lnTo>
                  <a:cubicBezTo>
                    <a:pt x="7847419" y="93980"/>
                    <a:pt x="7739262" y="33020"/>
                    <a:pt x="7606095" y="33020"/>
                  </a:cubicBezTo>
                  <a:lnTo>
                    <a:pt x="299909" y="33020"/>
                  </a:lnTo>
                  <a:lnTo>
                    <a:pt x="299909" y="16510"/>
                  </a:lnTo>
                  <a:lnTo>
                    <a:pt x="299909" y="33020"/>
                  </a:lnTo>
                  <a:cubicBezTo>
                    <a:pt x="166741" y="33020"/>
                    <a:pt x="58585" y="93980"/>
                    <a:pt x="58585" y="169291"/>
                  </a:cubicBezTo>
                  <a:close/>
                </a:path>
              </a:pathLst>
            </a:custGeom>
            <a:solidFill>
              <a:srgbClr val="BDBDBD"/>
            </a:solidFill>
          </p:spPr>
          <p:txBody>
            <a:bodyPr/>
            <a:lstStyle/>
            <a:p>
              <a:pPr>
                <a:defRPr/>
              </a:pPr>
              <a:endParaRPr lang="en-US"/>
            </a:p>
          </p:txBody>
        </p:sp>
      </p:grpSp>
      <p:sp>
        <p:nvSpPr>
          <p:cNvPr id="1907593278" name="TextBox 50"/>
          <p:cNvSpPr txBox="1"/>
          <p:nvPr/>
        </p:nvSpPr>
        <p:spPr bwMode="auto">
          <a:xfrm>
            <a:off x="2568663" y="8660401"/>
            <a:ext cx="1715884" cy="219074"/>
          </a:xfrm>
          <a:prstGeom prst="rect">
            <a:avLst/>
          </a:prstGeom>
        </p:spPr>
        <p:txBody>
          <a:bodyPr lIns="0" tIns="0" rIns="0" bIns="0" rtlCol="0" anchor="t">
            <a:spAutoFit/>
          </a:bodyPr>
          <a:lstStyle/>
          <a:p>
            <a:pPr algn="ctr">
              <a:lnSpc>
                <a:spcPts val="1722"/>
              </a:lnSpc>
              <a:spcBef>
                <a:spcPts val="0"/>
              </a:spcBef>
              <a:defRPr/>
            </a:pPr>
            <a:r>
              <a:rPr lang="en-US" sz="1450">
                <a:solidFill>
                  <a:srgbClr val="000000"/>
                </a:solidFill>
                <a:latin typeface="Helvetica World"/>
                <a:ea typeface="Helvetica World"/>
                <a:cs typeface="Helvetica World"/>
              </a:rPr>
              <a:t>→ Frontend</a:t>
            </a:r>
            <a:endParaRPr/>
          </a:p>
        </p:txBody>
      </p:sp>
      <p:sp>
        <p:nvSpPr>
          <p:cNvPr id="1324001567" name="TextBox 51"/>
          <p:cNvSpPr txBox="1"/>
          <p:nvPr/>
        </p:nvSpPr>
        <p:spPr bwMode="auto">
          <a:xfrm>
            <a:off x="2399491" y="8665445"/>
            <a:ext cx="169172" cy="219074"/>
          </a:xfrm>
          <a:prstGeom prst="rect">
            <a:avLst/>
          </a:prstGeom>
        </p:spPr>
        <p:txBody>
          <a:bodyPr lIns="0" tIns="0" rIns="0" bIns="0" rtlCol="0" anchor="t">
            <a:spAutoFit/>
          </a:bodyPr>
          <a:lstStyle/>
          <a:p>
            <a:pPr algn="ctr">
              <a:lnSpc>
                <a:spcPts val="1722"/>
              </a:lnSpc>
              <a:spcBef>
                <a:spcPts val="0"/>
              </a:spcBef>
              <a:defRPr/>
            </a:pPr>
            <a:r>
              <a:rPr lang="en-US" sz="1450">
                <a:solidFill>
                  <a:srgbClr val="000000"/>
                </a:solidFill>
                <a:latin typeface="Helvetica World"/>
                <a:ea typeface="Helvetica World"/>
                <a:cs typeface="Helvetica World"/>
              </a:rPr>
              <a:t>/</a:t>
            </a:r>
            <a:endParaRPr/>
          </a:p>
        </p:txBody>
      </p:sp>
      <p:sp>
        <p:nvSpPr>
          <p:cNvPr id="167614882" name="TextBox 52"/>
          <p:cNvSpPr txBox="1"/>
          <p:nvPr/>
        </p:nvSpPr>
        <p:spPr bwMode="auto">
          <a:xfrm>
            <a:off x="2168852" y="9155744"/>
            <a:ext cx="1614506" cy="219074"/>
          </a:xfrm>
          <a:prstGeom prst="rect">
            <a:avLst/>
          </a:prstGeom>
        </p:spPr>
        <p:txBody>
          <a:bodyPr lIns="0" tIns="0" rIns="0" bIns="0" rtlCol="0" anchor="t">
            <a:spAutoFit/>
          </a:bodyPr>
          <a:lstStyle/>
          <a:p>
            <a:pPr algn="ctr">
              <a:lnSpc>
                <a:spcPts val="1722"/>
              </a:lnSpc>
              <a:spcBef>
                <a:spcPts val="0"/>
              </a:spcBef>
              <a:defRPr/>
            </a:pPr>
            <a:r>
              <a:rPr lang="en-US" sz="1450">
                <a:solidFill>
                  <a:srgbClr val="000000"/>
                </a:solidFill>
                <a:latin typeface="Helvetica World"/>
                <a:ea typeface="Helvetica World"/>
                <a:cs typeface="Helvetica World"/>
              </a:rPr>
              <a:t>/api/*</a:t>
            </a:r>
            <a:endParaRPr/>
          </a:p>
        </p:txBody>
      </p:sp>
      <p:sp>
        <p:nvSpPr>
          <p:cNvPr id="1792529480" name="TextBox 53"/>
          <p:cNvSpPr txBox="1"/>
          <p:nvPr/>
        </p:nvSpPr>
        <p:spPr bwMode="auto">
          <a:xfrm>
            <a:off x="1282402" y="9136694"/>
            <a:ext cx="6293530" cy="219074"/>
          </a:xfrm>
          <a:prstGeom prst="rect">
            <a:avLst/>
          </a:prstGeom>
        </p:spPr>
        <p:txBody>
          <a:bodyPr lIns="0" tIns="0" rIns="0" bIns="0" rtlCol="0" anchor="t">
            <a:spAutoFit/>
          </a:bodyPr>
          <a:lstStyle/>
          <a:p>
            <a:pPr algn="ctr">
              <a:lnSpc>
                <a:spcPts val="1722"/>
              </a:lnSpc>
              <a:spcBef>
                <a:spcPts val="0"/>
              </a:spcBef>
              <a:defRPr/>
            </a:pPr>
            <a:r>
              <a:rPr lang="en-US" sz="1450">
                <a:solidFill>
                  <a:srgbClr val="000000"/>
                </a:solidFill>
                <a:latin typeface="Helvetica World"/>
                <a:ea typeface="Helvetica World"/>
                <a:cs typeface="Helvetica World"/>
              </a:rPr>
              <a:t>→ Backend</a:t>
            </a:r>
            <a:endParaRPr/>
          </a:p>
        </p:txBody>
      </p:sp>
      <p:sp>
        <p:nvSpPr>
          <p:cNvPr id="1732121549" name="TextBox 54"/>
          <p:cNvSpPr txBox="1"/>
          <p:nvPr/>
        </p:nvSpPr>
        <p:spPr bwMode="auto">
          <a:xfrm>
            <a:off x="10201058" y="8379109"/>
            <a:ext cx="1753870" cy="219074"/>
          </a:xfrm>
          <a:prstGeom prst="rect">
            <a:avLst/>
          </a:prstGeom>
        </p:spPr>
        <p:txBody>
          <a:bodyPr lIns="0" tIns="0" rIns="0" bIns="0" rtlCol="0" anchor="t">
            <a:spAutoFit/>
          </a:bodyPr>
          <a:lstStyle/>
          <a:p>
            <a:pPr algn="ctr">
              <a:lnSpc>
                <a:spcPts val="1722"/>
              </a:lnSpc>
              <a:spcBef>
                <a:spcPts val="0"/>
              </a:spcBef>
              <a:defRPr/>
            </a:pPr>
            <a:r>
              <a:rPr lang="en-US" sz="1450">
                <a:solidFill>
                  <a:srgbClr val="000000"/>
                </a:solidFill>
                <a:latin typeface="Helvetica World"/>
                <a:ea typeface="Helvetica World"/>
                <a:cs typeface="Helvetica World"/>
              </a:rPr>
              <a:t>Encrypted connection</a:t>
            </a:r>
            <a:endParaRPr/>
          </a:p>
        </p:txBody>
      </p:sp>
      <p:sp>
        <p:nvSpPr>
          <p:cNvPr id="1807545956" name="TextBox 55"/>
          <p:cNvSpPr txBox="1"/>
          <p:nvPr/>
        </p:nvSpPr>
        <p:spPr bwMode="auto">
          <a:xfrm>
            <a:off x="10190501" y="8993953"/>
            <a:ext cx="2158841" cy="219074"/>
          </a:xfrm>
          <a:prstGeom prst="rect">
            <a:avLst/>
          </a:prstGeom>
        </p:spPr>
        <p:txBody>
          <a:bodyPr lIns="0" tIns="0" rIns="0" bIns="0" rtlCol="0" anchor="t">
            <a:spAutoFit/>
          </a:bodyPr>
          <a:lstStyle/>
          <a:p>
            <a:pPr algn="ctr">
              <a:lnSpc>
                <a:spcPts val="1722"/>
              </a:lnSpc>
              <a:spcBef>
                <a:spcPts val="0"/>
              </a:spcBef>
              <a:defRPr/>
            </a:pPr>
            <a:r>
              <a:rPr lang="en-US" sz="1450">
                <a:solidFill>
                  <a:srgbClr val="000000"/>
                </a:solidFill>
                <a:latin typeface="Helvetica World"/>
                <a:ea typeface="Helvetica World"/>
                <a:cs typeface="Helvetica World"/>
              </a:rPr>
              <a:t>HTTP redirected to HTTPS</a:t>
            </a:r>
            <a:endParaRPr/>
          </a:p>
        </p:txBody>
      </p:sp>
      <p:grpSp>
        <p:nvGrpSpPr>
          <p:cNvPr id="545760751" name="Group 56"/>
          <p:cNvGrpSpPr/>
          <p:nvPr/>
        </p:nvGrpSpPr>
        <p:grpSpPr bwMode="auto">
          <a:xfrm>
            <a:off x="0" y="0"/>
            <a:ext cx="18288000" cy="1429864"/>
            <a:chOff x="0" y="0"/>
            <a:chExt cx="24384000" cy="1906486"/>
          </a:xfrm>
        </p:grpSpPr>
        <p:sp>
          <p:nvSpPr>
            <p:cNvPr id="57" name="Freeform 57"/>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531719389" name="Group 58"/>
          <p:cNvGrpSpPr/>
          <p:nvPr/>
        </p:nvGrpSpPr>
        <p:grpSpPr bwMode="auto">
          <a:xfrm rot="-5400000">
            <a:off x="12709489" y="591012"/>
            <a:ext cx="898055" cy="247840"/>
            <a:chOff x="0" y="0"/>
            <a:chExt cx="1197407" cy="330454"/>
          </a:xfrm>
        </p:grpSpPr>
        <p:sp>
          <p:nvSpPr>
            <p:cNvPr id="59" name="Freeform 59"/>
            <p:cNvSpPr/>
            <p:nvPr/>
          </p:nvSpPr>
          <p:spPr bwMode="auto">
            <a:xfrm>
              <a:off x="0" y="0"/>
              <a:ext cx="1197381" cy="330454"/>
            </a:xfrm>
            <a:custGeom>
              <a:avLst/>
              <a:gdLst/>
              <a:ahLst/>
              <a:cxnLst/>
              <a:rect l="l" t="t" r="r" b="b"/>
              <a:pathLst>
                <a:path w="1197381" h="330454" fill="norm" stroke="1" extrusionOk="0">
                  <a:moveTo>
                    <a:pt x="170120" y="0"/>
                  </a:moveTo>
                  <a:lnTo>
                    <a:pt x="1027260" y="0"/>
                  </a:lnTo>
                  <a:cubicBezTo>
                    <a:pt x="1121278" y="0"/>
                    <a:pt x="1197381" y="73914"/>
                    <a:pt x="1197381" y="165227"/>
                  </a:cubicBezTo>
                  <a:lnTo>
                    <a:pt x="1197381" y="330454"/>
                  </a:lnTo>
                  <a:lnTo>
                    <a:pt x="0" y="330454"/>
                  </a:lnTo>
                  <a:lnTo>
                    <a:pt x="0" y="165227"/>
                  </a:lnTo>
                  <a:cubicBezTo>
                    <a:pt x="0" y="73914"/>
                    <a:pt x="76103" y="0"/>
                    <a:pt x="170120" y="0"/>
                  </a:cubicBezTo>
                  <a:close/>
                </a:path>
              </a:pathLst>
            </a:custGeom>
            <a:solidFill>
              <a:srgbClr val="0078D4"/>
            </a:solidFill>
          </p:spPr>
          <p:txBody>
            <a:bodyPr/>
            <a:lstStyle/>
            <a:p>
              <a:pPr>
                <a:defRPr/>
              </a:pPr>
              <a:endParaRPr lang="en-US"/>
            </a:p>
          </p:txBody>
        </p:sp>
      </p:grpSp>
      <p:grpSp>
        <p:nvGrpSpPr>
          <p:cNvPr id="1772595445" name="Group 60"/>
          <p:cNvGrpSpPr/>
          <p:nvPr/>
        </p:nvGrpSpPr>
        <p:grpSpPr bwMode="auto">
          <a:xfrm>
            <a:off x="16389080" y="209531"/>
            <a:ext cx="1405661" cy="1010802"/>
            <a:chOff x="0" y="0"/>
            <a:chExt cx="692506" cy="497977"/>
          </a:xfrm>
        </p:grpSpPr>
        <p:sp>
          <p:nvSpPr>
            <p:cNvPr id="61" name="Freeform 61"/>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4">
                <a:alphaModFix amt="0"/>
              </a:blip>
              <a:stretch>
                <a:fillRect l="-42335" t="0" r="8111" b="27260"/>
              </a:stretch>
            </a:blipFill>
          </p:spPr>
          <p:txBody>
            <a:bodyPr/>
            <a:lstStyle/>
            <a:p>
              <a:pPr>
                <a:defRPr/>
              </a:pPr>
              <a:endParaRPr lang="en-US"/>
            </a:p>
          </p:txBody>
        </p:sp>
        <p:sp>
          <p:nvSpPr>
            <p:cNvPr id="62" name="TextBox 62"/>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08</a:t>
              </a:r>
              <a:endParaRPr/>
            </a:p>
          </p:txBody>
        </p:sp>
      </p:grpSp>
      <p:grpSp>
        <p:nvGrpSpPr>
          <p:cNvPr id="632261899" name="Group 63"/>
          <p:cNvGrpSpPr/>
          <p:nvPr/>
        </p:nvGrpSpPr>
        <p:grpSpPr bwMode="auto">
          <a:xfrm>
            <a:off x="590979" y="341820"/>
            <a:ext cx="6476635" cy="746224"/>
            <a:chOff x="0" y="0"/>
            <a:chExt cx="8635515" cy="994965"/>
          </a:xfrm>
        </p:grpSpPr>
        <p:sp>
          <p:nvSpPr>
            <p:cNvPr id="64" name="Freeform 64"/>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4">
                <a:alphaModFix amt="0"/>
              </a:blip>
              <a:stretch>
                <a:fillRect l="0" t="-126622" r="9263" b="-80274"/>
              </a:stretch>
            </a:blipFill>
          </p:spPr>
          <p:txBody>
            <a:bodyPr/>
            <a:lstStyle/>
            <a:p>
              <a:pPr>
                <a:defRPr/>
              </a:pPr>
              <a:endParaRPr lang="en-US"/>
            </a:p>
          </p:txBody>
        </p:sp>
        <p:sp>
          <p:nvSpPr>
            <p:cNvPr id="65" name="TextBox 65"/>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997118318"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1471971337" name="Group 4"/>
          <p:cNvGrpSpPr/>
          <p:nvPr/>
        </p:nvGrpSpPr>
        <p:grpSpPr bwMode="auto">
          <a:xfrm>
            <a:off x="551875" y="1278438"/>
            <a:ext cx="15231247" cy="2228592"/>
            <a:chOff x="-14722456" y="-1009534"/>
            <a:chExt cx="20308330" cy="2971456"/>
          </a:xfrm>
        </p:grpSpPr>
        <p:sp>
          <p:nvSpPr>
            <p:cNvPr id="5" name="Freeform 5"/>
            <p:cNvSpPr/>
            <p:nvPr/>
          </p:nvSpPr>
          <p:spPr bwMode="auto">
            <a:xfrm>
              <a:off x="0" y="0"/>
              <a:ext cx="5585874" cy="1961922"/>
            </a:xfrm>
            <a:custGeom>
              <a:avLst/>
              <a:gdLst/>
              <a:ahLst/>
              <a:cxnLst/>
              <a:rect l="l" t="t" r="r" b="b"/>
              <a:pathLst>
                <a:path w="5585874" h="1961922" fill="norm" stroke="1" extrusionOk="0">
                  <a:moveTo>
                    <a:pt x="0" y="0"/>
                  </a:moveTo>
                  <a:lnTo>
                    <a:pt x="5585874" y="0"/>
                  </a:lnTo>
                  <a:lnTo>
                    <a:pt x="5585874" y="1961922"/>
                  </a:lnTo>
                  <a:lnTo>
                    <a:pt x="0" y="1961922"/>
                  </a:lnTo>
                  <a:close/>
                </a:path>
              </a:pathLst>
            </a:custGeom>
            <a:blipFill rotWithShape="1">
              <a:blip r:embed="rId3">
                <a:alphaModFix amt="0"/>
              </a:blip>
              <a:stretch>
                <a:fillRect l="0" t="-9804" r="0" b="-1147"/>
              </a:stretch>
            </a:blipFill>
          </p:spPr>
          <p:txBody>
            <a:bodyPr/>
            <a:lstStyle/>
            <a:p>
              <a:pPr>
                <a:defRPr/>
              </a:pPr>
              <a:endParaRPr lang="en-US"/>
            </a:p>
          </p:txBody>
        </p:sp>
        <p:sp>
          <p:nvSpPr>
            <p:cNvPr id="6" name="TextBox 6"/>
            <p:cNvSpPr txBox="1"/>
            <p:nvPr/>
          </p:nvSpPr>
          <p:spPr bwMode="auto">
            <a:xfrm>
              <a:off x="-14722456" y="-1009534"/>
              <a:ext cx="8147099" cy="2019068"/>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Implementation details</a:t>
              </a:r>
              <a:endParaRPr/>
            </a:p>
          </p:txBody>
        </p:sp>
      </p:grpSp>
      <p:grpSp>
        <p:nvGrpSpPr>
          <p:cNvPr id="729269251" name="Group 48"/>
          <p:cNvGrpSpPr/>
          <p:nvPr/>
        </p:nvGrpSpPr>
        <p:grpSpPr bwMode="auto">
          <a:xfrm>
            <a:off x="571929" y="341820"/>
            <a:ext cx="6476635" cy="746224"/>
            <a:chOff x="0" y="0"/>
            <a:chExt cx="8635515" cy="994965"/>
          </a:xfrm>
        </p:grpSpPr>
        <p:sp>
          <p:nvSpPr>
            <p:cNvPr id="49" name="Freeform 49"/>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0" name="TextBox 50"/>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1083070728" name="Group 51"/>
          <p:cNvGrpSpPr/>
          <p:nvPr/>
        </p:nvGrpSpPr>
        <p:grpSpPr bwMode="auto">
          <a:xfrm>
            <a:off x="16389080" y="209531"/>
            <a:ext cx="1405661" cy="1010802"/>
            <a:chOff x="0" y="0"/>
            <a:chExt cx="692506" cy="497977"/>
          </a:xfrm>
        </p:grpSpPr>
        <p:sp>
          <p:nvSpPr>
            <p:cNvPr id="52" name="Freeform 52"/>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53" name="TextBox 53"/>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09</a:t>
              </a:r>
              <a:endParaRPr/>
            </a:p>
          </p:txBody>
        </p:sp>
      </p:grpSp>
      <p:sp>
        <p:nvSpPr>
          <p:cNvPr id="1768815776" name="Rectangle 4"/>
          <p:cNvSpPr>
            <a:spLocks noChangeArrowheads="1"/>
          </p:cNvSpPr>
          <p:nvPr/>
        </p:nvSpPr>
        <p:spPr bwMode="auto">
          <a:xfrm>
            <a:off x="535833" y="2983132"/>
            <a:ext cx="16285299" cy="5509200"/>
          </a:xfrm>
          <a:prstGeom prst="rect">
            <a:avLst/>
          </a:prstGeom>
          <a:noFill/>
          <a:ln>
            <a:noFill/>
          </a:ln>
          <a:effectLst/>
        </p:spPr>
        <p:txBody>
          <a:bodyPr vert="horz" wrap="square" lIns="91440" tIns="45720" rIns="91440" bIns="45720" numCol="1" anchor="ctr" anchorCtr="0" compatLnSpc="1">
            <a:prstTxWarp prst="textNoShape"/>
            <a:spAutoFit/>
          </a:bodyPr>
          <a:lstStyle/>
          <a:p>
            <a:pPr marL="0" marR="0" lvl="0" indent="0" algn="l" defTabSz="914400" rtl="0">
              <a:lnSpc>
                <a:spcPct val="100000"/>
              </a:lnSpc>
              <a:spcBef>
                <a:spcPts val="0"/>
              </a:spcBef>
              <a:spcAft>
                <a:spcPts val="0"/>
              </a:spcAft>
              <a:buClrTx/>
              <a:buSzTx/>
              <a:buFontTx/>
              <a:buChar char="•"/>
              <a:defRPr/>
            </a:pPr>
            <a:r>
              <a:rPr lang="en-US" sz="3200" b="1" i="0" u="none" strike="noStrike" cap="none">
                <a:ln>
                  <a:noFill/>
                </a:ln>
                <a:solidFill>
                  <a:schemeClr val="tx1"/>
                </a:solidFill>
                <a:latin typeface="Arial"/>
              </a:rPr>
              <a:t>Separation of concerns:</a:t>
            </a:r>
            <a:r>
              <a:rPr lang="en-US" sz="3200" b="0" i="0" u="none" strike="noStrike" cap="none">
                <a:ln>
                  <a:noFill/>
                </a:ln>
                <a:solidFill>
                  <a:schemeClr val="tx1"/>
                </a:solidFill>
                <a:latin typeface="Arial"/>
              </a:rPr>
              <a:t> Frontend, backend, and database each live in isolated layers with no direct cross-exposure </a:t>
            </a:r>
            <a:endParaRPr/>
          </a:p>
          <a:p>
            <a:pPr marL="0" marR="0" lvl="0" indent="0" algn="l" defTabSz="914400" rtl="0">
              <a:lnSpc>
                <a:spcPct val="100000"/>
              </a:lnSpc>
              <a:spcBef>
                <a:spcPts val="0"/>
              </a:spcBef>
              <a:spcAft>
                <a:spcPts val="0"/>
              </a:spcAft>
              <a:buClrTx/>
              <a:buSzTx/>
              <a:buFontTx/>
              <a:buChar char="•"/>
              <a:defRPr/>
            </a:pPr>
            <a:r>
              <a:rPr lang="en-US" sz="3200" b="1" i="0" u="none" strike="noStrike" cap="none">
                <a:ln>
                  <a:noFill/>
                </a:ln>
                <a:solidFill>
                  <a:schemeClr val="tx1"/>
                </a:solidFill>
                <a:latin typeface="Arial"/>
              </a:rPr>
              <a:t>Host header overrides:</a:t>
            </a:r>
            <a:r>
              <a:rPr lang="en-US" sz="3200" b="0" i="0" u="none" strike="noStrike" cap="none">
                <a:ln>
                  <a:noFill/>
                </a:ln>
                <a:solidFill>
                  <a:schemeClr val="tx1"/>
                </a:solidFill>
                <a:latin typeface="Arial"/>
              </a:rPr>
              <a:t> Application Gateway sends the correct internal hostname in the </a:t>
            </a:r>
            <a:r>
              <a:rPr lang="en-US" sz="3200" b="0" i="0" u="none" strike="noStrike" cap="none">
                <a:ln>
                  <a:noFill/>
                </a:ln>
                <a:solidFill>
                  <a:schemeClr val="tx1"/>
                </a:solidFill>
                <a:latin typeface="Arial Unicode MS"/>
              </a:rPr>
              <a:t>Host</a:t>
            </a:r>
            <a:r>
              <a:rPr lang="en-US" sz="3200" b="0" i="0" u="none" strike="noStrike" cap="none">
                <a:ln>
                  <a:noFill/>
                </a:ln>
                <a:solidFill>
                  <a:schemeClr val="tx1"/>
                </a:solidFill>
              </a:rPr>
              <a:t> header so ACA ingress routes requests to the right container app</a:t>
            </a:r>
            <a:r>
              <a:rPr lang="en-US" sz="3200" b="0" i="0" u="none" strike="noStrike" cap="none">
                <a:ln>
                  <a:noFill/>
                </a:ln>
                <a:solidFill>
                  <a:schemeClr val="tx1"/>
                </a:solidFill>
                <a:latin typeface="Arial"/>
              </a:rPr>
              <a:t> </a:t>
            </a:r>
            <a:endParaRPr/>
          </a:p>
          <a:p>
            <a:pPr marL="0" marR="0" lvl="0" indent="0" algn="l" defTabSz="914400" rtl="0">
              <a:lnSpc>
                <a:spcPct val="100000"/>
              </a:lnSpc>
              <a:spcBef>
                <a:spcPts val="0"/>
              </a:spcBef>
              <a:spcAft>
                <a:spcPts val="0"/>
              </a:spcAft>
              <a:buClrTx/>
              <a:buSzTx/>
              <a:buFontTx/>
              <a:buChar char="•"/>
              <a:defRPr/>
            </a:pPr>
            <a:r>
              <a:rPr lang="en-US" sz="3200" b="1" i="0" u="none" strike="noStrike" cap="none">
                <a:ln>
                  <a:noFill/>
                </a:ln>
                <a:solidFill>
                  <a:schemeClr val="tx1"/>
                </a:solidFill>
                <a:latin typeface="Arial"/>
              </a:rPr>
              <a:t>Strict health probes:</a:t>
            </a:r>
            <a:r>
              <a:rPr lang="en-US" sz="3200" b="0" i="0" u="none" strike="noStrike" cap="none">
                <a:ln>
                  <a:noFill/>
                </a:ln>
                <a:solidFill>
                  <a:schemeClr val="tx1"/>
                </a:solidFill>
                <a:latin typeface="Arial"/>
              </a:rPr>
              <a:t> Custom probes target real valid paths (</a:t>
            </a:r>
            <a:r>
              <a:rPr lang="en-US" sz="3200" b="0" i="0" u="none" strike="noStrike" cap="none">
                <a:ln>
                  <a:noFill/>
                </a:ln>
                <a:solidFill>
                  <a:schemeClr val="tx1"/>
                </a:solidFill>
                <a:latin typeface="Arial Unicode MS"/>
              </a:rPr>
              <a:t>/index.html</a:t>
            </a:r>
            <a:r>
              <a:rPr lang="en-US" sz="3200" b="0" i="0" u="none" strike="noStrike" cap="none">
                <a:ln>
                  <a:noFill/>
                </a:ln>
                <a:solidFill>
                  <a:schemeClr val="tx1"/>
                </a:solidFill>
              </a:rPr>
              <a:t> for frontend, </a:t>
            </a:r>
            <a:r>
              <a:rPr lang="en-US" sz="3200" b="0" i="0" u="none" strike="noStrike" cap="none">
                <a:ln>
                  <a:noFill/>
                </a:ln>
                <a:solidFill>
                  <a:schemeClr val="tx1"/>
                </a:solidFill>
                <a:latin typeface="Arial Unicode MS"/>
              </a:rPr>
              <a:t>/health</a:t>
            </a:r>
            <a:r>
              <a:rPr lang="en-US" sz="3200" b="0" i="0" u="none" strike="noStrike" cap="none">
                <a:ln>
                  <a:noFill/>
                </a:ln>
                <a:solidFill>
                  <a:schemeClr val="tx1"/>
                </a:solidFill>
              </a:rPr>
              <a:t> for backend) so the gateway only routes to genuinely healthy backends</a:t>
            </a:r>
            <a:r>
              <a:rPr lang="en-US" sz="3200" b="0" i="0" u="none" strike="noStrike" cap="none">
                <a:ln>
                  <a:noFill/>
                </a:ln>
                <a:solidFill>
                  <a:schemeClr val="tx1"/>
                </a:solidFill>
                <a:latin typeface="Arial"/>
              </a:rPr>
              <a:t> </a:t>
            </a:r>
            <a:endParaRPr/>
          </a:p>
          <a:p>
            <a:pPr marL="0" marR="0" lvl="0" indent="0" algn="l" defTabSz="914400" rtl="0">
              <a:lnSpc>
                <a:spcPct val="100000"/>
              </a:lnSpc>
              <a:spcBef>
                <a:spcPts val="0"/>
              </a:spcBef>
              <a:spcAft>
                <a:spcPts val="0"/>
              </a:spcAft>
              <a:buClrTx/>
              <a:buSzTx/>
              <a:buFontTx/>
              <a:buChar char="•"/>
              <a:defRPr/>
            </a:pPr>
            <a:r>
              <a:rPr lang="en-US" sz="3200" b="1" i="0" u="none" strike="noStrike" cap="none">
                <a:ln>
                  <a:noFill/>
                </a:ln>
                <a:solidFill>
                  <a:schemeClr val="tx1"/>
                </a:solidFill>
                <a:latin typeface="Arial"/>
              </a:rPr>
              <a:t>HTTPS only:</a:t>
            </a:r>
            <a:r>
              <a:rPr lang="en-US" sz="3200" b="0" i="0" u="none" strike="noStrike" cap="none">
                <a:ln>
                  <a:noFill/>
                </a:ln>
                <a:solidFill>
                  <a:schemeClr val="tx1"/>
                </a:solidFill>
                <a:latin typeface="Arial"/>
              </a:rPr>
              <a:t> HTTP listener redirects all traffic to HTTPS; TLS terminates at the gateway </a:t>
            </a:r>
            <a:endParaRPr/>
          </a:p>
          <a:p>
            <a:pPr marL="0" marR="0" lvl="0" indent="0" algn="l" defTabSz="914400" rtl="0">
              <a:lnSpc>
                <a:spcPct val="100000"/>
              </a:lnSpc>
              <a:spcBef>
                <a:spcPts val="0"/>
              </a:spcBef>
              <a:spcAft>
                <a:spcPts val="0"/>
              </a:spcAft>
              <a:buClrTx/>
              <a:buSzTx/>
              <a:buFontTx/>
              <a:buChar char="•"/>
              <a:defRPr/>
            </a:pPr>
            <a:r>
              <a:rPr lang="en-US" sz="3200" b="1" i="0" u="none" strike="noStrike" cap="none">
                <a:ln>
                  <a:noFill/>
                </a:ln>
                <a:solidFill>
                  <a:schemeClr val="tx1"/>
                </a:solidFill>
                <a:latin typeface="Arial"/>
              </a:rPr>
              <a:t>Load testing:</a:t>
            </a:r>
            <a:r>
              <a:rPr lang="en-US" sz="3200" b="0" i="0" u="none" strike="noStrike" cap="none">
                <a:ln>
                  <a:noFill/>
                </a:ln>
                <a:solidFill>
                  <a:schemeClr val="tx1"/>
                </a:solidFill>
                <a:latin typeface="Arial"/>
              </a:rPr>
              <a:t> k6 scripts were written and executed to validate the system under simulated traffic </a:t>
            </a:r>
            <a:endParaRPr/>
          </a:p>
          <a:p>
            <a:pPr marL="0" marR="0" lvl="0" indent="0" algn="l" defTabSz="914400" rtl="0">
              <a:lnSpc>
                <a:spcPct val="100000"/>
              </a:lnSpc>
              <a:spcBef>
                <a:spcPts val="0"/>
              </a:spcBef>
              <a:spcAft>
                <a:spcPts val="0"/>
              </a:spcAft>
              <a:buClrTx/>
              <a:buSzTx/>
              <a:buFontTx/>
              <a:buChar char="•"/>
              <a:defRPr/>
            </a:pPr>
            <a:r>
              <a:rPr lang="en-US" sz="3200" b="1" i="0" u="none" strike="noStrike" cap="none">
                <a:ln>
                  <a:noFill/>
                </a:ln>
                <a:solidFill>
                  <a:schemeClr val="tx1"/>
                </a:solidFill>
                <a:latin typeface="Arial"/>
              </a:rPr>
              <a:t>Alerting:</a:t>
            </a:r>
            <a:r>
              <a:rPr lang="en-US" sz="3200" b="0" i="0" u="none" strike="noStrike" cap="none">
                <a:ln>
                  <a:noFill/>
                </a:ln>
                <a:solidFill>
                  <a:schemeClr val="tx1"/>
                </a:solidFill>
                <a:latin typeface="Arial"/>
              </a:rPr>
              <a:t> Azure Monitor alerts configured for key signals — backend error rates, gateway latency, unhealthy backend count, and more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925526209" name="Group 2"/>
          <p:cNvGrpSpPr/>
          <p:nvPr/>
        </p:nvGrpSpPr>
        <p:grpSpPr bwMode="auto">
          <a:xfrm>
            <a:off x="571929" y="2316385"/>
            <a:ext cx="4060717" cy="1471439"/>
            <a:chOff x="0" y="0"/>
            <a:chExt cx="5414289" cy="1961919"/>
          </a:xfrm>
        </p:grpSpPr>
        <p:sp>
          <p:nvSpPr>
            <p:cNvPr id="3" name="Freeform 3"/>
            <p:cNvSpPr/>
            <p:nvPr/>
          </p:nvSpPr>
          <p:spPr bwMode="auto">
            <a:xfrm>
              <a:off x="0" y="0"/>
              <a:ext cx="5414294" cy="1961922"/>
            </a:xfrm>
            <a:custGeom>
              <a:avLst/>
              <a:gdLst/>
              <a:ahLst/>
              <a:cxnLst/>
              <a:rect l="l" t="t" r="r" b="b"/>
              <a:pathLst>
                <a:path w="5414294" h="1961922" fill="norm" stroke="1" extrusionOk="0">
                  <a:moveTo>
                    <a:pt x="0" y="0"/>
                  </a:moveTo>
                  <a:lnTo>
                    <a:pt x="5414294" y="0"/>
                  </a:lnTo>
                  <a:lnTo>
                    <a:pt x="5414294" y="1961922"/>
                  </a:lnTo>
                  <a:lnTo>
                    <a:pt x="0" y="1961922"/>
                  </a:lnTo>
                  <a:close/>
                </a:path>
              </a:pathLst>
            </a:custGeom>
            <a:blipFill rotWithShape="1">
              <a:blip r:embed="rId3">
                <a:alphaModFix amt="0"/>
              </a:blip>
              <a:stretch>
                <a:fillRect l="0" t="-8100" r="0" b="555"/>
              </a:stretch>
            </a:blipFill>
          </p:spPr>
          <p:txBody>
            <a:bodyPr/>
            <a:lstStyle/>
            <a:p>
              <a:pPr>
                <a:defRPr/>
              </a:pPr>
              <a:endParaRPr lang="en-US"/>
            </a:p>
          </p:txBody>
        </p:sp>
        <p:sp>
          <p:nvSpPr>
            <p:cNvPr id="4" name="TextBox 4"/>
            <p:cNvSpPr txBox="1"/>
            <p:nvPr/>
          </p:nvSpPr>
          <p:spPr bwMode="auto">
            <a:xfrm>
              <a:off x="0" y="-57150"/>
              <a:ext cx="5414289" cy="2019069"/>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When Scaling Happens</a:t>
              </a:r>
              <a:endParaRPr/>
            </a:p>
          </p:txBody>
        </p:sp>
      </p:grpSp>
      <p:grpSp>
        <p:nvGrpSpPr>
          <p:cNvPr id="944635800" name="Group 5"/>
          <p:cNvGrpSpPr/>
          <p:nvPr/>
        </p:nvGrpSpPr>
        <p:grpSpPr bwMode="auto">
          <a:xfrm>
            <a:off x="571929" y="4232405"/>
            <a:ext cx="4060717" cy="1744437"/>
            <a:chOff x="0" y="0"/>
            <a:chExt cx="5414289" cy="2325916"/>
          </a:xfrm>
        </p:grpSpPr>
        <p:sp>
          <p:nvSpPr>
            <p:cNvPr id="6" name="Freeform 6"/>
            <p:cNvSpPr/>
            <p:nvPr/>
          </p:nvSpPr>
          <p:spPr bwMode="auto">
            <a:xfrm>
              <a:off x="0" y="0"/>
              <a:ext cx="5414264" cy="2325878"/>
            </a:xfrm>
            <a:custGeom>
              <a:avLst/>
              <a:gdLst/>
              <a:ahLst/>
              <a:cxnLst/>
              <a:rect l="l" t="t" r="r" b="b"/>
              <a:pathLst>
                <a:path w="5414264" h="2325878" fill="norm" stroke="1" extrusionOk="0">
                  <a:moveTo>
                    <a:pt x="0" y="0"/>
                  </a:moveTo>
                  <a:lnTo>
                    <a:pt x="5414264" y="0"/>
                  </a:lnTo>
                  <a:lnTo>
                    <a:pt x="5414264" y="2325878"/>
                  </a:lnTo>
                  <a:lnTo>
                    <a:pt x="0" y="2325878"/>
                  </a:lnTo>
                </a:path>
              </a:pathLst>
            </a:custGeom>
            <a:solidFill>
              <a:srgbClr val="F8F9FA"/>
            </a:solidFill>
          </p:spPr>
          <p:txBody>
            <a:bodyPr/>
            <a:lstStyle/>
            <a:p>
              <a:pPr>
                <a:defRPr/>
              </a:pPr>
              <a:endParaRPr lang="en-US"/>
            </a:p>
          </p:txBody>
        </p:sp>
      </p:grpSp>
      <p:grpSp>
        <p:nvGrpSpPr>
          <p:cNvPr id="68169710" name="Group 7"/>
          <p:cNvGrpSpPr/>
          <p:nvPr/>
        </p:nvGrpSpPr>
        <p:grpSpPr bwMode="auto">
          <a:xfrm rot="-5400000">
            <a:off x="-176365" y="4980698"/>
            <a:ext cx="1744437" cy="247840"/>
            <a:chOff x="0" y="0"/>
            <a:chExt cx="2325916" cy="330454"/>
          </a:xfrm>
        </p:grpSpPr>
        <p:sp>
          <p:nvSpPr>
            <p:cNvPr id="8" name="Freeform 8"/>
            <p:cNvSpPr/>
            <p:nvPr/>
          </p:nvSpPr>
          <p:spPr bwMode="auto">
            <a:xfrm>
              <a:off x="0" y="0"/>
              <a:ext cx="2325878" cy="330454"/>
            </a:xfrm>
            <a:custGeom>
              <a:avLst/>
              <a:gdLst/>
              <a:ahLst/>
              <a:cxnLst/>
              <a:rect l="l" t="t" r="r" b="b"/>
              <a:pathLst>
                <a:path w="2325878" h="330454" fill="norm" stroke="1" extrusionOk="0">
                  <a:moveTo>
                    <a:pt x="165227" y="0"/>
                  </a:moveTo>
                  <a:lnTo>
                    <a:pt x="2160651" y="0"/>
                  </a:lnTo>
                  <a:cubicBezTo>
                    <a:pt x="2251964" y="0"/>
                    <a:pt x="2325878" y="73914"/>
                    <a:pt x="2325878" y="165227"/>
                  </a:cubicBezTo>
                  <a:lnTo>
                    <a:pt x="2325878" y="330454"/>
                  </a:lnTo>
                  <a:lnTo>
                    <a:pt x="0" y="330454"/>
                  </a:lnTo>
                  <a:lnTo>
                    <a:pt x="0" y="165227"/>
                  </a:lnTo>
                  <a:cubicBezTo>
                    <a:pt x="0" y="73914"/>
                    <a:pt x="73914" y="0"/>
                    <a:pt x="165227" y="0"/>
                  </a:cubicBezTo>
                  <a:close/>
                </a:path>
              </a:pathLst>
            </a:custGeom>
            <a:solidFill>
              <a:srgbClr val="0078D4"/>
            </a:solidFill>
          </p:spPr>
          <p:txBody>
            <a:bodyPr/>
            <a:lstStyle/>
            <a:p>
              <a:pPr>
                <a:defRPr/>
              </a:pPr>
              <a:endParaRPr lang="en-US"/>
            </a:p>
          </p:txBody>
        </p:sp>
      </p:grpSp>
      <p:grpSp>
        <p:nvGrpSpPr>
          <p:cNvPr id="393631615" name="Group 9"/>
          <p:cNvGrpSpPr/>
          <p:nvPr/>
        </p:nvGrpSpPr>
        <p:grpSpPr bwMode="auto">
          <a:xfrm>
            <a:off x="1100971" y="4513801"/>
            <a:ext cx="3417294" cy="424054"/>
            <a:chOff x="0" y="0"/>
            <a:chExt cx="4556392" cy="565405"/>
          </a:xfrm>
        </p:grpSpPr>
        <p:sp>
          <p:nvSpPr>
            <p:cNvPr id="10" name="Freeform 10"/>
            <p:cNvSpPr/>
            <p:nvPr/>
          </p:nvSpPr>
          <p:spPr bwMode="auto">
            <a:xfrm>
              <a:off x="0" y="0"/>
              <a:ext cx="4556396" cy="565407"/>
            </a:xfrm>
            <a:custGeom>
              <a:avLst/>
              <a:gdLst/>
              <a:ahLst/>
              <a:cxnLst/>
              <a:rect l="l" t="t" r="r" b="b"/>
              <a:pathLst>
                <a:path w="4556396" h="565407" fill="norm" stroke="1" extrusionOk="0">
                  <a:moveTo>
                    <a:pt x="0" y="0"/>
                  </a:moveTo>
                  <a:lnTo>
                    <a:pt x="4556396" y="0"/>
                  </a:lnTo>
                  <a:lnTo>
                    <a:pt x="4556396" y="565407"/>
                  </a:lnTo>
                  <a:lnTo>
                    <a:pt x="0" y="565407"/>
                  </a:lnTo>
                  <a:close/>
                </a:path>
              </a:pathLst>
            </a:custGeom>
            <a:blipFill rotWithShape="1">
              <a:blip r:embed="rId3">
                <a:alphaModFix amt="0"/>
              </a:blip>
              <a:stretch>
                <a:fillRect l="0" t="-116559" r="0" b="-97483"/>
              </a:stretch>
            </a:blipFill>
          </p:spPr>
          <p:txBody>
            <a:bodyPr/>
            <a:lstStyle/>
            <a:p>
              <a:pPr>
                <a:defRPr/>
              </a:pPr>
              <a:endParaRPr lang="en-US"/>
            </a:p>
          </p:txBody>
        </p:sp>
        <p:sp>
          <p:nvSpPr>
            <p:cNvPr id="11" name="TextBox 11"/>
            <p:cNvSpPr txBox="1"/>
            <p:nvPr/>
          </p:nvSpPr>
          <p:spPr bwMode="auto">
            <a:xfrm>
              <a:off x="0" y="0"/>
              <a:ext cx="4556392" cy="565405"/>
            </a:xfrm>
            <a:prstGeom prst="rect">
              <a:avLst/>
            </a:prstGeom>
            <a:grpFill/>
          </p:spPr>
          <p:txBody>
            <a:bodyPr lIns="0" tIns="0" rIns="0" bIns="0" rtlCol="0" anchor="ctr"/>
            <a:lstStyle/>
            <a:p>
              <a:pPr algn="l">
                <a:lnSpc>
                  <a:spcPts val="1938"/>
                </a:lnSpc>
                <a:defRPr/>
              </a:pPr>
              <a:r>
                <a:rPr lang="en-US" sz="1600" b="1">
                  <a:solidFill>
                    <a:srgbClr val="0078D4"/>
                  </a:solidFill>
                  <a:latin typeface="Helvetica World Bold"/>
                  <a:ea typeface="Helvetica World Bold"/>
                  <a:cs typeface="Helvetica World Bold"/>
                </a:rPr>
                <a:t> </a:t>
              </a:r>
              <a:r>
                <a:rPr lang="en-US" sz="1600">
                  <a:solidFill>
                    <a:srgbClr val="000000"/>
                  </a:solidFill>
                  <a:latin typeface="Helvetica World"/>
                  <a:ea typeface="Helvetica World"/>
                  <a:cs typeface="Helvetica World"/>
                </a:rPr>
                <a:t>  </a:t>
              </a:r>
              <a:r>
                <a:rPr lang="en-US" sz="1600" b="1">
                  <a:solidFill>
                    <a:srgbClr val="0078D4"/>
                  </a:solidFill>
                  <a:latin typeface="Helvetica World Bold"/>
                  <a:ea typeface="Helvetica World Bold"/>
                  <a:cs typeface="Helvetica World Bold"/>
                </a:rPr>
                <a:t> Low Traffic </a:t>
              </a:r>
              <a:endParaRPr/>
            </a:p>
          </p:txBody>
        </p:sp>
      </p:grpSp>
      <p:grpSp>
        <p:nvGrpSpPr>
          <p:cNvPr id="537061279" name="Group 12"/>
          <p:cNvGrpSpPr/>
          <p:nvPr/>
        </p:nvGrpSpPr>
        <p:grpSpPr bwMode="auto">
          <a:xfrm>
            <a:off x="929391" y="4595593"/>
            <a:ext cx="343157" cy="188738"/>
            <a:chOff x="0" y="0"/>
            <a:chExt cx="457543" cy="251651"/>
          </a:xfrm>
        </p:grpSpPr>
        <p:sp>
          <p:nvSpPr>
            <p:cNvPr id="13" name="Freeform 13" descr="image.png"/>
            <p:cNvSpPr/>
            <p:nvPr/>
          </p:nvSpPr>
          <p:spPr bwMode="auto">
            <a:xfrm>
              <a:off x="0" y="0"/>
              <a:ext cx="457581" cy="251714"/>
            </a:xfrm>
            <a:custGeom>
              <a:avLst/>
              <a:gdLst/>
              <a:ahLst/>
              <a:cxnLst/>
              <a:rect l="l" t="t" r="r" b="b"/>
              <a:pathLst>
                <a:path w="457581" h="251714" fill="norm" stroke="1" extrusionOk="0">
                  <a:moveTo>
                    <a:pt x="0" y="0"/>
                  </a:moveTo>
                  <a:lnTo>
                    <a:pt x="457581" y="0"/>
                  </a:lnTo>
                  <a:lnTo>
                    <a:pt x="457581" y="251714"/>
                  </a:lnTo>
                  <a:lnTo>
                    <a:pt x="0" y="251714"/>
                  </a:lnTo>
                  <a:lnTo>
                    <a:pt x="0" y="0"/>
                  </a:lnTo>
                  <a:close/>
                </a:path>
              </a:pathLst>
            </a:custGeom>
            <a:blipFill rotWithShape="1">
              <a:blip r:embed="rId4"/>
              <a:stretch>
                <a:fillRect l="0" t="0" r="6" b="25"/>
              </a:stretch>
            </a:blipFill>
          </p:spPr>
          <p:txBody>
            <a:bodyPr/>
            <a:lstStyle/>
            <a:p>
              <a:pPr>
                <a:defRPr/>
              </a:pPr>
              <a:endParaRPr lang="en-US"/>
            </a:p>
          </p:txBody>
        </p:sp>
      </p:grpSp>
      <p:grpSp>
        <p:nvGrpSpPr>
          <p:cNvPr id="480896507" name="Group 14"/>
          <p:cNvGrpSpPr/>
          <p:nvPr/>
        </p:nvGrpSpPr>
        <p:grpSpPr bwMode="auto">
          <a:xfrm>
            <a:off x="929391" y="5004530"/>
            <a:ext cx="3417294" cy="686336"/>
            <a:chOff x="0" y="0"/>
            <a:chExt cx="4556392" cy="915115"/>
          </a:xfrm>
        </p:grpSpPr>
        <p:sp>
          <p:nvSpPr>
            <p:cNvPr id="15" name="Freeform 15"/>
            <p:cNvSpPr/>
            <p:nvPr/>
          </p:nvSpPr>
          <p:spPr bwMode="auto">
            <a:xfrm>
              <a:off x="0" y="0"/>
              <a:ext cx="4556396" cy="915119"/>
            </a:xfrm>
            <a:custGeom>
              <a:avLst/>
              <a:gdLst/>
              <a:ahLst/>
              <a:cxnLst/>
              <a:rect l="l" t="t" r="r" b="b"/>
              <a:pathLst>
                <a:path w="4556396" h="915119" fill="norm" stroke="1" extrusionOk="0">
                  <a:moveTo>
                    <a:pt x="0" y="0"/>
                  </a:moveTo>
                  <a:lnTo>
                    <a:pt x="4556396" y="0"/>
                  </a:lnTo>
                  <a:lnTo>
                    <a:pt x="4556396" y="915119"/>
                  </a:lnTo>
                  <a:lnTo>
                    <a:pt x="0" y="915119"/>
                  </a:lnTo>
                  <a:close/>
                </a:path>
              </a:pathLst>
            </a:custGeom>
            <a:blipFill rotWithShape="1">
              <a:blip r:embed="rId3">
                <a:alphaModFix amt="0"/>
              </a:blip>
              <a:stretch>
                <a:fillRect l="0" t="-47016" r="0" b="-47014"/>
              </a:stretch>
            </a:blipFill>
          </p:spPr>
          <p:txBody>
            <a:bodyPr/>
            <a:lstStyle/>
            <a:p>
              <a:pPr>
                <a:defRPr/>
              </a:pPr>
              <a:endParaRPr lang="en-US"/>
            </a:p>
          </p:txBody>
        </p:sp>
        <p:sp>
          <p:nvSpPr>
            <p:cNvPr id="16" name="TextBox 16"/>
            <p:cNvSpPr txBox="1"/>
            <p:nvPr/>
          </p:nvSpPr>
          <p:spPr bwMode="auto">
            <a:xfrm>
              <a:off x="0" y="-66675"/>
              <a:ext cx="4556392" cy="981790"/>
            </a:xfrm>
            <a:prstGeom prst="rect">
              <a:avLst/>
            </a:prstGeom>
            <a:grpFill/>
          </p:spPr>
          <p:txBody>
            <a:bodyPr lIns="0" tIns="0" rIns="0" bIns="0" rtlCol="0" anchor="ctr"/>
            <a:lstStyle/>
            <a:p>
              <a:pPr algn="l">
                <a:lnSpc>
                  <a:spcPts val="2341"/>
                </a:lnSpc>
                <a:defRPr/>
              </a:pPr>
              <a:r>
                <a:rPr lang="en-US" sz="1450">
                  <a:solidFill>
                    <a:srgbClr val="605E5C"/>
                  </a:solidFill>
                  <a:latin typeface="Helvetica World"/>
                  <a:ea typeface="Helvetica World"/>
                  <a:cs typeface="Helvetica World"/>
                </a:rPr>
                <a:t>Fewer replicas running to minimize cost</a:t>
              </a:r>
              <a:endParaRPr/>
            </a:p>
          </p:txBody>
        </p:sp>
      </p:grpSp>
      <p:grpSp>
        <p:nvGrpSpPr>
          <p:cNvPr id="632445931" name="Group 17"/>
          <p:cNvGrpSpPr/>
          <p:nvPr/>
        </p:nvGrpSpPr>
        <p:grpSpPr bwMode="auto">
          <a:xfrm>
            <a:off x="571929" y="6262821"/>
            <a:ext cx="4060717" cy="1744437"/>
            <a:chOff x="0" y="0"/>
            <a:chExt cx="5414289" cy="2325916"/>
          </a:xfrm>
        </p:grpSpPr>
        <p:sp>
          <p:nvSpPr>
            <p:cNvPr id="18" name="Freeform 18"/>
            <p:cNvSpPr/>
            <p:nvPr/>
          </p:nvSpPr>
          <p:spPr bwMode="auto">
            <a:xfrm>
              <a:off x="0" y="0"/>
              <a:ext cx="5414264" cy="2325878"/>
            </a:xfrm>
            <a:custGeom>
              <a:avLst/>
              <a:gdLst/>
              <a:ahLst/>
              <a:cxnLst/>
              <a:rect l="l" t="t" r="r" b="b"/>
              <a:pathLst>
                <a:path w="5414264" h="2325878" fill="norm" stroke="1" extrusionOk="0">
                  <a:moveTo>
                    <a:pt x="0" y="0"/>
                  </a:moveTo>
                  <a:lnTo>
                    <a:pt x="5414264" y="0"/>
                  </a:lnTo>
                  <a:lnTo>
                    <a:pt x="5414264" y="2325878"/>
                  </a:lnTo>
                  <a:lnTo>
                    <a:pt x="0" y="2325878"/>
                  </a:lnTo>
                </a:path>
              </a:pathLst>
            </a:custGeom>
            <a:solidFill>
              <a:srgbClr val="E6F4FF"/>
            </a:solidFill>
          </p:spPr>
          <p:txBody>
            <a:bodyPr/>
            <a:lstStyle/>
            <a:p>
              <a:pPr>
                <a:defRPr/>
              </a:pPr>
              <a:endParaRPr lang="en-US"/>
            </a:p>
          </p:txBody>
        </p:sp>
      </p:grpSp>
      <p:grpSp>
        <p:nvGrpSpPr>
          <p:cNvPr id="9086421" name="Group 19"/>
          <p:cNvGrpSpPr/>
          <p:nvPr/>
        </p:nvGrpSpPr>
        <p:grpSpPr bwMode="auto">
          <a:xfrm rot="-5400000">
            <a:off x="-176365" y="7011114"/>
            <a:ext cx="1744437" cy="247840"/>
            <a:chOff x="0" y="0"/>
            <a:chExt cx="2325916" cy="330454"/>
          </a:xfrm>
        </p:grpSpPr>
        <p:sp>
          <p:nvSpPr>
            <p:cNvPr id="20" name="Freeform 20"/>
            <p:cNvSpPr/>
            <p:nvPr/>
          </p:nvSpPr>
          <p:spPr bwMode="auto">
            <a:xfrm>
              <a:off x="0" y="0"/>
              <a:ext cx="2325878" cy="330454"/>
            </a:xfrm>
            <a:custGeom>
              <a:avLst/>
              <a:gdLst/>
              <a:ahLst/>
              <a:cxnLst/>
              <a:rect l="l" t="t" r="r" b="b"/>
              <a:pathLst>
                <a:path w="2325878" h="330454" fill="norm" stroke="1" extrusionOk="0">
                  <a:moveTo>
                    <a:pt x="165227" y="0"/>
                  </a:moveTo>
                  <a:lnTo>
                    <a:pt x="2160651" y="0"/>
                  </a:lnTo>
                  <a:cubicBezTo>
                    <a:pt x="2251964" y="0"/>
                    <a:pt x="2325878" y="73914"/>
                    <a:pt x="2325878" y="165227"/>
                  </a:cubicBezTo>
                  <a:lnTo>
                    <a:pt x="2325878" y="330454"/>
                  </a:lnTo>
                  <a:lnTo>
                    <a:pt x="0" y="330454"/>
                  </a:lnTo>
                  <a:lnTo>
                    <a:pt x="0" y="165227"/>
                  </a:lnTo>
                  <a:cubicBezTo>
                    <a:pt x="0" y="73914"/>
                    <a:pt x="73914" y="0"/>
                    <a:pt x="165227" y="0"/>
                  </a:cubicBezTo>
                  <a:close/>
                </a:path>
              </a:pathLst>
            </a:custGeom>
            <a:solidFill>
              <a:srgbClr val="003868"/>
            </a:solidFill>
          </p:spPr>
          <p:txBody>
            <a:bodyPr/>
            <a:lstStyle/>
            <a:p>
              <a:pPr>
                <a:defRPr/>
              </a:pPr>
              <a:endParaRPr lang="en-US"/>
            </a:p>
          </p:txBody>
        </p:sp>
      </p:grpSp>
      <p:grpSp>
        <p:nvGrpSpPr>
          <p:cNvPr id="1964101248" name="Group 21"/>
          <p:cNvGrpSpPr/>
          <p:nvPr/>
        </p:nvGrpSpPr>
        <p:grpSpPr bwMode="auto">
          <a:xfrm>
            <a:off x="1100971" y="6508342"/>
            <a:ext cx="3417294" cy="424054"/>
            <a:chOff x="0" y="0"/>
            <a:chExt cx="4556392" cy="565405"/>
          </a:xfrm>
        </p:grpSpPr>
        <p:sp>
          <p:nvSpPr>
            <p:cNvPr id="22" name="Freeform 22"/>
            <p:cNvSpPr/>
            <p:nvPr/>
          </p:nvSpPr>
          <p:spPr bwMode="auto">
            <a:xfrm>
              <a:off x="0" y="0"/>
              <a:ext cx="4556396" cy="565407"/>
            </a:xfrm>
            <a:custGeom>
              <a:avLst/>
              <a:gdLst/>
              <a:ahLst/>
              <a:cxnLst/>
              <a:rect l="l" t="t" r="r" b="b"/>
              <a:pathLst>
                <a:path w="4556396" h="565407" fill="norm" stroke="1" extrusionOk="0">
                  <a:moveTo>
                    <a:pt x="0" y="0"/>
                  </a:moveTo>
                  <a:lnTo>
                    <a:pt x="4556396" y="0"/>
                  </a:lnTo>
                  <a:lnTo>
                    <a:pt x="4556396" y="565407"/>
                  </a:lnTo>
                  <a:lnTo>
                    <a:pt x="0" y="565407"/>
                  </a:lnTo>
                  <a:close/>
                </a:path>
              </a:pathLst>
            </a:custGeom>
            <a:blipFill rotWithShape="1">
              <a:blip r:embed="rId3">
                <a:alphaModFix amt="0"/>
              </a:blip>
              <a:stretch>
                <a:fillRect l="0" t="-116559" r="0" b="-97483"/>
              </a:stretch>
            </a:blipFill>
          </p:spPr>
          <p:txBody>
            <a:bodyPr/>
            <a:lstStyle/>
            <a:p>
              <a:pPr>
                <a:defRPr/>
              </a:pPr>
              <a:endParaRPr lang="en-US"/>
            </a:p>
          </p:txBody>
        </p:sp>
        <p:sp>
          <p:nvSpPr>
            <p:cNvPr id="23" name="TextBox 23"/>
            <p:cNvSpPr txBox="1"/>
            <p:nvPr/>
          </p:nvSpPr>
          <p:spPr bwMode="auto">
            <a:xfrm>
              <a:off x="0" y="0"/>
              <a:ext cx="4556392" cy="565405"/>
            </a:xfrm>
            <a:prstGeom prst="rect">
              <a:avLst/>
            </a:prstGeom>
            <a:grpFill/>
          </p:spPr>
          <p:txBody>
            <a:bodyPr lIns="0" tIns="0" rIns="0" bIns="0" rtlCol="0" anchor="ctr"/>
            <a:lstStyle/>
            <a:p>
              <a:pPr algn="l">
                <a:lnSpc>
                  <a:spcPts val="1938"/>
                </a:lnSpc>
                <a:defRPr/>
              </a:pPr>
              <a:r>
                <a:rPr lang="en-US" sz="1600" b="1">
                  <a:solidFill>
                    <a:srgbClr val="0078D4"/>
                  </a:solidFill>
                  <a:latin typeface="Helvetica World Bold"/>
                  <a:ea typeface="Helvetica World Bold"/>
                  <a:cs typeface="Helvetica World Bold"/>
                </a:rPr>
                <a:t> </a:t>
              </a:r>
              <a:r>
                <a:rPr lang="en-US" sz="1600">
                  <a:solidFill>
                    <a:srgbClr val="000000"/>
                  </a:solidFill>
                  <a:latin typeface="Helvetica World"/>
                  <a:ea typeface="Helvetica World"/>
                  <a:cs typeface="Helvetica World"/>
                </a:rPr>
                <a:t>  </a:t>
              </a:r>
              <a:r>
                <a:rPr lang="en-US" sz="1600" b="1">
                  <a:solidFill>
                    <a:srgbClr val="0078D4"/>
                  </a:solidFill>
                  <a:latin typeface="Helvetica World Bold"/>
                  <a:ea typeface="Helvetica World Bold"/>
                  <a:cs typeface="Helvetica World Bold"/>
                </a:rPr>
                <a:t> High Traffic </a:t>
              </a:r>
              <a:endParaRPr/>
            </a:p>
          </p:txBody>
        </p:sp>
      </p:grpSp>
      <p:grpSp>
        <p:nvGrpSpPr>
          <p:cNvPr id="631434823" name="Group 24"/>
          <p:cNvGrpSpPr/>
          <p:nvPr/>
        </p:nvGrpSpPr>
        <p:grpSpPr bwMode="auto">
          <a:xfrm>
            <a:off x="929391" y="6626000"/>
            <a:ext cx="343157" cy="188738"/>
            <a:chOff x="0" y="0"/>
            <a:chExt cx="457543" cy="251651"/>
          </a:xfrm>
        </p:grpSpPr>
        <p:sp>
          <p:nvSpPr>
            <p:cNvPr id="25" name="Freeform 25" descr="image.png"/>
            <p:cNvSpPr/>
            <p:nvPr/>
          </p:nvSpPr>
          <p:spPr bwMode="auto">
            <a:xfrm>
              <a:off x="0" y="0"/>
              <a:ext cx="457581" cy="251714"/>
            </a:xfrm>
            <a:custGeom>
              <a:avLst/>
              <a:gdLst/>
              <a:ahLst/>
              <a:cxnLst/>
              <a:rect l="l" t="t" r="r" b="b"/>
              <a:pathLst>
                <a:path w="457581" h="251714" fill="norm" stroke="1" extrusionOk="0">
                  <a:moveTo>
                    <a:pt x="0" y="0"/>
                  </a:moveTo>
                  <a:lnTo>
                    <a:pt x="457581" y="0"/>
                  </a:lnTo>
                  <a:lnTo>
                    <a:pt x="457581" y="251714"/>
                  </a:lnTo>
                  <a:lnTo>
                    <a:pt x="0" y="251714"/>
                  </a:lnTo>
                  <a:lnTo>
                    <a:pt x="0" y="0"/>
                  </a:lnTo>
                  <a:close/>
                </a:path>
              </a:pathLst>
            </a:custGeom>
            <a:blipFill rotWithShape="1">
              <a:blip r:embed="rId5"/>
              <a:stretch>
                <a:fillRect l="0" t="0" r="6" b="25"/>
              </a:stretch>
            </a:blipFill>
          </p:spPr>
          <p:txBody>
            <a:bodyPr/>
            <a:lstStyle/>
            <a:p>
              <a:pPr>
                <a:defRPr/>
              </a:pPr>
              <a:endParaRPr lang="en-US"/>
            </a:p>
          </p:txBody>
        </p:sp>
      </p:grpSp>
      <p:grpSp>
        <p:nvGrpSpPr>
          <p:cNvPr id="1889849462" name="Group 26"/>
          <p:cNvGrpSpPr/>
          <p:nvPr/>
        </p:nvGrpSpPr>
        <p:grpSpPr bwMode="auto">
          <a:xfrm>
            <a:off x="929391" y="7034946"/>
            <a:ext cx="3417294" cy="686336"/>
            <a:chOff x="0" y="0"/>
            <a:chExt cx="4556392" cy="915115"/>
          </a:xfrm>
        </p:grpSpPr>
        <p:sp>
          <p:nvSpPr>
            <p:cNvPr id="27" name="Freeform 27"/>
            <p:cNvSpPr/>
            <p:nvPr/>
          </p:nvSpPr>
          <p:spPr bwMode="auto">
            <a:xfrm>
              <a:off x="0" y="0"/>
              <a:ext cx="4556396" cy="915119"/>
            </a:xfrm>
            <a:custGeom>
              <a:avLst/>
              <a:gdLst/>
              <a:ahLst/>
              <a:cxnLst/>
              <a:rect l="l" t="t" r="r" b="b"/>
              <a:pathLst>
                <a:path w="4556396" h="915119" fill="norm" stroke="1" extrusionOk="0">
                  <a:moveTo>
                    <a:pt x="0" y="0"/>
                  </a:moveTo>
                  <a:lnTo>
                    <a:pt x="4556396" y="0"/>
                  </a:lnTo>
                  <a:lnTo>
                    <a:pt x="4556396" y="915119"/>
                  </a:lnTo>
                  <a:lnTo>
                    <a:pt x="0" y="915119"/>
                  </a:lnTo>
                  <a:close/>
                </a:path>
              </a:pathLst>
            </a:custGeom>
            <a:blipFill rotWithShape="1">
              <a:blip r:embed="rId3">
                <a:alphaModFix amt="0"/>
              </a:blip>
              <a:stretch>
                <a:fillRect l="0" t="-47016" r="0" b="-47014"/>
              </a:stretch>
            </a:blipFill>
          </p:spPr>
          <p:txBody>
            <a:bodyPr/>
            <a:lstStyle/>
            <a:p>
              <a:pPr>
                <a:defRPr/>
              </a:pPr>
              <a:endParaRPr lang="en-US"/>
            </a:p>
          </p:txBody>
        </p:sp>
        <p:sp>
          <p:nvSpPr>
            <p:cNvPr id="28" name="TextBox 28"/>
            <p:cNvSpPr txBox="1"/>
            <p:nvPr/>
          </p:nvSpPr>
          <p:spPr bwMode="auto">
            <a:xfrm>
              <a:off x="0" y="-66675"/>
              <a:ext cx="4556392" cy="981790"/>
            </a:xfrm>
            <a:prstGeom prst="rect">
              <a:avLst/>
            </a:prstGeom>
            <a:grpFill/>
          </p:spPr>
          <p:txBody>
            <a:bodyPr lIns="0" tIns="0" rIns="0" bIns="0" rtlCol="0" anchor="ctr"/>
            <a:lstStyle/>
            <a:p>
              <a:pPr algn="l">
                <a:lnSpc>
                  <a:spcPts val="2341"/>
                </a:lnSpc>
                <a:defRPr/>
              </a:pPr>
              <a:r>
                <a:rPr lang="en-US" sz="1450">
                  <a:solidFill>
                    <a:srgbClr val="605E5C"/>
                  </a:solidFill>
                  <a:latin typeface="Helvetica World"/>
                  <a:ea typeface="Helvetica World"/>
                  <a:cs typeface="Helvetica World"/>
                </a:rPr>
                <a:t>More replicas auto-spawned to handle load</a:t>
              </a:r>
              <a:endParaRPr/>
            </a:p>
          </p:txBody>
        </p:sp>
      </p:grpSp>
      <p:grpSp>
        <p:nvGrpSpPr>
          <p:cNvPr id="313170951" name="Group 29"/>
          <p:cNvGrpSpPr/>
          <p:nvPr/>
        </p:nvGrpSpPr>
        <p:grpSpPr bwMode="auto">
          <a:xfrm>
            <a:off x="850749" y="8692730"/>
            <a:ext cx="3917737" cy="373482"/>
            <a:chOff x="0" y="0"/>
            <a:chExt cx="5223650" cy="497977"/>
          </a:xfrm>
        </p:grpSpPr>
        <p:sp>
          <p:nvSpPr>
            <p:cNvPr id="30" name="Freeform 30"/>
            <p:cNvSpPr/>
            <p:nvPr/>
          </p:nvSpPr>
          <p:spPr bwMode="auto">
            <a:xfrm>
              <a:off x="0" y="0"/>
              <a:ext cx="5223649" cy="497981"/>
            </a:xfrm>
            <a:custGeom>
              <a:avLst/>
              <a:gdLst/>
              <a:ahLst/>
              <a:cxnLst/>
              <a:rect l="l" t="t" r="r" b="b"/>
              <a:pathLst>
                <a:path w="5223649" h="497981" fill="norm" stroke="1" extrusionOk="0">
                  <a:moveTo>
                    <a:pt x="0" y="0"/>
                  </a:moveTo>
                  <a:lnTo>
                    <a:pt x="5223649" y="0"/>
                  </a:lnTo>
                  <a:lnTo>
                    <a:pt x="5223649" y="497981"/>
                  </a:lnTo>
                  <a:lnTo>
                    <a:pt x="0" y="497981"/>
                  </a:lnTo>
                  <a:close/>
                </a:path>
              </a:pathLst>
            </a:custGeom>
            <a:blipFill rotWithShape="1">
              <a:blip r:embed="rId3">
                <a:alphaModFix amt="0"/>
              </a:blip>
              <a:stretch>
                <a:fillRect l="0" t="-166107" r="0" b="-142675"/>
              </a:stretch>
            </a:blipFill>
          </p:spPr>
          <p:txBody>
            <a:bodyPr/>
            <a:lstStyle/>
            <a:p>
              <a:pPr>
                <a:defRPr/>
              </a:pPr>
              <a:endParaRPr lang="en-US"/>
            </a:p>
          </p:txBody>
        </p:sp>
        <p:sp>
          <p:nvSpPr>
            <p:cNvPr id="31" name="TextBox 31"/>
            <p:cNvSpPr txBox="1"/>
            <p:nvPr/>
          </p:nvSpPr>
          <p:spPr bwMode="auto">
            <a:xfrm>
              <a:off x="0" y="-9525"/>
              <a:ext cx="5223650" cy="507502"/>
            </a:xfrm>
            <a:prstGeom prst="rect">
              <a:avLst/>
            </a:prstGeom>
            <a:grpFill/>
          </p:spPr>
          <p:txBody>
            <a:bodyPr lIns="0" tIns="0" rIns="0" bIns="0" rtlCol="0" anchor="ctr"/>
            <a:lstStyle/>
            <a:p>
              <a:pPr algn="l">
                <a:lnSpc>
                  <a:spcPts val="1722"/>
                </a:lnSpc>
                <a:defRPr/>
              </a:pPr>
              <a:r>
                <a:rPr lang="en-US" sz="1450">
                  <a:solidFill>
                    <a:srgbClr val="323130"/>
                  </a:solidFill>
                  <a:latin typeface="Helvetica World"/>
                  <a:ea typeface="Helvetica World"/>
                  <a:cs typeface="Helvetica World"/>
                </a:rPr>
                <a:t> </a:t>
              </a:r>
              <a:r>
                <a:rPr lang="en-US" sz="1450">
                  <a:solidFill>
                    <a:srgbClr val="000000"/>
                  </a:solidFill>
                  <a:latin typeface="Helvetica World"/>
                  <a:ea typeface="Helvetica World"/>
                  <a:cs typeface="Helvetica World"/>
                </a:rPr>
                <a:t>  </a:t>
              </a:r>
              <a:r>
                <a:rPr lang="en-US" sz="1450">
                  <a:solidFill>
                    <a:srgbClr val="323130"/>
                  </a:solidFill>
                  <a:latin typeface="Helvetica World"/>
                  <a:ea typeface="Helvetica World"/>
                  <a:cs typeface="Helvetica World"/>
                </a:rPr>
                <a:t> </a:t>
              </a:r>
              <a:r>
                <a:rPr lang="en-US" sz="1450" b="1">
                  <a:solidFill>
                    <a:srgbClr val="323130"/>
                  </a:solidFill>
                  <a:latin typeface="Helvetica World Bold"/>
                  <a:ea typeface="Helvetica World Bold"/>
                  <a:cs typeface="Helvetica World Bold"/>
                </a:rPr>
                <a:t>Load Test:</a:t>
              </a:r>
              <a:r>
                <a:rPr lang="en-US" sz="1450">
                  <a:solidFill>
                    <a:srgbClr val="323130"/>
                  </a:solidFill>
                  <a:latin typeface="Helvetica World"/>
                  <a:ea typeface="Helvetica World"/>
                  <a:cs typeface="Helvetica World"/>
                </a:rPr>
                <a:t> Triggered scale-out </a:t>
              </a:r>
              <a:endParaRPr/>
            </a:p>
          </p:txBody>
        </p:sp>
      </p:grpSp>
      <p:grpSp>
        <p:nvGrpSpPr>
          <p:cNvPr id="767753357" name="Group 32"/>
          <p:cNvGrpSpPr/>
          <p:nvPr/>
        </p:nvGrpSpPr>
        <p:grpSpPr bwMode="auto">
          <a:xfrm>
            <a:off x="714918" y="8783993"/>
            <a:ext cx="257366" cy="190957"/>
            <a:chOff x="0" y="0"/>
            <a:chExt cx="343154" cy="254610"/>
          </a:xfrm>
        </p:grpSpPr>
        <p:sp>
          <p:nvSpPr>
            <p:cNvPr id="33" name="Freeform 33" descr="image.png"/>
            <p:cNvSpPr/>
            <p:nvPr/>
          </p:nvSpPr>
          <p:spPr bwMode="auto">
            <a:xfrm>
              <a:off x="0" y="0"/>
              <a:ext cx="343154" cy="254635"/>
            </a:xfrm>
            <a:custGeom>
              <a:avLst/>
              <a:gdLst/>
              <a:ahLst/>
              <a:cxnLst/>
              <a:rect l="l" t="t" r="r" b="b"/>
              <a:pathLst>
                <a:path w="343154" h="254635" fill="norm" stroke="1" extrusionOk="0">
                  <a:moveTo>
                    <a:pt x="0" y="0"/>
                  </a:moveTo>
                  <a:lnTo>
                    <a:pt x="343154" y="0"/>
                  </a:lnTo>
                  <a:lnTo>
                    <a:pt x="343154" y="254635"/>
                  </a:lnTo>
                  <a:lnTo>
                    <a:pt x="0" y="254635"/>
                  </a:lnTo>
                  <a:lnTo>
                    <a:pt x="0" y="0"/>
                  </a:lnTo>
                  <a:close/>
                </a:path>
              </a:pathLst>
            </a:custGeom>
            <a:blipFill rotWithShape="1">
              <a:blip r:embed="rId6"/>
              <a:stretch>
                <a:fillRect l="-1" t="0" r="-1" b="9"/>
              </a:stretch>
            </a:blipFill>
          </p:spPr>
          <p:txBody>
            <a:bodyPr/>
            <a:lstStyle/>
            <a:p>
              <a:pPr>
                <a:defRPr/>
              </a:pPr>
              <a:endParaRPr lang="en-US"/>
            </a:p>
          </p:txBody>
        </p:sp>
      </p:grpSp>
      <p:grpSp>
        <p:nvGrpSpPr>
          <p:cNvPr id="609595463" name="Group 34"/>
          <p:cNvGrpSpPr/>
          <p:nvPr/>
        </p:nvGrpSpPr>
        <p:grpSpPr bwMode="auto">
          <a:xfrm>
            <a:off x="819774" y="9132888"/>
            <a:ext cx="3917737" cy="373482"/>
            <a:chOff x="0" y="0"/>
            <a:chExt cx="5223650" cy="497977"/>
          </a:xfrm>
        </p:grpSpPr>
        <p:sp>
          <p:nvSpPr>
            <p:cNvPr id="35" name="Freeform 35"/>
            <p:cNvSpPr/>
            <p:nvPr/>
          </p:nvSpPr>
          <p:spPr bwMode="auto">
            <a:xfrm>
              <a:off x="0" y="0"/>
              <a:ext cx="5223649" cy="497981"/>
            </a:xfrm>
            <a:custGeom>
              <a:avLst/>
              <a:gdLst/>
              <a:ahLst/>
              <a:cxnLst/>
              <a:rect l="l" t="t" r="r" b="b"/>
              <a:pathLst>
                <a:path w="5223649" h="497981" fill="norm" stroke="1" extrusionOk="0">
                  <a:moveTo>
                    <a:pt x="0" y="0"/>
                  </a:moveTo>
                  <a:lnTo>
                    <a:pt x="5223649" y="0"/>
                  </a:lnTo>
                  <a:lnTo>
                    <a:pt x="5223649" y="497981"/>
                  </a:lnTo>
                  <a:lnTo>
                    <a:pt x="0" y="497981"/>
                  </a:lnTo>
                  <a:close/>
                </a:path>
              </a:pathLst>
            </a:custGeom>
            <a:blipFill rotWithShape="1">
              <a:blip r:embed="rId3">
                <a:alphaModFix amt="0"/>
              </a:blip>
              <a:stretch>
                <a:fillRect l="0" t="-166107" r="0" b="-142675"/>
              </a:stretch>
            </a:blipFill>
          </p:spPr>
          <p:txBody>
            <a:bodyPr/>
            <a:lstStyle/>
            <a:p>
              <a:pPr>
                <a:defRPr/>
              </a:pPr>
              <a:endParaRPr lang="en-US"/>
            </a:p>
          </p:txBody>
        </p:sp>
        <p:sp>
          <p:nvSpPr>
            <p:cNvPr id="36" name="TextBox 36"/>
            <p:cNvSpPr txBox="1"/>
            <p:nvPr/>
          </p:nvSpPr>
          <p:spPr bwMode="auto">
            <a:xfrm>
              <a:off x="0" y="-9525"/>
              <a:ext cx="5223650" cy="507502"/>
            </a:xfrm>
            <a:prstGeom prst="rect">
              <a:avLst/>
            </a:prstGeom>
            <a:grpFill/>
          </p:spPr>
          <p:txBody>
            <a:bodyPr lIns="0" tIns="0" rIns="0" bIns="0" rtlCol="0" anchor="ctr"/>
            <a:lstStyle/>
            <a:p>
              <a:pPr algn="l">
                <a:lnSpc>
                  <a:spcPts val="1722"/>
                </a:lnSpc>
                <a:defRPr/>
              </a:pPr>
              <a:r>
                <a:rPr lang="en-US" sz="1450">
                  <a:solidFill>
                    <a:srgbClr val="323130"/>
                  </a:solidFill>
                  <a:latin typeface="Helvetica World"/>
                  <a:ea typeface="Helvetica World"/>
                  <a:cs typeface="Helvetica World"/>
                </a:rPr>
                <a:t> </a:t>
              </a:r>
              <a:r>
                <a:rPr lang="en-US" sz="1450">
                  <a:solidFill>
                    <a:srgbClr val="000000"/>
                  </a:solidFill>
                  <a:latin typeface="Helvetica World"/>
                  <a:ea typeface="Helvetica World"/>
                  <a:cs typeface="Helvetica World"/>
                </a:rPr>
                <a:t>  </a:t>
              </a:r>
              <a:r>
                <a:rPr lang="en-US" sz="1450">
                  <a:solidFill>
                    <a:srgbClr val="323130"/>
                  </a:solidFill>
                  <a:latin typeface="Helvetica World"/>
                  <a:ea typeface="Helvetica World"/>
                  <a:cs typeface="Helvetica World"/>
                </a:rPr>
                <a:t> </a:t>
              </a:r>
              <a:r>
                <a:rPr lang="en-US" sz="1450" b="1">
                  <a:solidFill>
                    <a:srgbClr val="323130"/>
                  </a:solidFill>
                  <a:latin typeface="Helvetica World Bold"/>
                  <a:ea typeface="Helvetica World Bold"/>
                  <a:cs typeface="Helvetica World Bold"/>
                </a:rPr>
                <a:t>Traffic Drop:</a:t>
              </a:r>
              <a:r>
                <a:rPr lang="en-US" sz="1450">
                  <a:solidFill>
                    <a:srgbClr val="323130"/>
                  </a:solidFill>
                  <a:latin typeface="Helvetica World"/>
                  <a:ea typeface="Helvetica World"/>
                  <a:cs typeface="Helvetica World"/>
                </a:rPr>
                <a:t> Triggered scale-in </a:t>
              </a:r>
              <a:endParaRPr/>
            </a:p>
          </p:txBody>
        </p:sp>
      </p:grpSp>
      <p:grpSp>
        <p:nvGrpSpPr>
          <p:cNvPr id="1429760106" name="Group 37"/>
          <p:cNvGrpSpPr/>
          <p:nvPr/>
        </p:nvGrpSpPr>
        <p:grpSpPr bwMode="auto">
          <a:xfrm>
            <a:off x="714918" y="9184357"/>
            <a:ext cx="257366" cy="190957"/>
            <a:chOff x="0" y="0"/>
            <a:chExt cx="343154" cy="254610"/>
          </a:xfrm>
        </p:grpSpPr>
        <p:sp>
          <p:nvSpPr>
            <p:cNvPr id="38" name="Freeform 38" descr="image.png"/>
            <p:cNvSpPr/>
            <p:nvPr/>
          </p:nvSpPr>
          <p:spPr bwMode="auto">
            <a:xfrm>
              <a:off x="0" y="0"/>
              <a:ext cx="343154" cy="254635"/>
            </a:xfrm>
            <a:custGeom>
              <a:avLst/>
              <a:gdLst/>
              <a:ahLst/>
              <a:cxnLst/>
              <a:rect l="l" t="t" r="r" b="b"/>
              <a:pathLst>
                <a:path w="343154" h="254635" fill="norm" stroke="1" extrusionOk="0">
                  <a:moveTo>
                    <a:pt x="0" y="0"/>
                  </a:moveTo>
                  <a:lnTo>
                    <a:pt x="343154" y="0"/>
                  </a:lnTo>
                  <a:lnTo>
                    <a:pt x="343154" y="254635"/>
                  </a:lnTo>
                  <a:lnTo>
                    <a:pt x="0" y="254635"/>
                  </a:lnTo>
                  <a:lnTo>
                    <a:pt x="0" y="0"/>
                  </a:lnTo>
                  <a:close/>
                </a:path>
              </a:pathLst>
            </a:custGeom>
            <a:blipFill rotWithShape="1">
              <a:blip r:embed="rId6"/>
              <a:stretch>
                <a:fillRect l="-1" t="0" r="-1" b="9"/>
              </a:stretch>
            </a:blipFill>
          </p:spPr>
          <p:txBody>
            <a:bodyPr/>
            <a:lstStyle/>
            <a:p>
              <a:pPr>
                <a:defRPr/>
              </a:pPr>
              <a:endParaRPr lang="en-US"/>
            </a:p>
          </p:txBody>
        </p:sp>
      </p:grpSp>
      <p:grpSp>
        <p:nvGrpSpPr>
          <p:cNvPr id="2086157982" name="Group 39"/>
          <p:cNvGrpSpPr/>
          <p:nvPr/>
        </p:nvGrpSpPr>
        <p:grpSpPr bwMode="auto">
          <a:xfrm>
            <a:off x="5068124" y="1912001"/>
            <a:ext cx="12056134" cy="3946430"/>
            <a:chOff x="0" y="0"/>
            <a:chExt cx="16074846" cy="5261908"/>
          </a:xfrm>
        </p:grpSpPr>
        <p:sp>
          <p:nvSpPr>
            <p:cNvPr id="40" name="Freeform 40"/>
            <p:cNvSpPr/>
            <p:nvPr/>
          </p:nvSpPr>
          <p:spPr bwMode="auto">
            <a:xfrm>
              <a:off x="35996" y="8411"/>
              <a:ext cx="16002603" cy="5245053"/>
            </a:xfrm>
            <a:custGeom>
              <a:avLst/>
              <a:gdLst/>
              <a:ahLst/>
              <a:cxnLst/>
              <a:rect l="l" t="t" r="r" b="b"/>
              <a:pathLst>
                <a:path w="16002603" h="5245053" fill="norm" stroke="1" extrusionOk="0">
                  <a:moveTo>
                    <a:pt x="0" y="155612"/>
                  </a:moveTo>
                  <a:cubicBezTo>
                    <a:pt x="0" y="69686"/>
                    <a:pt x="297663" y="0"/>
                    <a:pt x="664826" y="0"/>
                  </a:cubicBezTo>
                  <a:lnTo>
                    <a:pt x="15337779" y="0"/>
                  </a:lnTo>
                  <a:cubicBezTo>
                    <a:pt x="15704941" y="0"/>
                    <a:pt x="16002603" y="69621"/>
                    <a:pt x="16002603" y="155547"/>
                  </a:cubicBezTo>
                  <a:lnTo>
                    <a:pt x="16002603" y="5089507"/>
                  </a:lnTo>
                  <a:cubicBezTo>
                    <a:pt x="16002603" y="5175433"/>
                    <a:pt x="15704941" y="5245054"/>
                    <a:pt x="15337779" y="5245054"/>
                  </a:cubicBezTo>
                  <a:lnTo>
                    <a:pt x="664826" y="5245054"/>
                  </a:lnTo>
                  <a:cubicBezTo>
                    <a:pt x="297663" y="5245054"/>
                    <a:pt x="0" y="5175433"/>
                    <a:pt x="0" y="5089507"/>
                  </a:cubicBezTo>
                  <a:close/>
                </a:path>
              </a:pathLst>
            </a:custGeom>
            <a:blipFill rotWithShape="1">
              <a:blip r:embed="rId7"/>
              <a:stretch>
                <a:fillRect l="0" t="-1676" r="0" b="-1676"/>
              </a:stretch>
            </a:blipFill>
          </p:spPr>
          <p:txBody>
            <a:bodyPr/>
            <a:lstStyle/>
            <a:p>
              <a:pPr>
                <a:defRPr/>
              </a:pPr>
              <a:endParaRPr lang="en-US"/>
            </a:p>
          </p:txBody>
        </p:sp>
        <p:sp>
          <p:nvSpPr>
            <p:cNvPr id="41" name="Freeform 41"/>
            <p:cNvSpPr/>
            <p:nvPr/>
          </p:nvSpPr>
          <p:spPr bwMode="auto">
            <a:xfrm>
              <a:off x="0" y="0"/>
              <a:ext cx="16074596" cy="5261972"/>
            </a:xfrm>
            <a:custGeom>
              <a:avLst/>
              <a:gdLst/>
              <a:ahLst/>
              <a:cxnLst/>
              <a:rect l="l" t="t" r="r" b="b"/>
              <a:pathLst>
                <a:path w="16074596" h="5261972" fill="norm" stroke="1" extrusionOk="0">
                  <a:moveTo>
                    <a:pt x="0" y="164023"/>
                  </a:moveTo>
                  <a:cubicBezTo>
                    <a:pt x="0" y="73438"/>
                    <a:pt x="313722" y="0"/>
                    <a:pt x="700822" y="0"/>
                  </a:cubicBezTo>
                  <a:lnTo>
                    <a:pt x="15373775" y="0"/>
                  </a:lnTo>
                  <a:lnTo>
                    <a:pt x="15373775" y="8411"/>
                  </a:lnTo>
                  <a:lnTo>
                    <a:pt x="15373775" y="0"/>
                  </a:lnTo>
                  <a:cubicBezTo>
                    <a:pt x="15760874" y="0"/>
                    <a:pt x="16074596" y="73438"/>
                    <a:pt x="16074596" y="164023"/>
                  </a:cubicBezTo>
                  <a:lnTo>
                    <a:pt x="16038599" y="164023"/>
                  </a:lnTo>
                  <a:lnTo>
                    <a:pt x="16074596" y="164023"/>
                  </a:lnTo>
                  <a:lnTo>
                    <a:pt x="16074596" y="5097918"/>
                  </a:lnTo>
                  <a:lnTo>
                    <a:pt x="16038599" y="5097918"/>
                  </a:lnTo>
                  <a:lnTo>
                    <a:pt x="16074596" y="5097918"/>
                  </a:lnTo>
                  <a:cubicBezTo>
                    <a:pt x="16074596" y="5188503"/>
                    <a:pt x="15760874" y="5261972"/>
                    <a:pt x="15373775" y="5261972"/>
                  </a:cubicBezTo>
                  <a:lnTo>
                    <a:pt x="15373775" y="5253529"/>
                  </a:lnTo>
                  <a:lnTo>
                    <a:pt x="15373775" y="5261972"/>
                  </a:lnTo>
                  <a:lnTo>
                    <a:pt x="700822" y="5261972"/>
                  </a:lnTo>
                  <a:lnTo>
                    <a:pt x="700822" y="5253529"/>
                  </a:lnTo>
                  <a:lnTo>
                    <a:pt x="700822" y="5261972"/>
                  </a:lnTo>
                  <a:cubicBezTo>
                    <a:pt x="313722" y="5261972"/>
                    <a:pt x="0" y="5188503"/>
                    <a:pt x="0" y="5097918"/>
                  </a:cubicBezTo>
                  <a:lnTo>
                    <a:pt x="0" y="164023"/>
                  </a:lnTo>
                  <a:lnTo>
                    <a:pt x="35996" y="164023"/>
                  </a:lnTo>
                  <a:lnTo>
                    <a:pt x="0" y="164023"/>
                  </a:lnTo>
                  <a:moveTo>
                    <a:pt x="71993" y="164023"/>
                  </a:moveTo>
                  <a:lnTo>
                    <a:pt x="71993" y="5097918"/>
                  </a:lnTo>
                  <a:lnTo>
                    <a:pt x="35996" y="5097918"/>
                  </a:lnTo>
                  <a:lnTo>
                    <a:pt x="71993" y="5097918"/>
                  </a:lnTo>
                  <a:cubicBezTo>
                    <a:pt x="71993" y="5179185"/>
                    <a:pt x="353595" y="5245053"/>
                    <a:pt x="700822" y="5245053"/>
                  </a:cubicBezTo>
                  <a:lnTo>
                    <a:pt x="15373775" y="5245053"/>
                  </a:lnTo>
                  <a:cubicBezTo>
                    <a:pt x="15721000" y="5245053"/>
                    <a:pt x="16002603" y="5179185"/>
                    <a:pt x="16002603" y="5097918"/>
                  </a:cubicBezTo>
                  <a:lnTo>
                    <a:pt x="16002603" y="164023"/>
                  </a:lnTo>
                  <a:cubicBezTo>
                    <a:pt x="16002603" y="82756"/>
                    <a:pt x="15721000" y="16888"/>
                    <a:pt x="15373775" y="16888"/>
                  </a:cubicBezTo>
                  <a:lnTo>
                    <a:pt x="700822" y="16888"/>
                  </a:lnTo>
                  <a:lnTo>
                    <a:pt x="700822" y="8411"/>
                  </a:lnTo>
                  <a:lnTo>
                    <a:pt x="700822" y="16823"/>
                  </a:lnTo>
                  <a:cubicBezTo>
                    <a:pt x="353595" y="16823"/>
                    <a:pt x="71993" y="82691"/>
                    <a:pt x="71993" y="164023"/>
                  </a:cubicBezTo>
                  <a:close/>
                </a:path>
              </a:pathLst>
            </a:custGeom>
            <a:solidFill>
              <a:srgbClr val="BDBDBD"/>
            </a:solidFill>
          </p:spPr>
          <p:txBody>
            <a:bodyPr/>
            <a:lstStyle/>
            <a:p>
              <a:pPr>
                <a:defRPr/>
              </a:pPr>
              <a:endParaRPr lang="en-US"/>
            </a:p>
          </p:txBody>
        </p:sp>
      </p:grpSp>
      <p:grpSp>
        <p:nvGrpSpPr>
          <p:cNvPr id="1505072553" name="Group 42"/>
          <p:cNvGrpSpPr/>
          <p:nvPr/>
        </p:nvGrpSpPr>
        <p:grpSpPr bwMode="auto">
          <a:xfrm>
            <a:off x="5068124" y="6034042"/>
            <a:ext cx="12056134" cy="3946430"/>
            <a:chOff x="0" y="0"/>
            <a:chExt cx="16074846" cy="5261908"/>
          </a:xfrm>
        </p:grpSpPr>
        <p:sp>
          <p:nvSpPr>
            <p:cNvPr id="43" name="Freeform 43"/>
            <p:cNvSpPr/>
            <p:nvPr/>
          </p:nvSpPr>
          <p:spPr bwMode="auto">
            <a:xfrm>
              <a:off x="35996" y="8411"/>
              <a:ext cx="16002603" cy="5245053"/>
            </a:xfrm>
            <a:custGeom>
              <a:avLst/>
              <a:gdLst/>
              <a:ahLst/>
              <a:cxnLst/>
              <a:rect l="l" t="t" r="r" b="b"/>
              <a:pathLst>
                <a:path w="16002603" h="5245053" fill="norm" stroke="1" extrusionOk="0">
                  <a:moveTo>
                    <a:pt x="0" y="155612"/>
                  </a:moveTo>
                  <a:cubicBezTo>
                    <a:pt x="0" y="69686"/>
                    <a:pt x="297663" y="0"/>
                    <a:pt x="664826" y="0"/>
                  </a:cubicBezTo>
                  <a:lnTo>
                    <a:pt x="15337779" y="0"/>
                  </a:lnTo>
                  <a:cubicBezTo>
                    <a:pt x="15704941" y="0"/>
                    <a:pt x="16002603" y="69621"/>
                    <a:pt x="16002603" y="155547"/>
                  </a:cubicBezTo>
                  <a:lnTo>
                    <a:pt x="16002603" y="5089507"/>
                  </a:lnTo>
                  <a:cubicBezTo>
                    <a:pt x="16002603" y="5175433"/>
                    <a:pt x="15704941" y="5245054"/>
                    <a:pt x="15337779" y="5245054"/>
                  </a:cubicBezTo>
                  <a:lnTo>
                    <a:pt x="664826" y="5245054"/>
                  </a:lnTo>
                  <a:cubicBezTo>
                    <a:pt x="297663" y="5245054"/>
                    <a:pt x="0" y="5175433"/>
                    <a:pt x="0" y="5089507"/>
                  </a:cubicBezTo>
                  <a:close/>
                </a:path>
              </a:pathLst>
            </a:custGeom>
            <a:blipFill rotWithShape="1">
              <a:blip r:embed="rId8"/>
              <a:stretch>
                <a:fillRect l="0" t="-1866" r="0" b="-1865"/>
              </a:stretch>
            </a:blipFill>
          </p:spPr>
          <p:txBody>
            <a:bodyPr/>
            <a:lstStyle/>
            <a:p>
              <a:pPr>
                <a:defRPr/>
              </a:pPr>
              <a:endParaRPr lang="en-US"/>
            </a:p>
          </p:txBody>
        </p:sp>
        <p:sp>
          <p:nvSpPr>
            <p:cNvPr id="44" name="Freeform 44"/>
            <p:cNvSpPr/>
            <p:nvPr/>
          </p:nvSpPr>
          <p:spPr bwMode="auto">
            <a:xfrm>
              <a:off x="0" y="0"/>
              <a:ext cx="16074596" cy="5261972"/>
            </a:xfrm>
            <a:custGeom>
              <a:avLst/>
              <a:gdLst/>
              <a:ahLst/>
              <a:cxnLst/>
              <a:rect l="l" t="t" r="r" b="b"/>
              <a:pathLst>
                <a:path w="16074596" h="5261972" fill="norm" stroke="1" extrusionOk="0">
                  <a:moveTo>
                    <a:pt x="0" y="164023"/>
                  </a:moveTo>
                  <a:cubicBezTo>
                    <a:pt x="0" y="73438"/>
                    <a:pt x="313722" y="0"/>
                    <a:pt x="700822" y="0"/>
                  </a:cubicBezTo>
                  <a:lnTo>
                    <a:pt x="15373775" y="0"/>
                  </a:lnTo>
                  <a:lnTo>
                    <a:pt x="15373775" y="8411"/>
                  </a:lnTo>
                  <a:lnTo>
                    <a:pt x="15373775" y="0"/>
                  </a:lnTo>
                  <a:cubicBezTo>
                    <a:pt x="15760874" y="0"/>
                    <a:pt x="16074596" y="73438"/>
                    <a:pt x="16074596" y="164023"/>
                  </a:cubicBezTo>
                  <a:lnTo>
                    <a:pt x="16038599" y="164023"/>
                  </a:lnTo>
                  <a:lnTo>
                    <a:pt x="16074596" y="164023"/>
                  </a:lnTo>
                  <a:lnTo>
                    <a:pt x="16074596" y="5097918"/>
                  </a:lnTo>
                  <a:lnTo>
                    <a:pt x="16038599" y="5097918"/>
                  </a:lnTo>
                  <a:lnTo>
                    <a:pt x="16074596" y="5097918"/>
                  </a:lnTo>
                  <a:cubicBezTo>
                    <a:pt x="16074596" y="5188503"/>
                    <a:pt x="15760874" y="5261972"/>
                    <a:pt x="15373775" y="5261972"/>
                  </a:cubicBezTo>
                  <a:lnTo>
                    <a:pt x="15373775" y="5253529"/>
                  </a:lnTo>
                  <a:lnTo>
                    <a:pt x="15373775" y="5261972"/>
                  </a:lnTo>
                  <a:lnTo>
                    <a:pt x="700822" y="5261972"/>
                  </a:lnTo>
                  <a:lnTo>
                    <a:pt x="700822" y="5253529"/>
                  </a:lnTo>
                  <a:lnTo>
                    <a:pt x="700822" y="5261972"/>
                  </a:lnTo>
                  <a:cubicBezTo>
                    <a:pt x="313722" y="5261972"/>
                    <a:pt x="0" y="5188503"/>
                    <a:pt x="0" y="5097918"/>
                  </a:cubicBezTo>
                  <a:lnTo>
                    <a:pt x="0" y="164023"/>
                  </a:lnTo>
                  <a:lnTo>
                    <a:pt x="35996" y="164023"/>
                  </a:lnTo>
                  <a:lnTo>
                    <a:pt x="0" y="164023"/>
                  </a:lnTo>
                  <a:moveTo>
                    <a:pt x="71993" y="164023"/>
                  </a:moveTo>
                  <a:lnTo>
                    <a:pt x="71993" y="5097918"/>
                  </a:lnTo>
                  <a:lnTo>
                    <a:pt x="35996" y="5097918"/>
                  </a:lnTo>
                  <a:lnTo>
                    <a:pt x="71993" y="5097918"/>
                  </a:lnTo>
                  <a:cubicBezTo>
                    <a:pt x="71993" y="5179185"/>
                    <a:pt x="353595" y="5245053"/>
                    <a:pt x="700822" y="5245053"/>
                  </a:cubicBezTo>
                  <a:lnTo>
                    <a:pt x="15373775" y="5245053"/>
                  </a:lnTo>
                  <a:cubicBezTo>
                    <a:pt x="15721000" y="5245053"/>
                    <a:pt x="16002603" y="5179185"/>
                    <a:pt x="16002603" y="5097918"/>
                  </a:cubicBezTo>
                  <a:lnTo>
                    <a:pt x="16002603" y="164023"/>
                  </a:lnTo>
                  <a:cubicBezTo>
                    <a:pt x="16002603" y="82756"/>
                    <a:pt x="15721000" y="16888"/>
                    <a:pt x="15373775" y="16888"/>
                  </a:cubicBezTo>
                  <a:lnTo>
                    <a:pt x="700822" y="16888"/>
                  </a:lnTo>
                  <a:lnTo>
                    <a:pt x="700822" y="8411"/>
                  </a:lnTo>
                  <a:lnTo>
                    <a:pt x="700822" y="16823"/>
                  </a:lnTo>
                  <a:cubicBezTo>
                    <a:pt x="353595" y="16823"/>
                    <a:pt x="71993" y="82691"/>
                    <a:pt x="71993" y="164023"/>
                  </a:cubicBezTo>
                  <a:close/>
                </a:path>
              </a:pathLst>
            </a:custGeom>
            <a:solidFill>
              <a:srgbClr val="BDBDBD"/>
            </a:solidFill>
          </p:spPr>
          <p:txBody>
            <a:bodyPr/>
            <a:lstStyle/>
            <a:p>
              <a:pPr>
                <a:defRPr/>
              </a:pPr>
              <a:endParaRPr lang="en-US"/>
            </a:p>
          </p:txBody>
        </p:sp>
      </p:grpSp>
      <p:grpSp>
        <p:nvGrpSpPr>
          <p:cNvPr id="1651354837" name="Group 45"/>
          <p:cNvGrpSpPr/>
          <p:nvPr/>
        </p:nvGrpSpPr>
        <p:grpSpPr bwMode="auto">
          <a:xfrm>
            <a:off x="0" y="0"/>
            <a:ext cx="18288000" cy="1429864"/>
            <a:chOff x="0" y="0"/>
            <a:chExt cx="24384000" cy="1906486"/>
          </a:xfrm>
        </p:grpSpPr>
        <p:sp>
          <p:nvSpPr>
            <p:cNvPr id="46" name="Freeform 46"/>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1189659496" name="Group 47"/>
          <p:cNvGrpSpPr/>
          <p:nvPr/>
        </p:nvGrpSpPr>
        <p:grpSpPr bwMode="auto">
          <a:xfrm rot="-5400000">
            <a:off x="12709489" y="591012"/>
            <a:ext cx="898055" cy="247840"/>
            <a:chOff x="0" y="0"/>
            <a:chExt cx="1197407" cy="330454"/>
          </a:xfrm>
        </p:grpSpPr>
        <p:sp>
          <p:nvSpPr>
            <p:cNvPr id="48" name="Freeform 48"/>
            <p:cNvSpPr/>
            <p:nvPr/>
          </p:nvSpPr>
          <p:spPr bwMode="auto">
            <a:xfrm>
              <a:off x="0" y="0"/>
              <a:ext cx="1197381" cy="330454"/>
            </a:xfrm>
            <a:custGeom>
              <a:avLst/>
              <a:gdLst/>
              <a:ahLst/>
              <a:cxnLst/>
              <a:rect l="l" t="t" r="r" b="b"/>
              <a:pathLst>
                <a:path w="1197381" h="330454" fill="norm" stroke="1" extrusionOk="0">
                  <a:moveTo>
                    <a:pt x="170120" y="0"/>
                  </a:moveTo>
                  <a:lnTo>
                    <a:pt x="1027260" y="0"/>
                  </a:lnTo>
                  <a:cubicBezTo>
                    <a:pt x="1121278" y="0"/>
                    <a:pt x="1197381" y="73914"/>
                    <a:pt x="1197381" y="165227"/>
                  </a:cubicBezTo>
                  <a:lnTo>
                    <a:pt x="1197381" y="330454"/>
                  </a:lnTo>
                  <a:lnTo>
                    <a:pt x="0" y="330454"/>
                  </a:lnTo>
                  <a:lnTo>
                    <a:pt x="0" y="165227"/>
                  </a:lnTo>
                  <a:cubicBezTo>
                    <a:pt x="0" y="73914"/>
                    <a:pt x="76103" y="0"/>
                    <a:pt x="170120" y="0"/>
                  </a:cubicBezTo>
                  <a:close/>
                </a:path>
              </a:pathLst>
            </a:custGeom>
            <a:solidFill>
              <a:srgbClr val="0078D4"/>
            </a:solidFill>
          </p:spPr>
          <p:txBody>
            <a:bodyPr/>
            <a:lstStyle/>
            <a:p>
              <a:pPr>
                <a:defRPr/>
              </a:pPr>
              <a:endParaRPr lang="en-US"/>
            </a:p>
          </p:txBody>
        </p:sp>
      </p:grpSp>
      <p:grpSp>
        <p:nvGrpSpPr>
          <p:cNvPr id="568365438" name="Group 49"/>
          <p:cNvGrpSpPr/>
          <p:nvPr/>
        </p:nvGrpSpPr>
        <p:grpSpPr bwMode="auto">
          <a:xfrm>
            <a:off x="571929" y="341820"/>
            <a:ext cx="6476635" cy="746224"/>
            <a:chOff x="0" y="0"/>
            <a:chExt cx="8635515" cy="994965"/>
          </a:xfrm>
        </p:grpSpPr>
        <p:sp>
          <p:nvSpPr>
            <p:cNvPr id="50" name="Freeform 50"/>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1" name="TextBox 51"/>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175542707" name="Group 52"/>
          <p:cNvGrpSpPr/>
          <p:nvPr/>
        </p:nvGrpSpPr>
        <p:grpSpPr bwMode="auto">
          <a:xfrm>
            <a:off x="16398605" y="209531"/>
            <a:ext cx="1405661" cy="1010802"/>
            <a:chOff x="0" y="0"/>
            <a:chExt cx="692506" cy="497977"/>
          </a:xfrm>
        </p:grpSpPr>
        <p:sp>
          <p:nvSpPr>
            <p:cNvPr id="53" name="Freeform 53"/>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54" name="TextBox 54"/>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10</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606909527" name="Group 2"/>
          <p:cNvGrpSpPr/>
          <p:nvPr/>
        </p:nvGrpSpPr>
        <p:grpSpPr bwMode="auto">
          <a:xfrm>
            <a:off x="1314663" y="1656976"/>
            <a:ext cx="4747041" cy="1201088"/>
            <a:chOff x="0" y="0"/>
            <a:chExt cx="6329388" cy="1601451"/>
          </a:xfrm>
        </p:grpSpPr>
        <p:sp>
          <p:nvSpPr>
            <p:cNvPr id="3" name="Freeform 3"/>
            <p:cNvSpPr/>
            <p:nvPr/>
          </p:nvSpPr>
          <p:spPr bwMode="auto">
            <a:xfrm>
              <a:off x="0" y="0"/>
              <a:ext cx="6329385" cy="1601445"/>
            </a:xfrm>
            <a:custGeom>
              <a:avLst/>
              <a:gdLst/>
              <a:ahLst/>
              <a:cxnLst/>
              <a:rect l="l" t="t" r="r" b="b"/>
              <a:pathLst>
                <a:path w="6329385" h="1601445" fill="norm" stroke="1" extrusionOk="0">
                  <a:moveTo>
                    <a:pt x="0" y="0"/>
                  </a:moveTo>
                  <a:lnTo>
                    <a:pt x="6329385" y="0"/>
                  </a:lnTo>
                  <a:lnTo>
                    <a:pt x="6329385" y="1601445"/>
                  </a:lnTo>
                  <a:lnTo>
                    <a:pt x="0" y="1601445"/>
                  </a:lnTo>
                  <a:close/>
                </a:path>
              </a:pathLst>
            </a:custGeom>
            <a:blipFill rotWithShape="1">
              <a:blip r:embed="rId3">
                <a:alphaModFix amt="0"/>
              </a:blip>
              <a:stretch>
                <a:fillRect l="0" t="-27010" r="0" b="-27010"/>
              </a:stretch>
            </a:blipFill>
          </p:spPr>
          <p:txBody>
            <a:bodyPr/>
            <a:lstStyle/>
            <a:p>
              <a:pPr>
                <a:defRPr/>
              </a:pPr>
              <a:endParaRPr lang="en-US"/>
            </a:p>
          </p:txBody>
        </p:sp>
        <p:sp>
          <p:nvSpPr>
            <p:cNvPr id="4" name="TextBox 4"/>
            <p:cNvSpPr txBox="1"/>
            <p:nvPr/>
          </p:nvSpPr>
          <p:spPr bwMode="auto">
            <a:xfrm>
              <a:off x="0" y="0"/>
              <a:ext cx="6329388" cy="1601451"/>
            </a:xfrm>
            <a:prstGeom prst="rect">
              <a:avLst/>
            </a:prstGeom>
            <a:grpFill/>
          </p:spPr>
          <p:txBody>
            <a:bodyPr lIns="0" tIns="0" rIns="0" bIns="0" rtlCol="0" anchor="ctr"/>
            <a:lstStyle/>
            <a:p>
              <a:pPr algn="l">
                <a:lnSpc>
                  <a:spcPts val="3876"/>
                </a:lnSpc>
                <a:defRPr/>
              </a:pPr>
              <a:r>
                <a:rPr lang="en-US" sz="3250" b="1">
                  <a:solidFill>
                    <a:srgbClr val="003868"/>
                  </a:solidFill>
                  <a:latin typeface="Helvetica World Bold"/>
                  <a:ea typeface="Helvetica World Bold"/>
                  <a:cs typeface="Helvetica World Bold"/>
                </a:rPr>
                <a:t> </a:t>
              </a:r>
              <a:r>
                <a:rPr lang="en-US" sz="3250">
                  <a:solidFill>
                    <a:srgbClr val="000000"/>
                  </a:solidFill>
                  <a:latin typeface="Helvetica World"/>
                  <a:ea typeface="Helvetica World"/>
                  <a:cs typeface="Helvetica World"/>
                </a:rPr>
                <a:t>  </a:t>
              </a:r>
              <a:r>
                <a:rPr lang="en-US" sz="3250" b="1">
                  <a:solidFill>
                    <a:srgbClr val="003868"/>
                  </a:solidFill>
                  <a:latin typeface="Helvetica World Bold"/>
                  <a:ea typeface="Helvetica World Bold"/>
                  <a:cs typeface="Helvetica World Bold"/>
                </a:rPr>
                <a:t> Security &amp; Monitoring </a:t>
              </a:r>
              <a:endParaRPr/>
            </a:p>
          </p:txBody>
        </p:sp>
      </p:grpSp>
      <p:grpSp>
        <p:nvGrpSpPr>
          <p:cNvPr id="796401040" name="Group 5"/>
          <p:cNvGrpSpPr/>
          <p:nvPr/>
        </p:nvGrpSpPr>
        <p:grpSpPr bwMode="auto">
          <a:xfrm>
            <a:off x="1028700" y="1989419"/>
            <a:ext cx="571929" cy="536200"/>
            <a:chOff x="0" y="0"/>
            <a:chExt cx="762572" cy="714934"/>
          </a:xfrm>
        </p:grpSpPr>
        <p:sp>
          <p:nvSpPr>
            <p:cNvPr id="6" name="Freeform 6" descr="image.png"/>
            <p:cNvSpPr/>
            <p:nvPr/>
          </p:nvSpPr>
          <p:spPr bwMode="auto">
            <a:xfrm>
              <a:off x="0" y="0"/>
              <a:ext cx="762635" cy="714882"/>
            </a:xfrm>
            <a:custGeom>
              <a:avLst/>
              <a:gdLst/>
              <a:ahLst/>
              <a:cxnLst/>
              <a:rect l="l" t="t" r="r" b="b"/>
              <a:pathLst>
                <a:path w="762635" h="714883" fill="norm" stroke="1" extrusionOk="0">
                  <a:moveTo>
                    <a:pt x="0" y="0"/>
                  </a:moveTo>
                  <a:lnTo>
                    <a:pt x="762635" y="0"/>
                  </a:lnTo>
                  <a:lnTo>
                    <a:pt x="762635" y="714883"/>
                  </a:lnTo>
                  <a:lnTo>
                    <a:pt x="0" y="714883"/>
                  </a:lnTo>
                  <a:lnTo>
                    <a:pt x="0" y="0"/>
                  </a:lnTo>
                  <a:close/>
                </a:path>
              </a:pathLst>
            </a:custGeom>
            <a:blipFill rotWithShape="1">
              <a:blip r:embed="rId4"/>
              <a:stretch>
                <a:fillRect l="-1" t="0" r="6" b="-7"/>
              </a:stretch>
            </a:blipFill>
          </p:spPr>
          <p:txBody>
            <a:bodyPr/>
            <a:lstStyle/>
            <a:p>
              <a:pPr>
                <a:defRPr/>
              </a:pPr>
              <a:endParaRPr lang="en-US"/>
            </a:p>
          </p:txBody>
        </p:sp>
      </p:grpSp>
      <p:grpSp>
        <p:nvGrpSpPr>
          <p:cNvPr id="826778991" name="Group 7"/>
          <p:cNvGrpSpPr/>
          <p:nvPr/>
        </p:nvGrpSpPr>
        <p:grpSpPr bwMode="auto">
          <a:xfrm>
            <a:off x="1057296" y="2823990"/>
            <a:ext cx="4747041" cy="474625"/>
            <a:chOff x="0" y="0"/>
            <a:chExt cx="6329388" cy="632833"/>
          </a:xfrm>
        </p:grpSpPr>
        <p:sp>
          <p:nvSpPr>
            <p:cNvPr id="8" name="Freeform 8"/>
            <p:cNvSpPr/>
            <p:nvPr/>
          </p:nvSpPr>
          <p:spPr bwMode="auto">
            <a:xfrm>
              <a:off x="0" y="0"/>
              <a:ext cx="6329385" cy="632836"/>
            </a:xfrm>
            <a:custGeom>
              <a:avLst/>
              <a:gdLst/>
              <a:ahLst/>
              <a:cxnLst/>
              <a:rect l="l" t="t" r="r" b="b"/>
              <a:pathLst>
                <a:path w="6329385" h="632836" fill="norm" stroke="1" extrusionOk="0">
                  <a:moveTo>
                    <a:pt x="0" y="0"/>
                  </a:moveTo>
                  <a:lnTo>
                    <a:pt x="6329385" y="0"/>
                  </a:lnTo>
                  <a:lnTo>
                    <a:pt x="6329385" y="632836"/>
                  </a:lnTo>
                  <a:lnTo>
                    <a:pt x="0" y="632836"/>
                  </a:lnTo>
                  <a:close/>
                </a:path>
              </a:pathLst>
            </a:custGeom>
            <a:blipFill rotWithShape="1">
              <a:blip r:embed="rId3">
                <a:alphaModFix amt="0"/>
              </a:blip>
              <a:stretch>
                <a:fillRect l="0" t="-148186" r="0" b="-141577"/>
              </a:stretch>
            </a:blipFill>
          </p:spPr>
          <p:txBody>
            <a:bodyPr/>
            <a:lstStyle/>
            <a:p>
              <a:pPr>
                <a:defRPr/>
              </a:pPr>
              <a:endParaRPr lang="en-US"/>
            </a:p>
          </p:txBody>
        </p:sp>
        <p:sp>
          <p:nvSpPr>
            <p:cNvPr id="9" name="TextBox 9"/>
            <p:cNvSpPr txBox="1"/>
            <p:nvPr/>
          </p:nvSpPr>
          <p:spPr bwMode="auto">
            <a:xfrm>
              <a:off x="0" y="-9525"/>
              <a:ext cx="6329388" cy="642358"/>
            </a:xfrm>
            <a:prstGeom prst="rect">
              <a:avLst/>
            </a:prstGeom>
            <a:grpFill/>
          </p:spPr>
          <p:txBody>
            <a:bodyPr lIns="0" tIns="0" rIns="0" bIns="0" rtlCol="0" anchor="ctr"/>
            <a:lstStyle/>
            <a:p>
              <a:pPr algn="l">
                <a:lnSpc>
                  <a:spcPts val="2154"/>
                </a:lnSpc>
                <a:defRPr/>
              </a:pPr>
              <a:r>
                <a:rPr lang="en-US" sz="1800" b="1">
                  <a:solidFill>
                    <a:srgbClr val="0078D4"/>
                  </a:solidFill>
                  <a:latin typeface="Helvetica World Bold"/>
                  <a:ea typeface="Helvetica World Bold"/>
                  <a:cs typeface="Helvetica World Bold"/>
                </a:rPr>
                <a:t>Network Security</a:t>
              </a:r>
              <a:endParaRPr/>
            </a:p>
          </p:txBody>
        </p:sp>
      </p:grpSp>
      <p:grpSp>
        <p:nvGrpSpPr>
          <p:cNvPr id="1754240968" name="Group 10"/>
          <p:cNvGrpSpPr/>
          <p:nvPr/>
        </p:nvGrpSpPr>
        <p:grpSpPr bwMode="auto">
          <a:xfrm>
            <a:off x="1057296" y="3481729"/>
            <a:ext cx="4747041" cy="943708"/>
            <a:chOff x="0" y="0"/>
            <a:chExt cx="6329388" cy="1258277"/>
          </a:xfrm>
        </p:grpSpPr>
        <p:sp>
          <p:nvSpPr>
            <p:cNvPr id="11" name="Freeform 11"/>
            <p:cNvSpPr/>
            <p:nvPr/>
          </p:nvSpPr>
          <p:spPr bwMode="auto">
            <a:xfrm>
              <a:off x="0" y="0"/>
              <a:ext cx="6329299" cy="1258189"/>
            </a:xfrm>
            <a:custGeom>
              <a:avLst/>
              <a:gdLst/>
              <a:ahLst/>
              <a:cxnLst/>
              <a:rect l="l" t="t" r="r" b="b"/>
              <a:pathLst>
                <a:path w="6329299" h="1258189" fill="norm" stroke="1" extrusionOk="0">
                  <a:moveTo>
                    <a:pt x="0" y="228727"/>
                  </a:moveTo>
                  <a:cubicBezTo>
                    <a:pt x="0" y="102362"/>
                    <a:pt x="102362" y="0"/>
                    <a:pt x="228727" y="0"/>
                  </a:cubicBezTo>
                  <a:lnTo>
                    <a:pt x="6100572" y="0"/>
                  </a:lnTo>
                  <a:cubicBezTo>
                    <a:pt x="6226937" y="0"/>
                    <a:pt x="6329299" y="102362"/>
                    <a:pt x="6329299" y="228727"/>
                  </a:cubicBezTo>
                  <a:lnTo>
                    <a:pt x="6329299" y="1029462"/>
                  </a:lnTo>
                  <a:cubicBezTo>
                    <a:pt x="6329299" y="1155827"/>
                    <a:pt x="6226937" y="1258189"/>
                    <a:pt x="6100572" y="1258189"/>
                  </a:cubicBezTo>
                  <a:lnTo>
                    <a:pt x="228727" y="1258189"/>
                  </a:lnTo>
                  <a:cubicBezTo>
                    <a:pt x="102362" y="1258316"/>
                    <a:pt x="0" y="1155827"/>
                    <a:pt x="0" y="1029462"/>
                  </a:cubicBezTo>
                  <a:close/>
                </a:path>
              </a:pathLst>
            </a:custGeom>
            <a:solidFill>
              <a:srgbClr val="F8F9FA"/>
            </a:solidFill>
          </p:spPr>
          <p:txBody>
            <a:bodyPr/>
            <a:lstStyle/>
            <a:p>
              <a:pPr>
                <a:defRPr/>
              </a:pPr>
              <a:endParaRPr lang="en-US"/>
            </a:p>
          </p:txBody>
        </p:sp>
      </p:grpSp>
      <p:grpSp>
        <p:nvGrpSpPr>
          <p:cNvPr id="1348226770" name="Group 12"/>
          <p:cNvGrpSpPr/>
          <p:nvPr/>
        </p:nvGrpSpPr>
        <p:grpSpPr bwMode="auto">
          <a:xfrm rot="-5400000">
            <a:off x="684583" y="3854443"/>
            <a:ext cx="943708" cy="198272"/>
            <a:chOff x="0" y="0"/>
            <a:chExt cx="1258277" cy="264363"/>
          </a:xfrm>
        </p:grpSpPr>
        <p:sp>
          <p:nvSpPr>
            <p:cNvPr id="13" name="Freeform 13"/>
            <p:cNvSpPr/>
            <p:nvPr/>
          </p:nvSpPr>
          <p:spPr bwMode="auto">
            <a:xfrm>
              <a:off x="0" y="0"/>
              <a:ext cx="1258316" cy="264414"/>
            </a:xfrm>
            <a:custGeom>
              <a:avLst/>
              <a:gdLst/>
              <a:ahLst/>
              <a:cxnLst/>
              <a:rect l="l" t="t" r="r" b="b"/>
              <a:pathLst>
                <a:path w="1258316" h="264414" fill="norm" stroke="1" extrusionOk="0">
                  <a:moveTo>
                    <a:pt x="132207" y="0"/>
                  </a:moveTo>
                  <a:lnTo>
                    <a:pt x="1126109" y="0"/>
                  </a:lnTo>
                  <a:cubicBezTo>
                    <a:pt x="1199134" y="0"/>
                    <a:pt x="1258316" y="59182"/>
                    <a:pt x="1258316" y="132207"/>
                  </a:cubicBezTo>
                  <a:lnTo>
                    <a:pt x="1258316" y="264414"/>
                  </a:lnTo>
                  <a:lnTo>
                    <a:pt x="0" y="264414"/>
                  </a:lnTo>
                  <a:lnTo>
                    <a:pt x="0" y="132207"/>
                  </a:lnTo>
                  <a:cubicBezTo>
                    <a:pt x="0" y="59182"/>
                    <a:pt x="59182" y="0"/>
                    <a:pt x="132207" y="0"/>
                  </a:cubicBezTo>
                  <a:close/>
                </a:path>
              </a:pathLst>
            </a:custGeom>
            <a:solidFill>
              <a:srgbClr val="0078D4"/>
            </a:solidFill>
          </p:spPr>
          <p:txBody>
            <a:bodyPr/>
            <a:lstStyle/>
            <a:p>
              <a:pPr>
                <a:defRPr/>
              </a:pPr>
              <a:endParaRPr lang="en-US"/>
            </a:p>
          </p:txBody>
        </p:sp>
      </p:grpSp>
      <p:grpSp>
        <p:nvGrpSpPr>
          <p:cNvPr id="18901330" name="Group 14"/>
          <p:cNvGrpSpPr/>
          <p:nvPr/>
        </p:nvGrpSpPr>
        <p:grpSpPr bwMode="auto">
          <a:xfrm>
            <a:off x="1486243" y="3481859"/>
            <a:ext cx="4747041" cy="943712"/>
            <a:chOff x="0" y="0"/>
            <a:chExt cx="6329388" cy="1258283"/>
          </a:xfrm>
        </p:grpSpPr>
        <p:sp>
          <p:nvSpPr>
            <p:cNvPr id="15" name="Freeform 15"/>
            <p:cNvSpPr/>
            <p:nvPr/>
          </p:nvSpPr>
          <p:spPr bwMode="auto">
            <a:xfrm>
              <a:off x="0" y="0"/>
              <a:ext cx="6329385" cy="1258288"/>
            </a:xfrm>
            <a:custGeom>
              <a:avLst/>
              <a:gdLst/>
              <a:ahLst/>
              <a:cxnLst/>
              <a:rect l="l" t="t" r="r" b="b"/>
              <a:pathLst>
                <a:path w="6329385" h="1258288" fill="norm" stroke="1" extrusionOk="0">
                  <a:moveTo>
                    <a:pt x="0" y="0"/>
                  </a:moveTo>
                  <a:lnTo>
                    <a:pt x="6329385" y="0"/>
                  </a:lnTo>
                  <a:lnTo>
                    <a:pt x="6329385" y="1258288"/>
                  </a:lnTo>
                  <a:lnTo>
                    <a:pt x="0" y="1258288"/>
                  </a:lnTo>
                  <a:close/>
                </a:path>
              </a:pathLst>
            </a:custGeom>
            <a:blipFill rotWithShape="1">
              <a:blip r:embed="rId3">
                <a:alphaModFix amt="0"/>
              </a:blip>
              <a:stretch>
                <a:fillRect l="0" t="-48013" r="0" b="-48012"/>
              </a:stretch>
            </a:blipFill>
          </p:spPr>
          <p:txBody>
            <a:bodyPr/>
            <a:lstStyle/>
            <a:p>
              <a:pPr>
                <a:defRPr/>
              </a:pPr>
              <a:endParaRPr lang="en-US"/>
            </a:p>
          </p:txBody>
        </p:sp>
        <p:sp>
          <p:nvSpPr>
            <p:cNvPr id="16" name="TextBox 16"/>
            <p:cNvSpPr txBox="1"/>
            <p:nvPr/>
          </p:nvSpPr>
          <p:spPr bwMode="auto">
            <a:xfrm>
              <a:off x="0" y="0"/>
              <a:ext cx="6329388" cy="1258283"/>
            </a:xfrm>
            <a:prstGeom prst="rect">
              <a:avLst/>
            </a:prstGeom>
            <a:grpFill/>
          </p:spPr>
          <p:txBody>
            <a:bodyPr lIns="0" tIns="0" rIns="0" bIns="0" rtlCol="0" anchor="ctr"/>
            <a:lstStyle/>
            <a:p>
              <a:pPr algn="l">
                <a:lnSpc>
                  <a:spcPts val="1938"/>
                </a:lnSpc>
                <a:defRPr/>
              </a:pPr>
              <a:r>
                <a:rPr lang="en-US" sz="1600">
                  <a:solidFill>
                    <a:srgbClr val="323130"/>
                  </a:solidFill>
                  <a:latin typeface="Helvetica World"/>
                  <a:ea typeface="Helvetica World"/>
                  <a:cs typeface="Helvetica World"/>
                </a:rPr>
                <a:t> </a:t>
              </a:r>
              <a:r>
                <a:rPr lang="en-US" sz="1600">
                  <a:solidFill>
                    <a:srgbClr val="000000"/>
                  </a:solidFill>
                  <a:latin typeface="Helvetica World"/>
                  <a:ea typeface="Helvetica World"/>
                  <a:cs typeface="Helvetica World"/>
                </a:rPr>
                <a:t>  </a:t>
              </a:r>
              <a:r>
                <a:rPr lang="en-US" sz="1600">
                  <a:solidFill>
                    <a:srgbClr val="323130"/>
                  </a:solidFill>
                  <a:latin typeface="Helvetica World"/>
                  <a:ea typeface="Helvetica World"/>
                  <a:cs typeface="Helvetica World"/>
                </a:rPr>
                <a:t> Only Application Gateway is public </a:t>
              </a:r>
              <a:endParaRPr/>
            </a:p>
          </p:txBody>
        </p:sp>
      </p:grpSp>
      <p:grpSp>
        <p:nvGrpSpPr>
          <p:cNvPr id="553396927" name="Group 17"/>
          <p:cNvGrpSpPr/>
          <p:nvPr/>
        </p:nvGrpSpPr>
        <p:grpSpPr bwMode="auto">
          <a:xfrm>
            <a:off x="1286068" y="3807868"/>
            <a:ext cx="343157" cy="291694"/>
            <a:chOff x="0" y="0"/>
            <a:chExt cx="457543" cy="388925"/>
          </a:xfrm>
        </p:grpSpPr>
        <p:sp>
          <p:nvSpPr>
            <p:cNvPr id="18" name="Freeform 18" descr="image.png"/>
            <p:cNvSpPr/>
            <p:nvPr/>
          </p:nvSpPr>
          <p:spPr bwMode="auto">
            <a:xfrm>
              <a:off x="0" y="0"/>
              <a:ext cx="457581" cy="388874"/>
            </a:xfrm>
            <a:custGeom>
              <a:avLst/>
              <a:gdLst/>
              <a:ahLst/>
              <a:cxnLst/>
              <a:rect l="l" t="t" r="r" b="b"/>
              <a:pathLst>
                <a:path w="457581" h="388874" fill="norm" stroke="1" extrusionOk="0">
                  <a:moveTo>
                    <a:pt x="0" y="0"/>
                  </a:moveTo>
                  <a:lnTo>
                    <a:pt x="457581" y="0"/>
                  </a:lnTo>
                  <a:lnTo>
                    <a:pt x="457581" y="388874"/>
                  </a:lnTo>
                  <a:lnTo>
                    <a:pt x="0" y="388874"/>
                  </a:lnTo>
                  <a:lnTo>
                    <a:pt x="0" y="0"/>
                  </a:lnTo>
                  <a:close/>
                </a:path>
              </a:pathLst>
            </a:custGeom>
            <a:blipFill rotWithShape="1">
              <a:blip r:embed="rId5"/>
              <a:stretch>
                <a:fillRect l="-1" t="0" r="6" b="-13"/>
              </a:stretch>
            </a:blipFill>
          </p:spPr>
          <p:txBody>
            <a:bodyPr/>
            <a:lstStyle/>
            <a:p>
              <a:pPr>
                <a:defRPr/>
              </a:pPr>
              <a:endParaRPr lang="en-US"/>
            </a:p>
          </p:txBody>
        </p:sp>
      </p:grpSp>
      <p:grpSp>
        <p:nvGrpSpPr>
          <p:cNvPr id="1043672118" name="Group 19"/>
          <p:cNvGrpSpPr/>
          <p:nvPr/>
        </p:nvGrpSpPr>
        <p:grpSpPr bwMode="auto">
          <a:xfrm>
            <a:off x="1057296" y="4597021"/>
            <a:ext cx="4747041" cy="943708"/>
            <a:chOff x="0" y="0"/>
            <a:chExt cx="6329388" cy="1258277"/>
          </a:xfrm>
        </p:grpSpPr>
        <p:sp>
          <p:nvSpPr>
            <p:cNvPr id="20" name="Freeform 20"/>
            <p:cNvSpPr/>
            <p:nvPr/>
          </p:nvSpPr>
          <p:spPr bwMode="auto">
            <a:xfrm>
              <a:off x="0" y="0"/>
              <a:ext cx="6329299" cy="1258189"/>
            </a:xfrm>
            <a:custGeom>
              <a:avLst/>
              <a:gdLst/>
              <a:ahLst/>
              <a:cxnLst/>
              <a:rect l="l" t="t" r="r" b="b"/>
              <a:pathLst>
                <a:path w="6329299" h="1258189" fill="norm" stroke="1" extrusionOk="0">
                  <a:moveTo>
                    <a:pt x="0" y="228727"/>
                  </a:moveTo>
                  <a:cubicBezTo>
                    <a:pt x="0" y="102362"/>
                    <a:pt x="102362" y="0"/>
                    <a:pt x="228727" y="0"/>
                  </a:cubicBezTo>
                  <a:lnTo>
                    <a:pt x="6100572" y="0"/>
                  </a:lnTo>
                  <a:cubicBezTo>
                    <a:pt x="6226937" y="0"/>
                    <a:pt x="6329299" y="102362"/>
                    <a:pt x="6329299" y="228727"/>
                  </a:cubicBezTo>
                  <a:lnTo>
                    <a:pt x="6329299" y="1029462"/>
                  </a:lnTo>
                  <a:cubicBezTo>
                    <a:pt x="6329299" y="1155827"/>
                    <a:pt x="6226937" y="1258189"/>
                    <a:pt x="6100572" y="1258189"/>
                  </a:cubicBezTo>
                  <a:lnTo>
                    <a:pt x="228727" y="1258189"/>
                  </a:lnTo>
                  <a:cubicBezTo>
                    <a:pt x="102362" y="1258316"/>
                    <a:pt x="0" y="1155827"/>
                    <a:pt x="0" y="1029462"/>
                  </a:cubicBezTo>
                  <a:close/>
                </a:path>
              </a:pathLst>
            </a:custGeom>
            <a:solidFill>
              <a:srgbClr val="F8F9FA"/>
            </a:solidFill>
          </p:spPr>
          <p:txBody>
            <a:bodyPr/>
            <a:lstStyle/>
            <a:p>
              <a:pPr>
                <a:defRPr/>
              </a:pPr>
              <a:endParaRPr lang="en-US"/>
            </a:p>
          </p:txBody>
        </p:sp>
      </p:grpSp>
      <p:grpSp>
        <p:nvGrpSpPr>
          <p:cNvPr id="444554030" name="Group 21"/>
          <p:cNvGrpSpPr/>
          <p:nvPr/>
        </p:nvGrpSpPr>
        <p:grpSpPr bwMode="auto">
          <a:xfrm rot="-5400000">
            <a:off x="684583" y="4969744"/>
            <a:ext cx="943708" cy="198272"/>
            <a:chOff x="0" y="0"/>
            <a:chExt cx="1258277" cy="264363"/>
          </a:xfrm>
        </p:grpSpPr>
        <p:sp>
          <p:nvSpPr>
            <p:cNvPr id="22" name="Freeform 22"/>
            <p:cNvSpPr/>
            <p:nvPr/>
          </p:nvSpPr>
          <p:spPr bwMode="auto">
            <a:xfrm>
              <a:off x="0" y="0"/>
              <a:ext cx="1258316" cy="264414"/>
            </a:xfrm>
            <a:custGeom>
              <a:avLst/>
              <a:gdLst/>
              <a:ahLst/>
              <a:cxnLst/>
              <a:rect l="l" t="t" r="r" b="b"/>
              <a:pathLst>
                <a:path w="1258316" h="264414" fill="norm" stroke="1" extrusionOk="0">
                  <a:moveTo>
                    <a:pt x="132207" y="0"/>
                  </a:moveTo>
                  <a:lnTo>
                    <a:pt x="1126109" y="0"/>
                  </a:lnTo>
                  <a:cubicBezTo>
                    <a:pt x="1199134" y="0"/>
                    <a:pt x="1258316" y="59182"/>
                    <a:pt x="1258316" y="132207"/>
                  </a:cubicBezTo>
                  <a:lnTo>
                    <a:pt x="1258316" y="264414"/>
                  </a:lnTo>
                  <a:lnTo>
                    <a:pt x="0" y="264414"/>
                  </a:lnTo>
                  <a:lnTo>
                    <a:pt x="0" y="132207"/>
                  </a:lnTo>
                  <a:cubicBezTo>
                    <a:pt x="0" y="59182"/>
                    <a:pt x="59182" y="0"/>
                    <a:pt x="132207" y="0"/>
                  </a:cubicBezTo>
                  <a:close/>
                </a:path>
              </a:pathLst>
            </a:custGeom>
            <a:solidFill>
              <a:srgbClr val="0078D4"/>
            </a:solidFill>
          </p:spPr>
          <p:txBody>
            <a:bodyPr/>
            <a:lstStyle/>
            <a:p>
              <a:pPr>
                <a:defRPr/>
              </a:pPr>
              <a:endParaRPr lang="en-US"/>
            </a:p>
          </p:txBody>
        </p:sp>
      </p:grpSp>
      <p:grpSp>
        <p:nvGrpSpPr>
          <p:cNvPr id="563677493" name="Group 23"/>
          <p:cNvGrpSpPr/>
          <p:nvPr/>
        </p:nvGrpSpPr>
        <p:grpSpPr bwMode="auto">
          <a:xfrm>
            <a:off x="1486243" y="4625735"/>
            <a:ext cx="4747041" cy="943712"/>
            <a:chOff x="0" y="0"/>
            <a:chExt cx="6329388" cy="1258283"/>
          </a:xfrm>
        </p:grpSpPr>
        <p:sp>
          <p:nvSpPr>
            <p:cNvPr id="24" name="Freeform 24"/>
            <p:cNvSpPr/>
            <p:nvPr/>
          </p:nvSpPr>
          <p:spPr bwMode="auto">
            <a:xfrm>
              <a:off x="0" y="0"/>
              <a:ext cx="6329385" cy="1258288"/>
            </a:xfrm>
            <a:custGeom>
              <a:avLst/>
              <a:gdLst/>
              <a:ahLst/>
              <a:cxnLst/>
              <a:rect l="l" t="t" r="r" b="b"/>
              <a:pathLst>
                <a:path w="6329385" h="1258288" fill="norm" stroke="1" extrusionOk="0">
                  <a:moveTo>
                    <a:pt x="0" y="0"/>
                  </a:moveTo>
                  <a:lnTo>
                    <a:pt x="6329385" y="0"/>
                  </a:lnTo>
                  <a:lnTo>
                    <a:pt x="6329385" y="1258288"/>
                  </a:lnTo>
                  <a:lnTo>
                    <a:pt x="0" y="1258288"/>
                  </a:lnTo>
                  <a:close/>
                </a:path>
              </a:pathLst>
            </a:custGeom>
            <a:blipFill rotWithShape="1">
              <a:blip r:embed="rId3">
                <a:alphaModFix amt="0"/>
              </a:blip>
              <a:stretch>
                <a:fillRect l="0" t="-48013" r="0" b="-48012"/>
              </a:stretch>
            </a:blipFill>
          </p:spPr>
          <p:txBody>
            <a:bodyPr/>
            <a:lstStyle/>
            <a:p>
              <a:pPr>
                <a:defRPr/>
              </a:pPr>
              <a:endParaRPr lang="en-US"/>
            </a:p>
          </p:txBody>
        </p:sp>
        <p:sp>
          <p:nvSpPr>
            <p:cNvPr id="25" name="TextBox 25"/>
            <p:cNvSpPr txBox="1"/>
            <p:nvPr/>
          </p:nvSpPr>
          <p:spPr bwMode="auto">
            <a:xfrm>
              <a:off x="0" y="0"/>
              <a:ext cx="6329388" cy="1258283"/>
            </a:xfrm>
            <a:prstGeom prst="rect">
              <a:avLst/>
            </a:prstGeom>
            <a:grpFill/>
          </p:spPr>
          <p:txBody>
            <a:bodyPr lIns="0" tIns="0" rIns="0" bIns="0" rtlCol="0" anchor="ctr"/>
            <a:lstStyle/>
            <a:p>
              <a:pPr algn="l">
                <a:lnSpc>
                  <a:spcPts val="1938"/>
                </a:lnSpc>
                <a:defRPr/>
              </a:pPr>
              <a:r>
                <a:rPr lang="en-US" sz="1600">
                  <a:solidFill>
                    <a:srgbClr val="323130"/>
                  </a:solidFill>
                  <a:latin typeface="Helvetica World"/>
                  <a:ea typeface="Helvetica World"/>
                  <a:cs typeface="Helvetica World"/>
                </a:rPr>
                <a:t> </a:t>
              </a:r>
              <a:r>
                <a:rPr lang="en-US" sz="1600">
                  <a:solidFill>
                    <a:srgbClr val="000000"/>
                  </a:solidFill>
                  <a:latin typeface="Helvetica World"/>
                  <a:ea typeface="Helvetica World"/>
                  <a:cs typeface="Helvetica World"/>
                </a:rPr>
                <a:t>  </a:t>
              </a:r>
              <a:r>
                <a:rPr lang="en-US" sz="1600">
                  <a:solidFill>
                    <a:srgbClr val="323130"/>
                  </a:solidFill>
                  <a:latin typeface="Helvetica World"/>
                  <a:ea typeface="Helvetica World"/>
                  <a:cs typeface="Helvetica World"/>
                </a:rPr>
                <a:t> Container Apps environment is private </a:t>
              </a:r>
              <a:endParaRPr/>
            </a:p>
          </p:txBody>
        </p:sp>
      </p:grpSp>
      <p:grpSp>
        <p:nvGrpSpPr>
          <p:cNvPr id="528695498" name="Group 26"/>
          <p:cNvGrpSpPr/>
          <p:nvPr/>
        </p:nvGrpSpPr>
        <p:grpSpPr bwMode="auto">
          <a:xfrm>
            <a:off x="1314663" y="4923028"/>
            <a:ext cx="343157" cy="291694"/>
            <a:chOff x="0" y="0"/>
            <a:chExt cx="457543" cy="388925"/>
          </a:xfrm>
        </p:grpSpPr>
        <p:sp>
          <p:nvSpPr>
            <p:cNvPr id="27" name="Freeform 27" descr="image.png"/>
            <p:cNvSpPr/>
            <p:nvPr/>
          </p:nvSpPr>
          <p:spPr bwMode="auto">
            <a:xfrm>
              <a:off x="0" y="0"/>
              <a:ext cx="457581" cy="388874"/>
            </a:xfrm>
            <a:custGeom>
              <a:avLst/>
              <a:gdLst/>
              <a:ahLst/>
              <a:cxnLst/>
              <a:rect l="l" t="t" r="r" b="b"/>
              <a:pathLst>
                <a:path w="457581" h="388874" fill="norm" stroke="1" extrusionOk="0">
                  <a:moveTo>
                    <a:pt x="0" y="0"/>
                  </a:moveTo>
                  <a:lnTo>
                    <a:pt x="457581" y="0"/>
                  </a:lnTo>
                  <a:lnTo>
                    <a:pt x="457581" y="388874"/>
                  </a:lnTo>
                  <a:lnTo>
                    <a:pt x="0" y="388874"/>
                  </a:lnTo>
                  <a:lnTo>
                    <a:pt x="0" y="0"/>
                  </a:lnTo>
                  <a:close/>
                </a:path>
              </a:pathLst>
            </a:custGeom>
            <a:blipFill rotWithShape="1">
              <a:blip r:embed="rId5"/>
              <a:stretch>
                <a:fillRect l="-1" t="0" r="6" b="-13"/>
              </a:stretch>
            </a:blipFill>
          </p:spPr>
          <p:txBody>
            <a:bodyPr/>
            <a:lstStyle/>
            <a:p>
              <a:pPr>
                <a:defRPr/>
              </a:pPr>
              <a:endParaRPr lang="en-US"/>
            </a:p>
          </p:txBody>
        </p:sp>
      </p:grpSp>
      <p:grpSp>
        <p:nvGrpSpPr>
          <p:cNvPr id="2016396593" name="Group 28"/>
          <p:cNvGrpSpPr/>
          <p:nvPr/>
        </p:nvGrpSpPr>
        <p:grpSpPr bwMode="auto">
          <a:xfrm>
            <a:off x="1057296" y="5712322"/>
            <a:ext cx="4747041" cy="714927"/>
            <a:chOff x="0" y="0"/>
            <a:chExt cx="6329388" cy="953237"/>
          </a:xfrm>
        </p:grpSpPr>
        <p:sp>
          <p:nvSpPr>
            <p:cNvPr id="29" name="Freeform 29"/>
            <p:cNvSpPr/>
            <p:nvPr/>
          </p:nvSpPr>
          <p:spPr bwMode="auto">
            <a:xfrm>
              <a:off x="0" y="0"/>
              <a:ext cx="6329299" cy="953135"/>
            </a:xfrm>
            <a:custGeom>
              <a:avLst/>
              <a:gdLst/>
              <a:ahLst/>
              <a:cxnLst/>
              <a:rect l="l" t="t" r="r" b="b"/>
              <a:pathLst>
                <a:path w="6329299" h="953135" fill="norm" stroke="1" extrusionOk="0">
                  <a:moveTo>
                    <a:pt x="0" y="228727"/>
                  </a:moveTo>
                  <a:cubicBezTo>
                    <a:pt x="0" y="102489"/>
                    <a:pt x="102489" y="0"/>
                    <a:pt x="228727" y="0"/>
                  </a:cubicBezTo>
                  <a:lnTo>
                    <a:pt x="6100572" y="0"/>
                  </a:lnTo>
                  <a:cubicBezTo>
                    <a:pt x="6226937" y="0"/>
                    <a:pt x="6329299" y="102489"/>
                    <a:pt x="6329299" y="228727"/>
                  </a:cubicBezTo>
                  <a:lnTo>
                    <a:pt x="6329299" y="724408"/>
                  </a:lnTo>
                  <a:cubicBezTo>
                    <a:pt x="6329299" y="850773"/>
                    <a:pt x="6226810" y="953135"/>
                    <a:pt x="6100572" y="953135"/>
                  </a:cubicBezTo>
                  <a:lnTo>
                    <a:pt x="228727" y="953135"/>
                  </a:lnTo>
                  <a:cubicBezTo>
                    <a:pt x="102489" y="953262"/>
                    <a:pt x="0" y="850773"/>
                    <a:pt x="0" y="724408"/>
                  </a:cubicBezTo>
                  <a:close/>
                </a:path>
              </a:pathLst>
            </a:custGeom>
            <a:solidFill>
              <a:srgbClr val="F8F9FA"/>
            </a:solidFill>
          </p:spPr>
          <p:txBody>
            <a:bodyPr/>
            <a:lstStyle/>
            <a:p>
              <a:pPr>
                <a:defRPr/>
              </a:pPr>
              <a:endParaRPr lang="en-US"/>
            </a:p>
          </p:txBody>
        </p:sp>
      </p:grpSp>
      <p:grpSp>
        <p:nvGrpSpPr>
          <p:cNvPr id="680922524" name="Group 30"/>
          <p:cNvGrpSpPr/>
          <p:nvPr/>
        </p:nvGrpSpPr>
        <p:grpSpPr bwMode="auto">
          <a:xfrm rot="-5400000">
            <a:off x="798969" y="5970650"/>
            <a:ext cx="714927" cy="198272"/>
            <a:chOff x="0" y="0"/>
            <a:chExt cx="953237" cy="264363"/>
          </a:xfrm>
        </p:grpSpPr>
        <p:sp>
          <p:nvSpPr>
            <p:cNvPr id="31" name="Freeform 31"/>
            <p:cNvSpPr/>
            <p:nvPr/>
          </p:nvSpPr>
          <p:spPr bwMode="auto">
            <a:xfrm>
              <a:off x="0" y="0"/>
              <a:ext cx="953262" cy="264414"/>
            </a:xfrm>
            <a:custGeom>
              <a:avLst/>
              <a:gdLst/>
              <a:ahLst/>
              <a:cxnLst/>
              <a:rect l="l" t="t" r="r" b="b"/>
              <a:pathLst>
                <a:path w="953262" h="264414" fill="norm" stroke="1" extrusionOk="0">
                  <a:moveTo>
                    <a:pt x="132207" y="0"/>
                  </a:moveTo>
                  <a:lnTo>
                    <a:pt x="821055" y="0"/>
                  </a:lnTo>
                  <a:cubicBezTo>
                    <a:pt x="894080" y="0"/>
                    <a:pt x="953262" y="59182"/>
                    <a:pt x="953262" y="132207"/>
                  </a:cubicBezTo>
                  <a:lnTo>
                    <a:pt x="953262" y="264414"/>
                  </a:lnTo>
                  <a:lnTo>
                    <a:pt x="0" y="264414"/>
                  </a:lnTo>
                  <a:lnTo>
                    <a:pt x="0" y="132207"/>
                  </a:lnTo>
                  <a:cubicBezTo>
                    <a:pt x="0" y="59182"/>
                    <a:pt x="59182" y="0"/>
                    <a:pt x="132207" y="0"/>
                  </a:cubicBezTo>
                  <a:close/>
                </a:path>
              </a:pathLst>
            </a:custGeom>
            <a:solidFill>
              <a:srgbClr val="0078D4"/>
            </a:solidFill>
          </p:spPr>
          <p:txBody>
            <a:bodyPr/>
            <a:lstStyle/>
            <a:p>
              <a:pPr>
                <a:defRPr/>
              </a:pPr>
              <a:endParaRPr lang="en-US"/>
            </a:p>
          </p:txBody>
        </p:sp>
      </p:grpSp>
      <p:grpSp>
        <p:nvGrpSpPr>
          <p:cNvPr id="2015958954" name="Group 32"/>
          <p:cNvGrpSpPr/>
          <p:nvPr/>
        </p:nvGrpSpPr>
        <p:grpSpPr bwMode="auto">
          <a:xfrm>
            <a:off x="1457646" y="5712318"/>
            <a:ext cx="4747041" cy="714932"/>
            <a:chOff x="0" y="0"/>
            <a:chExt cx="6329388" cy="953243"/>
          </a:xfrm>
        </p:grpSpPr>
        <p:sp>
          <p:nvSpPr>
            <p:cNvPr id="33" name="Freeform 33"/>
            <p:cNvSpPr/>
            <p:nvPr/>
          </p:nvSpPr>
          <p:spPr bwMode="auto">
            <a:xfrm>
              <a:off x="0" y="0"/>
              <a:ext cx="6329385" cy="953249"/>
            </a:xfrm>
            <a:custGeom>
              <a:avLst/>
              <a:gdLst/>
              <a:ahLst/>
              <a:cxnLst/>
              <a:rect l="l" t="t" r="r" b="b"/>
              <a:pathLst>
                <a:path w="6329385" h="953249" fill="norm" stroke="1" extrusionOk="0">
                  <a:moveTo>
                    <a:pt x="0" y="0"/>
                  </a:moveTo>
                  <a:lnTo>
                    <a:pt x="6329385" y="0"/>
                  </a:lnTo>
                  <a:lnTo>
                    <a:pt x="6329385" y="953249"/>
                  </a:lnTo>
                  <a:lnTo>
                    <a:pt x="0" y="953249"/>
                  </a:lnTo>
                  <a:close/>
                </a:path>
              </a:pathLst>
            </a:custGeom>
            <a:blipFill rotWithShape="1">
              <a:blip r:embed="rId3">
                <a:alphaModFix amt="0"/>
              </a:blip>
              <a:stretch>
                <a:fillRect l="0" t="-79377" r="0" b="-79376"/>
              </a:stretch>
            </a:blipFill>
          </p:spPr>
          <p:txBody>
            <a:bodyPr/>
            <a:lstStyle/>
            <a:p>
              <a:pPr>
                <a:defRPr/>
              </a:pPr>
              <a:endParaRPr lang="en-US"/>
            </a:p>
          </p:txBody>
        </p:sp>
        <p:sp>
          <p:nvSpPr>
            <p:cNvPr id="34" name="TextBox 34"/>
            <p:cNvSpPr txBox="1"/>
            <p:nvPr/>
          </p:nvSpPr>
          <p:spPr bwMode="auto">
            <a:xfrm>
              <a:off x="0" y="0"/>
              <a:ext cx="6329388" cy="953243"/>
            </a:xfrm>
            <a:prstGeom prst="rect">
              <a:avLst/>
            </a:prstGeom>
            <a:grpFill/>
          </p:spPr>
          <p:txBody>
            <a:bodyPr lIns="0" tIns="0" rIns="0" bIns="0" rtlCol="0" anchor="ctr"/>
            <a:lstStyle/>
            <a:p>
              <a:pPr algn="l">
                <a:lnSpc>
                  <a:spcPts val="1938"/>
                </a:lnSpc>
                <a:defRPr/>
              </a:pPr>
              <a:r>
                <a:rPr lang="en-US" sz="1600">
                  <a:solidFill>
                    <a:srgbClr val="323130"/>
                  </a:solidFill>
                  <a:latin typeface="Helvetica World"/>
                  <a:ea typeface="Helvetica World"/>
                  <a:cs typeface="Helvetica World"/>
                </a:rPr>
                <a:t> </a:t>
              </a:r>
              <a:r>
                <a:rPr lang="en-US" sz="1600">
                  <a:solidFill>
                    <a:srgbClr val="000000"/>
                  </a:solidFill>
                  <a:latin typeface="Helvetica World"/>
                  <a:ea typeface="Helvetica World"/>
                  <a:cs typeface="Helvetica World"/>
                </a:rPr>
                <a:t>  </a:t>
              </a:r>
              <a:r>
                <a:rPr lang="en-US" sz="1600">
                  <a:solidFill>
                    <a:srgbClr val="323130"/>
                  </a:solidFill>
                  <a:latin typeface="Helvetica World"/>
                  <a:ea typeface="Helvetica World"/>
                  <a:cs typeface="Helvetica World"/>
                </a:rPr>
                <a:t> SQL public access is disabled </a:t>
              </a:r>
              <a:endParaRPr/>
            </a:p>
          </p:txBody>
        </p:sp>
      </p:grpSp>
      <p:grpSp>
        <p:nvGrpSpPr>
          <p:cNvPr id="390507277" name="Group 35"/>
          <p:cNvGrpSpPr/>
          <p:nvPr/>
        </p:nvGrpSpPr>
        <p:grpSpPr bwMode="auto">
          <a:xfrm>
            <a:off x="1286068" y="5938236"/>
            <a:ext cx="343157" cy="291694"/>
            <a:chOff x="0" y="0"/>
            <a:chExt cx="457543" cy="388925"/>
          </a:xfrm>
        </p:grpSpPr>
        <p:sp>
          <p:nvSpPr>
            <p:cNvPr id="36" name="Freeform 36" descr="image.png"/>
            <p:cNvSpPr/>
            <p:nvPr/>
          </p:nvSpPr>
          <p:spPr bwMode="auto">
            <a:xfrm>
              <a:off x="0" y="0"/>
              <a:ext cx="457581" cy="388874"/>
            </a:xfrm>
            <a:custGeom>
              <a:avLst/>
              <a:gdLst/>
              <a:ahLst/>
              <a:cxnLst/>
              <a:rect l="l" t="t" r="r" b="b"/>
              <a:pathLst>
                <a:path w="457581" h="388874" fill="norm" stroke="1" extrusionOk="0">
                  <a:moveTo>
                    <a:pt x="0" y="0"/>
                  </a:moveTo>
                  <a:lnTo>
                    <a:pt x="457581" y="0"/>
                  </a:lnTo>
                  <a:lnTo>
                    <a:pt x="457581" y="388874"/>
                  </a:lnTo>
                  <a:lnTo>
                    <a:pt x="0" y="388874"/>
                  </a:lnTo>
                  <a:lnTo>
                    <a:pt x="0" y="0"/>
                  </a:lnTo>
                  <a:close/>
                </a:path>
              </a:pathLst>
            </a:custGeom>
            <a:blipFill rotWithShape="1">
              <a:blip r:embed="rId5"/>
              <a:stretch>
                <a:fillRect l="-1" t="0" r="6" b="-13"/>
              </a:stretch>
            </a:blipFill>
          </p:spPr>
          <p:txBody>
            <a:bodyPr/>
            <a:lstStyle/>
            <a:p>
              <a:pPr>
                <a:defRPr/>
              </a:pPr>
              <a:endParaRPr lang="en-US"/>
            </a:p>
          </p:txBody>
        </p:sp>
      </p:grpSp>
      <p:grpSp>
        <p:nvGrpSpPr>
          <p:cNvPr id="381612836" name="Group 37"/>
          <p:cNvGrpSpPr/>
          <p:nvPr/>
        </p:nvGrpSpPr>
        <p:grpSpPr bwMode="auto">
          <a:xfrm>
            <a:off x="7048565" y="2020208"/>
            <a:ext cx="4747041" cy="474625"/>
            <a:chOff x="0" y="0"/>
            <a:chExt cx="6329388" cy="632833"/>
          </a:xfrm>
        </p:grpSpPr>
        <p:sp>
          <p:nvSpPr>
            <p:cNvPr id="38" name="Freeform 38"/>
            <p:cNvSpPr/>
            <p:nvPr/>
          </p:nvSpPr>
          <p:spPr bwMode="auto">
            <a:xfrm>
              <a:off x="0" y="0"/>
              <a:ext cx="6329385" cy="632836"/>
            </a:xfrm>
            <a:custGeom>
              <a:avLst/>
              <a:gdLst/>
              <a:ahLst/>
              <a:cxnLst/>
              <a:rect l="l" t="t" r="r" b="b"/>
              <a:pathLst>
                <a:path w="6329385" h="632836" fill="norm" stroke="1" extrusionOk="0">
                  <a:moveTo>
                    <a:pt x="0" y="0"/>
                  </a:moveTo>
                  <a:lnTo>
                    <a:pt x="6329385" y="0"/>
                  </a:lnTo>
                  <a:lnTo>
                    <a:pt x="6329385" y="632836"/>
                  </a:lnTo>
                  <a:lnTo>
                    <a:pt x="0" y="632836"/>
                  </a:lnTo>
                  <a:close/>
                </a:path>
              </a:pathLst>
            </a:custGeom>
            <a:blipFill rotWithShape="1">
              <a:blip r:embed="rId3">
                <a:alphaModFix amt="0"/>
              </a:blip>
              <a:stretch>
                <a:fillRect l="0" t="-148186" r="0" b="-141577"/>
              </a:stretch>
            </a:blipFill>
          </p:spPr>
          <p:txBody>
            <a:bodyPr/>
            <a:lstStyle/>
            <a:p>
              <a:pPr>
                <a:defRPr/>
              </a:pPr>
              <a:endParaRPr lang="en-US"/>
            </a:p>
          </p:txBody>
        </p:sp>
        <p:sp>
          <p:nvSpPr>
            <p:cNvPr id="39" name="TextBox 39"/>
            <p:cNvSpPr txBox="1"/>
            <p:nvPr/>
          </p:nvSpPr>
          <p:spPr bwMode="auto">
            <a:xfrm>
              <a:off x="0" y="-9525"/>
              <a:ext cx="6329388" cy="642358"/>
            </a:xfrm>
            <a:prstGeom prst="rect">
              <a:avLst/>
            </a:prstGeom>
            <a:grpFill/>
          </p:spPr>
          <p:txBody>
            <a:bodyPr lIns="0" tIns="0" rIns="0" bIns="0" rtlCol="0" anchor="ctr"/>
            <a:lstStyle/>
            <a:p>
              <a:pPr algn="l">
                <a:lnSpc>
                  <a:spcPts val="2154"/>
                </a:lnSpc>
                <a:defRPr/>
              </a:pPr>
              <a:r>
                <a:rPr lang="en-US" sz="1800" b="1">
                  <a:solidFill>
                    <a:srgbClr val="0078D4"/>
                  </a:solidFill>
                  <a:latin typeface="Helvetica World Bold"/>
                  <a:ea typeface="Helvetica World Bold"/>
                  <a:cs typeface="Helvetica World Bold"/>
                </a:rPr>
                <a:t>Monitoring Alerts</a:t>
              </a:r>
              <a:endParaRPr/>
            </a:p>
          </p:txBody>
        </p:sp>
      </p:grpSp>
      <p:grpSp>
        <p:nvGrpSpPr>
          <p:cNvPr id="2032205490" name="Group 40"/>
          <p:cNvGrpSpPr/>
          <p:nvPr/>
        </p:nvGrpSpPr>
        <p:grpSpPr bwMode="auto">
          <a:xfrm>
            <a:off x="9144000" y="2014013"/>
            <a:ext cx="1528010" cy="541439"/>
            <a:chOff x="0" y="0"/>
            <a:chExt cx="2037347" cy="721919"/>
          </a:xfrm>
        </p:grpSpPr>
        <p:sp>
          <p:nvSpPr>
            <p:cNvPr id="41" name="Freeform 41"/>
            <p:cNvSpPr/>
            <p:nvPr/>
          </p:nvSpPr>
          <p:spPr bwMode="auto">
            <a:xfrm>
              <a:off x="8255" y="8255"/>
              <a:ext cx="2020824" cy="705358"/>
            </a:xfrm>
            <a:custGeom>
              <a:avLst/>
              <a:gdLst/>
              <a:ahLst/>
              <a:cxnLst/>
              <a:rect l="l" t="t" r="r" b="b"/>
              <a:pathLst>
                <a:path w="2020824" h="705358" fill="norm" stroke="1" extrusionOk="0">
                  <a:moveTo>
                    <a:pt x="0" y="152527"/>
                  </a:moveTo>
                  <a:cubicBezTo>
                    <a:pt x="0" y="68326"/>
                    <a:pt x="69342" y="0"/>
                    <a:pt x="154813" y="0"/>
                  </a:cubicBezTo>
                  <a:lnTo>
                    <a:pt x="1866011" y="0"/>
                  </a:lnTo>
                  <a:cubicBezTo>
                    <a:pt x="1951482" y="0"/>
                    <a:pt x="2020824" y="68326"/>
                    <a:pt x="2020824" y="152527"/>
                  </a:cubicBezTo>
                  <a:lnTo>
                    <a:pt x="2020824" y="552831"/>
                  </a:lnTo>
                  <a:cubicBezTo>
                    <a:pt x="2020824" y="637032"/>
                    <a:pt x="1951482" y="705358"/>
                    <a:pt x="1866011" y="705358"/>
                  </a:cubicBezTo>
                  <a:lnTo>
                    <a:pt x="154813" y="705358"/>
                  </a:lnTo>
                  <a:cubicBezTo>
                    <a:pt x="69342" y="705358"/>
                    <a:pt x="0" y="637159"/>
                    <a:pt x="0" y="552831"/>
                  </a:cubicBezTo>
                  <a:close/>
                </a:path>
              </a:pathLst>
            </a:custGeom>
            <a:solidFill>
              <a:srgbClr val="F3F2F1"/>
            </a:solidFill>
          </p:spPr>
          <p:txBody>
            <a:bodyPr/>
            <a:lstStyle/>
            <a:p>
              <a:pPr>
                <a:defRPr/>
              </a:pPr>
              <a:endParaRPr lang="en-US"/>
            </a:p>
          </p:txBody>
        </p:sp>
        <p:sp>
          <p:nvSpPr>
            <p:cNvPr id="42" name="Freeform 42"/>
            <p:cNvSpPr/>
            <p:nvPr/>
          </p:nvSpPr>
          <p:spPr bwMode="auto">
            <a:xfrm>
              <a:off x="0" y="0"/>
              <a:ext cx="2037334" cy="721868"/>
            </a:xfrm>
            <a:custGeom>
              <a:avLst/>
              <a:gdLst/>
              <a:ahLst/>
              <a:cxnLst/>
              <a:rect l="l" t="t" r="r" b="b"/>
              <a:pathLst>
                <a:path w="2037334" h="721868" fill="norm" stroke="1" extrusionOk="0">
                  <a:moveTo>
                    <a:pt x="0" y="160782"/>
                  </a:moveTo>
                  <a:cubicBezTo>
                    <a:pt x="0" y="71882"/>
                    <a:pt x="73152" y="0"/>
                    <a:pt x="163068" y="0"/>
                  </a:cubicBezTo>
                  <a:lnTo>
                    <a:pt x="1874266" y="0"/>
                  </a:lnTo>
                  <a:lnTo>
                    <a:pt x="1874266" y="8255"/>
                  </a:lnTo>
                  <a:lnTo>
                    <a:pt x="1874266" y="0"/>
                  </a:lnTo>
                  <a:cubicBezTo>
                    <a:pt x="1964182" y="0"/>
                    <a:pt x="2037334" y="71882"/>
                    <a:pt x="2037334" y="160782"/>
                  </a:cubicBezTo>
                  <a:lnTo>
                    <a:pt x="2029079" y="160782"/>
                  </a:lnTo>
                  <a:lnTo>
                    <a:pt x="2037334" y="160782"/>
                  </a:lnTo>
                  <a:lnTo>
                    <a:pt x="2037334" y="561086"/>
                  </a:lnTo>
                  <a:lnTo>
                    <a:pt x="2029079" y="561086"/>
                  </a:lnTo>
                  <a:lnTo>
                    <a:pt x="2037334" y="561086"/>
                  </a:lnTo>
                  <a:cubicBezTo>
                    <a:pt x="2037334" y="649986"/>
                    <a:pt x="1964182" y="721868"/>
                    <a:pt x="1874266" y="721868"/>
                  </a:cubicBezTo>
                  <a:lnTo>
                    <a:pt x="1874266" y="713613"/>
                  </a:lnTo>
                  <a:lnTo>
                    <a:pt x="1874266" y="721868"/>
                  </a:lnTo>
                  <a:lnTo>
                    <a:pt x="163068" y="721868"/>
                  </a:lnTo>
                  <a:lnTo>
                    <a:pt x="163068" y="713613"/>
                  </a:lnTo>
                  <a:lnTo>
                    <a:pt x="163068" y="721868"/>
                  </a:lnTo>
                  <a:cubicBezTo>
                    <a:pt x="73152" y="721868"/>
                    <a:pt x="0" y="650113"/>
                    <a:pt x="0" y="561086"/>
                  </a:cubicBezTo>
                  <a:lnTo>
                    <a:pt x="0" y="160782"/>
                  </a:lnTo>
                  <a:lnTo>
                    <a:pt x="8255" y="160782"/>
                  </a:lnTo>
                  <a:lnTo>
                    <a:pt x="0" y="160782"/>
                  </a:lnTo>
                  <a:moveTo>
                    <a:pt x="16510" y="160782"/>
                  </a:moveTo>
                  <a:lnTo>
                    <a:pt x="16510" y="561086"/>
                  </a:lnTo>
                  <a:lnTo>
                    <a:pt x="8255" y="561086"/>
                  </a:lnTo>
                  <a:lnTo>
                    <a:pt x="16510" y="561086"/>
                  </a:lnTo>
                  <a:cubicBezTo>
                    <a:pt x="16510" y="640588"/>
                    <a:pt x="82042" y="705358"/>
                    <a:pt x="163068" y="705358"/>
                  </a:cubicBezTo>
                  <a:lnTo>
                    <a:pt x="1874266" y="705358"/>
                  </a:lnTo>
                  <a:cubicBezTo>
                    <a:pt x="1955292" y="705358"/>
                    <a:pt x="2020824" y="640715"/>
                    <a:pt x="2020824" y="561086"/>
                  </a:cubicBezTo>
                  <a:lnTo>
                    <a:pt x="2020824" y="160782"/>
                  </a:lnTo>
                  <a:cubicBezTo>
                    <a:pt x="2020824" y="81280"/>
                    <a:pt x="1955292" y="16510"/>
                    <a:pt x="1874266" y="16510"/>
                  </a:cubicBezTo>
                  <a:lnTo>
                    <a:pt x="163068" y="16510"/>
                  </a:lnTo>
                  <a:lnTo>
                    <a:pt x="163068" y="8255"/>
                  </a:lnTo>
                  <a:lnTo>
                    <a:pt x="163068" y="16510"/>
                  </a:lnTo>
                  <a:cubicBezTo>
                    <a:pt x="82042" y="16510"/>
                    <a:pt x="16510" y="81280"/>
                    <a:pt x="16510" y="160782"/>
                  </a:cubicBezTo>
                  <a:close/>
                </a:path>
              </a:pathLst>
            </a:custGeom>
            <a:solidFill>
              <a:srgbClr val="E1DFDD"/>
            </a:solidFill>
          </p:spPr>
          <p:txBody>
            <a:bodyPr/>
            <a:lstStyle/>
            <a:p>
              <a:pPr>
                <a:defRPr/>
              </a:pPr>
              <a:endParaRPr lang="en-US"/>
            </a:p>
          </p:txBody>
        </p:sp>
      </p:grpSp>
      <p:grpSp>
        <p:nvGrpSpPr>
          <p:cNvPr id="465598019" name="Group 43"/>
          <p:cNvGrpSpPr/>
          <p:nvPr/>
        </p:nvGrpSpPr>
        <p:grpSpPr bwMode="auto">
          <a:xfrm>
            <a:off x="9422085" y="2020208"/>
            <a:ext cx="1515617" cy="529049"/>
            <a:chOff x="0" y="0"/>
            <a:chExt cx="2020824" cy="705399"/>
          </a:xfrm>
        </p:grpSpPr>
        <p:sp>
          <p:nvSpPr>
            <p:cNvPr id="44" name="Freeform 44"/>
            <p:cNvSpPr/>
            <p:nvPr/>
          </p:nvSpPr>
          <p:spPr bwMode="auto">
            <a:xfrm>
              <a:off x="0" y="0"/>
              <a:ext cx="2020827" cy="705402"/>
            </a:xfrm>
            <a:custGeom>
              <a:avLst/>
              <a:gdLst/>
              <a:ahLst/>
              <a:cxnLst/>
              <a:rect l="l" t="t" r="r" b="b"/>
              <a:pathLst>
                <a:path w="2020827" h="705402" fill="norm" stroke="1" extrusionOk="0">
                  <a:moveTo>
                    <a:pt x="0" y="0"/>
                  </a:moveTo>
                  <a:lnTo>
                    <a:pt x="2020827" y="0"/>
                  </a:lnTo>
                  <a:lnTo>
                    <a:pt x="2020827" y="705402"/>
                  </a:lnTo>
                  <a:lnTo>
                    <a:pt x="0" y="705402"/>
                  </a:lnTo>
                  <a:close/>
                </a:path>
              </a:pathLst>
            </a:custGeom>
            <a:blipFill rotWithShape="1">
              <a:blip r:embed="rId3">
                <a:alphaModFix amt="0"/>
              </a:blip>
              <a:stretch>
                <a:fillRect l="0" t="-5820" r="0" b="-5819"/>
              </a:stretch>
            </a:blipFill>
          </p:spPr>
          <p:txBody>
            <a:bodyPr/>
            <a:lstStyle/>
            <a:p>
              <a:pPr>
                <a:defRPr/>
              </a:pPr>
              <a:endParaRPr lang="en-US"/>
            </a:p>
          </p:txBody>
        </p:sp>
        <p:sp>
          <p:nvSpPr>
            <p:cNvPr id="45" name="TextBox 45"/>
            <p:cNvSpPr txBox="1"/>
            <p:nvPr/>
          </p:nvSpPr>
          <p:spPr bwMode="auto">
            <a:xfrm>
              <a:off x="0" y="-9525"/>
              <a:ext cx="2020824" cy="714924"/>
            </a:xfrm>
            <a:prstGeom prst="rect">
              <a:avLst/>
            </a:prstGeom>
            <a:grpFill/>
          </p:spPr>
          <p:txBody>
            <a:bodyPr lIns="0" tIns="0" rIns="0" bIns="0" rtlCol="0" anchor="ctr"/>
            <a:lstStyle/>
            <a:p>
              <a:pPr algn="l">
                <a:lnSpc>
                  <a:spcPts val="1722"/>
                </a:lnSpc>
                <a:defRPr/>
              </a:pPr>
              <a:r>
                <a:rPr lang="en-US" sz="1450">
                  <a:solidFill>
                    <a:srgbClr val="605E5C"/>
                  </a:solidFill>
                  <a:latin typeface="Helvetica World"/>
                  <a:ea typeface="Helvetica World"/>
                  <a:cs typeface="Helvetica World"/>
                </a:rPr>
                <a:t> CPU Usage</a:t>
              </a:r>
              <a:endParaRPr/>
            </a:p>
          </p:txBody>
        </p:sp>
      </p:grpSp>
      <p:grpSp>
        <p:nvGrpSpPr>
          <p:cNvPr id="445103" name="Group 46"/>
          <p:cNvGrpSpPr/>
          <p:nvPr/>
        </p:nvGrpSpPr>
        <p:grpSpPr bwMode="auto">
          <a:xfrm>
            <a:off x="14247074" y="2020214"/>
            <a:ext cx="1413624" cy="541439"/>
            <a:chOff x="0" y="0"/>
            <a:chExt cx="1884832" cy="721919"/>
          </a:xfrm>
        </p:grpSpPr>
        <p:sp>
          <p:nvSpPr>
            <p:cNvPr id="47" name="Freeform 47"/>
            <p:cNvSpPr/>
            <p:nvPr/>
          </p:nvSpPr>
          <p:spPr bwMode="auto">
            <a:xfrm>
              <a:off x="8255" y="8255"/>
              <a:ext cx="1868297" cy="705358"/>
            </a:xfrm>
            <a:custGeom>
              <a:avLst/>
              <a:gdLst/>
              <a:ahLst/>
              <a:cxnLst/>
              <a:rect l="l" t="t" r="r" b="b"/>
              <a:pathLst>
                <a:path w="1868297" h="705358" fill="norm" stroke="1" extrusionOk="0">
                  <a:moveTo>
                    <a:pt x="0" y="152527"/>
                  </a:moveTo>
                  <a:cubicBezTo>
                    <a:pt x="0" y="68326"/>
                    <a:pt x="69215" y="0"/>
                    <a:pt x="154686" y="0"/>
                  </a:cubicBezTo>
                  <a:lnTo>
                    <a:pt x="1713611" y="0"/>
                  </a:lnTo>
                  <a:cubicBezTo>
                    <a:pt x="1799082" y="0"/>
                    <a:pt x="1868297" y="68326"/>
                    <a:pt x="1868297" y="152527"/>
                  </a:cubicBezTo>
                  <a:lnTo>
                    <a:pt x="1868297" y="552831"/>
                  </a:lnTo>
                  <a:cubicBezTo>
                    <a:pt x="1868297" y="637032"/>
                    <a:pt x="1799082" y="705358"/>
                    <a:pt x="1713611" y="705358"/>
                  </a:cubicBezTo>
                  <a:lnTo>
                    <a:pt x="154686" y="705358"/>
                  </a:lnTo>
                  <a:cubicBezTo>
                    <a:pt x="69215" y="705358"/>
                    <a:pt x="0" y="637159"/>
                    <a:pt x="0" y="552831"/>
                  </a:cubicBezTo>
                  <a:close/>
                </a:path>
              </a:pathLst>
            </a:custGeom>
            <a:solidFill>
              <a:srgbClr val="F3F2F1"/>
            </a:solidFill>
          </p:spPr>
          <p:txBody>
            <a:bodyPr/>
            <a:lstStyle/>
            <a:p>
              <a:pPr>
                <a:defRPr/>
              </a:pPr>
              <a:endParaRPr lang="en-US"/>
            </a:p>
          </p:txBody>
        </p:sp>
        <p:sp>
          <p:nvSpPr>
            <p:cNvPr id="48" name="Freeform 48"/>
            <p:cNvSpPr/>
            <p:nvPr/>
          </p:nvSpPr>
          <p:spPr bwMode="auto">
            <a:xfrm>
              <a:off x="0" y="0"/>
              <a:ext cx="1884807" cy="721868"/>
            </a:xfrm>
            <a:custGeom>
              <a:avLst/>
              <a:gdLst/>
              <a:ahLst/>
              <a:cxnLst/>
              <a:rect l="l" t="t" r="r" b="b"/>
              <a:pathLst>
                <a:path w="1884807" h="721868" fill="norm" stroke="1" extrusionOk="0">
                  <a:moveTo>
                    <a:pt x="0" y="160782"/>
                  </a:moveTo>
                  <a:cubicBezTo>
                    <a:pt x="0" y="71882"/>
                    <a:pt x="73025" y="0"/>
                    <a:pt x="162941" y="0"/>
                  </a:cubicBezTo>
                  <a:lnTo>
                    <a:pt x="1721866" y="0"/>
                  </a:lnTo>
                  <a:lnTo>
                    <a:pt x="1721866" y="8255"/>
                  </a:lnTo>
                  <a:lnTo>
                    <a:pt x="1721866" y="0"/>
                  </a:lnTo>
                  <a:cubicBezTo>
                    <a:pt x="1811782" y="0"/>
                    <a:pt x="1884807" y="71882"/>
                    <a:pt x="1884807" y="160782"/>
                  </a:cubicBezTo>
                  <a:lnTo>
                    <a:pt x="1876552" y="160782"/>
                  </a:lnTo>
                  <a:lnTo>
                    <a:pt x="1884807" y="160782"/>
                  </a:lnTo>
                  <a:lnTo>
                    <a:pt x="1884807" y="561086"/>
                  </a:lnTo>
                  <a:lnTo>
                    <a:pt x="1876552" y="561086"/>
                  </a:lnTo>
                  <a:lnTo>
                    <a:pt x="1884807" y="561086"/>
                  </a:lnTo>
                  <a:cubicBezTo>
                    <a:pt x="1884807" y="649986"/>
                    <a:pt x="1811782" y="721868"/>
                    <a:pt x="1721866" y="721868"/>
                  </a:cubicBezTo>
                  <a:lnTo>
                    <a:pt x="1721866" y="713613"/>
                  </a:lnTo>
                  <a:lnTo>
                    <a:pt x="1721866" y="721868"/>
                  </a:lnTo>
                  <a:lnTo>
                    <a:pt x="162941" y="721868"/>
                  </a:lnTo>
                  <a:lnTo>
                    <a:pt x="162941" y="713613"/>
                  </a:lnTo>
                  <a:lnTo>
                    <a:pt x="162941" y="721868"/>
                  </a:lnTo>
                  <a:cubicBezTo>
                    <a:pt x="73025" y="721868"/>
                    <a:pt x="0" y="650113"/>
                    <a:pt x="0" y="561086"/>
                  </a:cubicBezTo>
                  <a:lnTo>
                    <a:pt x="0" y="160782"/>
                  </a:lnTo>
                  <a:lnTo>
                    <a:pt x="8255" y="160782"/>
                  </a:lnTo>
                  <a:lnTo>
                    <a:pt x="0" y="160782"/>
                  </a:lnTo>
                  <a:moveTo>
                    <a:pt x="16510" y="160782"/>
                  </a:moveTo>
                  <a:lnTo>
                    <a:pt x="16510" y="561086"/>
                  </a:lnTo>
                  <a:lnTo>
                    <a:pt x="8255" y="561086"/>
                  </a:lnTo>
                  <a:lnTo>
                    <a:pt x="16510" y="561086"/>
                  </a:lnTo>
                  <a:cubicBezTo>
                    <a:pt x="16510" y="640588"/>
                    <a:pt x="81915" y="705358"/>
                    <a:pt x="162941" y="705358"/>
                  </a:cubicBezTo>
                  <a:lnTo>
                    <a:pt x="1721866" y="705358"/>
                  </a:lnTo>
                  <a:cubicBezTo>
                    <a:pt x="1802892" y="705358"/>
                    <a:pt x="1868297" y="640715"/>
                    <a:pt x="1868297" y="561086"/>
                  </a:cubicBezTo>
                  <a:lnTo>
                    <a:pt x="1868297" y="160782"/>
                  </a:lnTo>
                  <a:cubicBezTo>
                    <a:pt x="1868297" y="81280"/>
                    <a:pt x="1802892" y="16510"/>
                    <a:pt x="1721866" y="16510"/>
                  </a:cubicBezTo>
                  <a:lnTo>
                    <a:pt x="162941" y="16510"/>
                  </a:lnTo>
                  <a:lnTo>
                    <a:pt x="162941" y="8255"/>
                  </a:lnTo>
                  <a:lnTo>
                    <a:pt x="162941" y="16510"/>
                  </a:lnTo>
                  <a:cubicBezTo>
                    <a:pt x="82042" y="16510"/>
                    <a:pt x="16510" y="81280"/>
                    <a:pt x="16510" y="160782"/>
                  </a:cubicBezTo>
                  <a:close/>
                </a:path>
              </a:pathLst>
            </a:custGeom>
            <a:solidFill>
              <a:srgbClr val="E1DFDD"/>
            </a:solidFill>
          </p:spPr>
          <p:txBody>
            <a:bodyPr/>
            <a:lstStyle/>
            <a:p>
              <a:pPr>
                <a:defRPr/>
              </a:pPr>
              <a:endParaRPr lang="en-US"/>
            </a:p>
          </p:txBody>
        </p:sp>
      </p:grpSp>
      <p:grpSp>
        <p:nvGrpSpPr>
          <p:cNvPr id="1040569329" name="Group 49"/>
          <p:cNvGrpSpPr/>
          <p:nvPr/>
        </p:nvGrpSpPr>
        <p:grpSpPr bwMode="auto">
          <a:xfrm>
            <a:off x="14253275" y="2026414"/>
            <a:ext cx="1401232" cy="529049"/>
            <a:chOff x="0" y="0"/>
            <a:chExt cx="1868310" cy="705399"/>
          </a:xfrm>
        </p:grpSpPr>
        <p:sp>
          <p:nvSpPr>
            <p:cNvPr id="50" name="Freeform 50"/>
            <p:cNvSpPr/>
            <p:nvPr/>
          </p:nvSpPr>
          <p:spPr bwMode="auto">
            <a:xfrm>
              <a:off x="0" y="0"/>
              <a:ext cx="1868312" cy="705402"/>
            </a:xfrm>
            <a:custGeom>
              <a:avLst/>
              <a:gdLst/>
              <a:ahLst/>
              <a:cxnLst/>
              <a:rect l="l" t="t" r="r" b="b"/>
              <a:pathLst>
                <a:path w="1868312" h="705402" fill="norm" stroke="1" extrusionOk="0">
                  <a:moveTo>
                    <a:pt x="0" y="0"/>
                  </a:moveTo>
                  <a:lnTo>
                    <a:pt x="1868312" y="0"/>
                  </a:lnTo>
                  <a:lnTo>
                    <a:pt x="1868312" y="705402"/>
                  </a:lnTo>
                  <a:lnTo>
                    <a:pt x="0" y="705402"/>
                  </a:lnTo>
                  <a:close/>
                </a:path>
              </a:pathLst>
            </a:custGeom>
            <a:blipFill rotWithShape="1">
              <a:blip r:embed="rId3">
                <a:alphaModFix amt="0"/>
              </a:blip>
              <a:stretch>
                <a:fillRect l="0" t="-1607" r="0" b="-1606"/>
              </a:stretch>
            </a:blipFill>
          </p:spPr>
          <p:txBody>
            <a:bodyPr/>
            <a:lstStyle/>
            <a:p>
              <a:pPr>
                <a:defRPr/>
              </a:pPr>
              <a:endParaRPr lang="en-US"/>
            </a:p>
          </p:txBody>
        </p:sp>
        <p:sp>
          <p:nvSpPr>
            <p:cNvPr id="51" name="TextBox 51"/>
            <p:cNvSpPr txBox="1"/>
            <p:nvPr/>
          </p:nvSpPr>
          <p:spPr bwMode="auto">
            <a:xfrm>
              <a:off x="0" y="-9525"/>
              <a:ext cx="1868310" cy="714924"/>
            </a:xfrm>
            <a:prstGeom prst="rect">
              <a:avLst/>
            </a:prstGeom>
            <a:grpFill/>
          </p:spPr>
          <p:txBody>
            <a:bodyPr lIns="0" tIns="0" rIns="0" bIns="0" rtlCol="0" anchor="ctr"/>
            <a:lstStyle/>
            <a:p>
              <a:pPr algn="l">
                <a:lnSpc>
                  <a:spcPts val="1722"/>
                </a:lnSpc>
                <a:defRPr/>
              </a:pPr>
              <a:r>
                <a:rPr lang="en-US" sz="1450">
                  <a:solidFill>
                    <a:srgbClr val="605E5C"/>
                  </a:solidFill>
                  <a:latin typeface="Helvetica World"/>
                  <a:ea typeface="Helvetica World"/>
                  <a:cs typeface="Helvetica World"/>
                </a:rPr>
                <a:t>     5xx Errors</a:t>
              </a:r>
              <a:endParaRPr/>
            </a:p>
          </p:txBody>
        </p:sp>
      </p:grpSp>
      <p:grpSp>
        <p:nvGrpSpPr>
          <p:cNvPr id="728587539" name="Group 52"/>
          <p:cNvGrpSpPr/>
          <p:nvPr/>
        </p:nvGrpSpPr>
        <p:grpSpPr bwMode="auto">
          <a:xfrm>
            <a:off x="10863858" y="2007818"/>
            <a:ext cx="1513713" cy="541439"/>
            <a:chOff x="0" y="0"/>
            <a:chExt cx="2018284" cy="721919"/>
          </a:xfrm>
        </p:grpSpPr>
        <p:sp>
          <p:nvSpPr>
            <p:cNvPr id="53" name="Freeform 53"/>
            <p:cNvSpPr/>
            <p:nvPr/>
          </p:nvSpPr>
          <p:spPr bwMode="auto">
            <a:xfrm>
              <a:off x="8255" y="8255"/>
              <a:ext cx="2001774" cy="705358"/>
            </a:xfrm>
            <a:custGeom>
              <a:avLst/>
              <a:gdLst/>
              <a:ahLst/>
              <a:cxnLst/>
              <a:rect l="l" t="t" r="r" b="b"/>
              <a:pathLst>
                <a:path w="2001774" h="705358" fill="norm" stroke="1" extrusionOk="0">
                  <a:moveTo>
                    <a:pt x="0" y="152527"/>
                  </a:moveTo>
                  <a:cubicBezTo>
                    <a:pt x="0" y="68326"/>
                    <a:pt x="69342" y="0"/>
                    <a:pt x="154813" y="0"/>
                  </a:cubicBezTo>
                  <a:lnTo>
                    <a:pt x="1846961" y="0"/>
                  </a:lnTo>
                  <a:cubicBezTo>
                    <a:pt x="1932432" y="0"/>
                    <a:pt x="2001774" y="68326"/>
                    <a:pt x="2001774" y="152527"/>
                  </a:cubicBezTo>
                  <a:lnTo>
                    <a:pt x="2001774" y="552831"/>
                  </a:lnTo>
                  <a:cubicBezTo>
                    <a:pt x="2001774" y="637032"/>
                    <a:pt x="1932432" y="705358"/>
                    <a:pt x="1846961" y="705358"/>
                  </a:cubicBezTo>
                  <a:lnTo>
                    <a:pt x="154813" y="705358"/>
                  </a:lnTo>
                  <a:cubicBezTo>
                    <a:pt x="69342" y="705358"/>
                    <a:pt x="0" y="637159"/>
                    <a:pt x="0" y="552831"/>
                  </a:cubicBezTo>
                  <a:close/>
                </a:path>
              </a:pathLst>
            </a:custGeom>
            <a:solidFill>
              <a:srgbClr val="F3F2F1"/>
            </a:solidFill>
          </p:spPr>
          <p:txBody>
            <a:bodyPr/>
            <a:lstStyle/>
            <a:p>
              <a:pPr>
                <a:defRPr/>
              </a:pPr>
              <a:endParaRPr lang="en-US"/>
            </a:p>
          </p:txBody>
        </p:sp>
        <p:sp>
          <p:nvSpPr>
            <p:cNvPr id="54" name="Freeform 54"/>
            <p:cNvSpPr/>
            <p:nvPr/>
          </p:nvSpPr>
          <p:spPr bwMode="auto">
            <a:xfrm>
              <a:off x="0" y="0"/>
              <a:ext cx="2018284" cy="721868"/>
            </a:xfrm>
            <a:custGeom>
              <a:avLst/>
              <a:gdLst/>
              <a:ahLst/>
              <a:cxnLst/>
              <a:rect l="l" t="t" r="r" b="b"/>
              <a:pathLst>
                <a:path w="2018284" h="721868" fill="norm" stroke="1" extrusionOk="0">
                  <a:moveTo>
                    <a:pt x="0" y="160782"/>
                  </a:moveTo>
                  <a:cubicBezTo>
                    <a:pt x="0" y="71882"/>
                    <a:pt x="73152" y="0"/>
                    <a:pt x="163068" y="0"/>
                  </a:cubicBezTo>
                  <a:lnTo>
                    <a:pt x="1855216" y="0"/>
                  </a:lnTo>
                  <a:lnTo>
                    <a:pt x="1855216" y="8255"/>
                  </a:lnTo>
                  <a:lnTo>
                    <a:pt x="1855216" y="0"/>
                  </a:lnTo>
                  <a:cubicBezTo>
                    <a:pt x="1945132" y="0"/>
                    <a:pt x="2018284" y="71882"/>
                    <a:pt x="2018284" y="160782"/>
                  </a:cubicBezTo>
                  <a:lnTo>
                    <a:pt x="2010029" y="160782"/>
                  </a:lnTo>
                  <a:lnTo>
                    <a:pt x="2018284" y="160782"/>
                  </a:lnTo>
                  <a:lnTo>
                    <a:pt x="2018284" y="561086"/>
                  </a:lnTo>
                  <a:lnTo>
                    <a:pt x="2010029" y="561086"/>
                  </a:lnTo>
                  <a:lnTo>
                    <a:pt x="2018284" y="561086"/>
                  </a:lnTo>
                  <a:cubicBezTo>
                    <a:pt x="2018284" y="649986"/>
                    <a:pt x="1945132" y="721868"/>
                    <a:pt x="1855216" y="721868"/>
                  </a:cubicBezTo>
                  <a:lnTo>
                    <a:pt x="1855216" y="713613"/>
                  </a:lnTo>
                  <a:lnTo>
                    <a:pt x="1855216" y="721868"/>
                  </a:lnTo>
                  <a:lnTo>
                    <a:pt x="163068" y="721868"/>
                  </a:lnTo>
                  <a:lnTo>
                    <a:pt x="163068" y="713613"/>
                  </a:lnTo>
                  <a:lnTo>
                    <a:pt x="163068" y="721868"/>
                  </a:lnTo>
                  <a:cubicBezTo>
                    <a:pt x="73152" y="721868"/>
                    <a:pt x="0" y="650113"/>
                    <a:pt x="0" y="561086"/>
                  </a:cubicBezTo>
                  <a:lnTo>
                    <a:pt x="0" y="160782"/>
                  </a:lnTo>
                  <a:lnTo>
                    <a:pt x="8255" y="160782"/>
                  </a:lnTo>
                  <a:lnTo>
                    <a:pt x="0" y="160782"/>
                  </a:lnTo>
                  <a:moveTo>
                    <a:pt x="16510" y="160782"/>
                  </a:moveTo>
                  <a:lnTo>
                    <a:pt x="16510" y="561086"/>
                  </a:lnTo>
                  <a:lnTo>
                    <a:pt x="8255" y="561086"/>
                  </a:lnTo>
                  <a:lnTo>
                    <a:pt x="16510" y="561086"/>
                  </a:lnTo>
                  <a:cubicBezTo>
                    <a:pt x="16510" y="640588"/>
                    <a:pt x="82042" y="705358"/>
                    <a:pt x="163068" y="705358"/>
                  </a:cubicBezTo>
                  <a:lnTo>
                    <a:pt x="1855216" y="705358"/>
                  </a:lnTo>
                  <a:cubicBezTo>
                    <a:pt x="1936242" y="705358"/>
                    <a:pt x="2001774" y="640715"/>
                    <a:pt x="2001774" y="561086"/>
                  </a:cubicBezTo>
                  <a:lnTo>
                    <a:pt x="2001774" y="160782"/>
                  </a:lnTo>
                  <a:cubicBezTo>
                    <a:pt x="2001774" y="81280"/>
                    <a:pt x="1936242" y="16510"/>
                    <a:pt x="1855216" y="16510"/>
                  </a:cubicBezTo>
                  <a:lnTo>
                    <a:pt x="163068" y="16510"/>
                  </a:lnTo>
                  <a:lnTo>
                    <a:pt x="163068" y="8255"/>
                  </a:lnTo>
                  <a:lnTo>
                    <a:pt x="163068" y="16510"/>
                  </a:lnTo>
                  <a:cubicBezTo>
                    <a:pt x="82042" y="16510"/>
                    <a:pt x="16510" y="81280"/>
                    <a:pt x="16510" y="160782"/>
                  </a:cubicBezTo>
                  <a:close/>
                </a:path>
              </a:pathLst>
            </a:custGeom>
            <a:solidFill>
              <a:srgbClr val="E1DFDD"/>
            </a:solidFill>
          </p:spPr>
          <p:txBody>
            <a:bodyPr/>
            <a:lstStyle/>
            <a:p>
              <a:pPr>
                <a:defRPr/>
              </a:pPr>
              <a:endParaRPr lang="en-US"/>
            </a:p>
          </p:txBody>
        </p:sp>
      </p:grpSp>
      <p:grpSp>
        <p:nvGrpSpPr>
          <p:cNvPr id="1092310983" name="Group 55"/>
          <p:cNvGrpSpPr/>
          <p:nvPr/>
        </p:nvGrpSpPr>
        <p:grpSpPr bwMode="auto">
          <a:xfrm>
            <a:off x="11055837" y="2020208"/>
            <a:ext cx="1501321" cy="529049"/>
            <a:chOff x="0" y="0"/>
            <a:chExt cx="2001761" cy="705399"/>
          </a:xfrm>
        </p:grpSpPr>
        <p:sp>
          <p:nvSpPr>
            <p:cNvPr id="56" name="Freeform 56"/>
            <p:cNvSpPr/>
            <p:nvPr/>
          </p:nvSpPr>
          <p:spPr bwMode="auto">
            <a:xfrm>
              <a:off x="0" y="0"/>
              <a:ext cx="2001762" cy="705402"/>
            </a:xfrm>
            <a:custGeom>
              <a:avLst/>
              <a:gdLst/>
              <a:ahLst/>
              <a:cxnLst/>
              <a:rect l="l" t="t" r="r" b="b"/>
              <a:pathLst>
                <a:path w="2001762" h="705402" fill="norm" stroke="1" extrusionOk="0">
                  <a:moveTo>
                    <a:pt x="0" y="0"/>
                  </a:moveTo>
                  <a:lnTo>
                    <a:pt x="2001762" y="0"/>
                  </a:lnTo>
                  <a:lnTo>
                    <a:pt x="2001762" y="705402"/>
                  </a:lnTo>
                  <a:lnTo>
                    <a:pt x="0" y="705402"/>
                  </a:lnTo>
                  <a:close/>
                </a:path>
              </a:pathLst>
            </a:custGeom>
            <a:blipFill rotWithShape="1">
              <a:blip r:embed="rId3">
                <a:alphaModFix amt="0"/>
              </a:blip>
              <a:stretch>
                <a:fillRect l="0" t="-5294" r="0" b="-5293"/>
              </a:stretch>
            </a:blipFill>
          </p:spPr>
          <p:txBody>
            <a:bodyPr/>
            <a:lstStyle/>
            <a:p>
              <a:pPr>
                <a:defRPr/>
              </a:pPr>
              <a:endParaRPr lang="en-US"/>
            </a:p>
          </p:txBody>
        </p:sp>
        <p:sp>
          <p:nvSpPr>
            <p:cNvPr id="57" name="TextBox 57"/>
            <p:cNvSpPr txBox="1"/>
            <p:nvPr/>
          </p:nvSpPr>
          <p:spPr bwMode="auto">
            <a:xfrm>
              <a:off x="0" y="-9525"/>
              <a:ext cx="2001761" cy="714924"/>
            </a:xfrm>
            <a:prstGeom prst="rect">
              <a:avLst/>
            </a:prstGeom>
            <a:grpFill/>
          </p:spPr>
          <p:txBody>
            <a:bodyPr lIns="0" tIns="0" rIns="0" bIns="0" rtlCol="0" anchor="ctr"/>
            <a:lstStyle/>
            <a:p>
              <a:pPr algn="l">
                <a:lnSpc>
                  <a:spcPts val="1722"/>
                </a:lnSpc>
                <a:defRPr/>
              </a:pPr>
              <a:r>
                <a:rPr lang="en-US" sz="1450">
                  <a:solidFill>
                    <a:srgbClr val="605E5C"/>
                  </a:solidFill>
                  <a:latin typeface="Helvetica World"/>
                  <a:ea typeface="Helvetica World"/>
                  <a:cs typeface="Helvetica World"/>
                </a:rPr>
                <a:t> DTU Limits</a:t>
              </a:r>
              <a:endParaRPr/>
            </a:p>
          </p:txBody>
        </p:sp>
      </p:grpSp>
      <p:grpSp>
        <p:nvGrpSpPr>
          <p:cNvPr id="166026661" name="Group 58"/>
          <p:cNvGrpSpPr/>
          <p:nvPr/>
        </p:nvGrpSpPr>
        <p:grpSpPr bwMode="auto">
          <a:xfrm>
            <a:off x="12557158" y="2014013"/>
            <a:ext cx="1499416" cy="541439"/>
            <a:chOff x="0" y="0"/>
            <a:chExt cx="1999221" cy="721919"/>
          </a:xfrm>
        </p:grpSpPr>
        <p:sp>
          <p:nvSpPr>
            <p:cNvPr id="59" name="Freeform 59"/>
            <p:cNvSpPr/>
            <p:nvPr/>
          </p:nvSpPr>
          <p:spPr bwMode="auto">
            <a:xfrm>
              <a:off x="8255" y="8255"/>
              <a:ext cx="1982723" cy="705358"/>
            </a:xfrm>
            <a:custGeom>
              <a:avLst/>
              <a:gdLst/>
              <a:ahLst/>
              <a:cxnLst/>
              <a:rect l="l" t="t" r="r" b="b"/>
              <a:pathLst>
                <a:path w="1982724" h="705358" fill="norm" stroke="1" extrusionOk="0">
                  <a:moveTo>
                    <a:pt x="0" y="152527"/>
                  </a:moveTo>
                  <a:cubicBezTo>
                    <a:pt x="0" y="68326"/>
                    <a:pt x="69342" y="0"/>
                    <a:pt x="154813" y="0"/>
                  </a:cubicBezTo>
                  <a:lnTo>
                    <a:pt x="1827911" y="0"/>
                  </a:lnTo>
                  <a:cubicBezTo>
                    <a:pt x="1913382" y="0"/>
                    <a:pt x="1982724" y="68326"/>
                    <a:pt x="1982724" y="152527"/>
                  </a:cubicBezTo>
                  <a:lnTo>
                    <a:pt x="1982724" y="552831"/>
                  </a:lnTo>
                  <a:cubicBezTo>
                    <a:pt x="1982724" y="637032"/>
                    <a:pt x="1913382" y="705358"/>
                    <a:pt x="1827911" y="705358"/>
                  </a:cubicBezTo>
                  <a:lnTo>
                    <a:pt x="154813" y="705358"/>
                  </a:lnTo>
                  <a:cubicBezTo>
                    <a:pt x="69342" y="705358"/>
                    <a:pt x="0" y="637159"/>
                    <a:pt x="0" y="552831"/>
                  </a:cubicBezTo>
                  <a:close/>
                </a:path>
              </a:pathLst>
            </a:custGeom>
            <a:solidFill>
              <a:srgbClr val="F3F2F1"/>
            </a:solidFill>
          </p:spPr>
          <p:txBody>
            <a:bodyPr/>
            <a:lstStyle/>
            <a:p>
              <a:pPr>
                <a:defRPr/>
              </a:pPr>
              <a:endParaRPr lang="en-US"/>
            </a:p>
          </p:txBody>
        </p:sp>
        <p:sp>
          <p:nvSpPr>
            <p:cNvPr id="60" name="Freeform 60"/>
            <p:cNvSpPr/>
            <p:nvPr/>
          </p:nvSpPr>
          <p:spPr bwMode="auto">
            <a:xfrm>
              <a:off x="0" y="0"/>
              <a:ext cx="1999234" cy="721868"/>
            </a:xfrm>
            <a:custGeom>
              <a:avLst/>
              <a:gdLst/>
              <a:ahLst/>
              <a:cxnLst/>
              <a:rect l="l" t="t" r="r" b="b"/>
              <a:pathLst>
                <a:path w="1999234" h="721868" fill="norm" stroke="1" extrusionOk="0">
                  <a:moveTo>
                    <a:pt x="0" y="160782"/>
                  </a:moveTo>
                  <a:cubicBezTo>
                    <a:pt x="0" y="71882"/>
                    <a:pt x="73152" y="0"/>
                    <a:pt x="163068" y="0"/>
                  </a:cubicBezTo>
                  <a:lnTo>
                    <a:pt x="1836166" y="0"/>
                  </a:lnTo>
                  <a:lnTo>
                    <a:pt x="1836166" y="8255"/>
                  </a:lnTo>
                  <a:lnTo>
                    <a:pt x="1836166" y="0"/>
                  </a:lnTo>
                  <a:cubicBezTo>
                    <a:pt x="1926082" y="0"/>
                    <a:pt x="1999234" y="71882"/>
                    <a:pt x="1999234" y="160782"/>
                  </a:cubicBezTo>
                  <a:lnTo>
                    <a:pt x="1990979" y="160782"/>
                  </a:lnTo>
                  <a:lnTo>
                    <a:pt x="1999234" y="160782"/>
                  </a:lnTo>
                  <a:lnTo>
                    <a:pt x="1999234" y="561086"/>
                  </a:lnTo>
                  <a:lnTo>
                    <a:pt x="1990979" y="561086"/>
                  </a:lnTo>
                  <a:lnTo>
                    <a:pt x="1999234" y="561086"/>
                  </a:lnTo>
                  <a:cubicBezTo>
                    <a:pt x="1999234" y="649986"/>
                    <a:pt x="1926082" y="721868"/>
                    <a:pt x="1836166" y="721868"/>
                  </a:cubicBezTo>
                  <a:lnTo>
                    <a:pt x="1836166" y="713613"/>
                  </a:lnTo>
                  <a:lnTo>
                    <a:pt x="1836166" y="721868"/>
                  </a:lnTo>
                  <a:lnTo>
                    <a:pt x="163068" y="721868"/>
                  </a:lnTo>
                  <a:lnTo>
                    <a:pt x="163068" y="713613"/>
                  </a:lnTo>
                  <a:lnTo>
                    <a:pt x="163068" y="721868"/>
                  </a:lnTo>
                  <a:cubicBezTo>
                    <a:pt x="73152" y="721868"/>
                    <a:pt x="0" y="650113"/>
                    <a:pt x="0" y="561086"/>
                  </a:cubicBezTo>
                  <a:lnTo>
                    <a:pt x="0" y="160782"/>
                  </a:lnTo>
                  <a:lnTo>
                    <a:pt x="8255" y="160782"/>
                  </a:lnTo>
                  <a:lnTo>
                    <a:pt x="0" y="160782"/>
                  </a:lnTo>
                  <a:moveTo>
                    <a:pt x="16510" y="160782"/>
                  </a:moveTo>
                  <a:lnTo>
                    <a:pt x="16510" y="561086"/>
                  </a:lnTo>
                  <a:lnTo>
                    <a:pt x="8255" y="561086"/>
                  </a:lnTo>
                  <a:lnTo>
                    <a:pt x="16510" y="561086"/>
                  </a:lnTo>
                  <a:cubicBezTo>
                    <a:pt x="16510" y="640588"/>
                    <a:pt x="82042" y="705358"/>
                    <a:pt x="163068" y="705358"/>
                  </a:cubicBezTo>
                  <a:lnTo>
                    <a:pt x="1836166" y="705358"/>
                  </a:lnTo>
                  <a:cubicBezTo>
                    <a:pt x="1917192" y="705358"/>
                    <a:pt x="1982724" y="640715"/>
                    <a:pt x="1982724" y="561086"/>
                  </a:cubicBezTo>
                  <a:lnTo>
                    <a:pt x="1982724" y="160782"/>
                  </a:lnTo>
                  <a:cubicBezTo>
                    <a:pt x="1982724" y="81280"/>
                    <a:pt x="1917192" y="16510"/>
                    <a:pt x="1836166" y="16510"/>
                  </a:cubicBezTo>
                  <a:lnTo>
                    <a:pt x="163068" y="16510"/>
                  </a:lnTo>
                  <a:lnTo>
                    <a:pt x="163068" y="8255"/>
                  </a:lnTo>
                  <a:lnTo>
                    <a:pt x="163068" y="16510"/>
                  </a:lnTo>
                  <a:cubicBezTo>
                    <a:pt x="82042" y="16510"/>
                    <a:pt x="16510" y="81280"/>
                    <a:pt x="16510" y="160782"/>
                  </a:cubicBezTo>
                  <a:close/>
                </a:path>
              </a:pathLst>
            </a:custGeom>
            <a:solidFill>
              <a:srgbClr val="E1DFDD"/>
            </a:solidFill>
          </p:spPr>
          <p:txBody>
            <a:bodyPr/>
            <a:lstStyle/>
            <a:p>
              <a:pPr>
                <a:defRPr/>
              </a:pPr>
              <a:endParaRPr lang="en-US"/>
            </a:p>
          </p:txBody>
        </p:sp>
      </p:grpSp>
      <p:grpSp>
        <p:nvGrpSpPr>
          <p:cNvPr id="1557947955" name="Group 61"/>
          <p:cNvGrpSpPr/>
          <p:nvPr/>
        </p:nvGrpSpPr>
        <p:grpSpPr bwMode="auto">
          <a:xfrm>
            <a:off x="12563350" y="2020214"/>
            <a:ext cx="1487024" cy="529049"/>
            <a:chOff x="0" y="0"/>
            <a:chExt cx="1982699" cy="705399"/>
          </a:xfrm>
        </p:grpSpPr>
        <p:sp>
          <p:nvSpPr>
            <p:cNvPr id="62" name="Freeform 62"/>
            <p:cNvSpPr/>
            <p:nvPr/>
          </p:nvSpPr>
          <p:spPr bwMode="auto">
            <a:xfrm>
              <a:off x="0" y="0"/>
              <a:ext cx="1982699" cy="705402"/>
            </a:xfrm>
            <a:custGeom>
              <a:avLst/>
              <a:gdLst/>
              <a:ahLst/>
              <a:cxnLst/>
              <a:rect l="l" t="t" r="r" b="b"/>
              <a:pathLst>
                <a:path w="1982699" h="705402" fill="norm" stroke="1" extrusionOk="0">
                  <a:moveTo>
                    <a:pt x="0" y="0"/>
                  </a:moveTo>
                  <a:lnTo>
                    <a:pt x="1982699" y="0"/>
                  </a:lnTo>
                  <a:lnTo>
                    <a:pt x="1982699" y="705402"/>
                  </a:lnTo>
                  <a:lnTo>
                    <a:pt x="0" y="705402"/>
                  </a:lnTo>
                  <a:close/>
                </a:path>
              </a:pathLst>
            </a:custGeom>
            <a:blipFill rotWithShape="1">
              <a:blip r:embed="rId3">
                <a:alphaModFix amt="0"/>
              </a:blip>
              <a:stretch>
                <a:fillRect l="0" t="-4767" r="0" b="-4766"/>
              </a:stretch>
            </a:blipFill>
          </p:spPr>
          <p:txBody>
            <a:bodyPr/>
            <a:lstStyle/>
            <a:p>
              <a:pPr>
                <a:defRPr/>
              </a:pPr>
              <a:endParaRPr lang="en-US"/>
            </a:p>
          </p:txBody>
        </p:sp>
        <p:sp>
          <p:nvSpPr>
            <p:cNvPr id="63" name="TextBox 63"/>
            <p:cNvSpPr txBox="1"/>
            <p:nvPr/>
          </p:nvSpPr>
          <p:spPr bwMode="auto">
            <a:xfrm>
              <a:off x="0" y="-9525"/>
              <a:ext cx="1982699" cy="714924"/>
            </a:xfrm>
            <a:prstGeom prst="rect">
              <a:avLst/>
            </a:prstGeom>
            <a:grpFill/>
          </p:spPr>
          <p:txBody>
            <a:bodyPr lIns="0" tIns="0" rIns="0" bIns="0" rtlCol="0" anchor="ctr"/>
            <a:lstStyle/>
            <a:p>
              <a:pPr algn="l">
                <a:lnSpc>
                  <a:spcPts val="1722"/>
                </a:lnSpc>
                <a:defRPr/>
              </a:pPr>
              <a:r>
                <a:rPr lang="en-US" sz="1450">
                  <a:solidFill>
                    <a:srgbClr val="605E5C"/>
                  </a:solidFill>
                  <a:latin typeface="Helvetica World"/>
                  <a:ea typeface="Helvetica World"/>
                  <a:cs typeface="Helvetica World"/>
                </a:rPr>
                <a:t>     Exceptions</a:t>
              </a:r>
              <a:endParaRPr/>
            </a:p>
          </p:txBody>
        </p:sp>
      </p:grpSp>
      <p:grpSp>
        <p:nvGrpSpPr>
          <p:cNvPr id="472475954" name="Group 64"/>
          <p:cNvGrpSpPr/>
          <p:nvPr/>
        </p:nvGrpSpPr>
        <p:grpSpPr bwMode="auto">
          <a:xfrm>
            <a:off x="0" y="0"/>
            <a:ext cx="18288000" cy="1429864"/>
            <a:chOff x="0" y="0"/>
            <a:chExt cx="24384000" cy="1906486"/>
          </a:xfrm>
        </p:grpSpPr>
        <p:sp>
          <p:nvSpPr>
            <p:cNvPr id="65" name="Freeform 65"/>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785453199" name="Group 66"/>
          <p:cNvGrpSpPr/>
          <p:nvPr/>
        </p:nvGrpSpPr>
        <p:grpSpPr bwMode="auto">
          <a:xfrm rot="-5400000">
            <a:off x="12709489" y="591012"/>
            <a:ext cx="898055" cy="247840"/>
            <a:chOff x="0" y="0"/>
            <a:chExt cx="1197407" cy="330454"/>
          </a:xfrm>
        </p:grpSpPr>
        <p:sp>
          <p:nvSpPr>
            <p:cNvPr id="67" name="Freeform 67"/>
            <p:cNvSpPr/>
            <p:nvPr/>
          </p:nvSpPr>
          <p:spPr bwMode="auto">
            <a:xfrm>
              <a:off x="0" y="0"/>
              <a:ext cx="1197381" cy="330454"/>
            </a:xfrm>
            <a:custGeom>
              <a:avLst/>
              <a:gdLst/>
              <a:ahLst/>
              <a:cxnLst/>
              <a:rect l="l" t="t" r="r" b="b"/>
              <a:pathLst>
                <a:path w="1197381" h="330454" fill="norm" stroke="1" extrusionOk="0">
                  <a:moveTo>
                    <a:pt x="170120" y="0"/>
                  </a:moveTo>
                  <a:lnTo>
                    <a:pt x="1027260" y="0"/>
                  </a:lnTo>
                  <a:cubicBezTo>
                    <a:pt x="1121278" y="0"/>
                    <a:pt x="1197381" y="73914"/>
                    <a:pt x="1197381" y="165227"/>
                  </a:cubicBezTo>
                  <a:lnTo>
                    <a:pt x="1197381" y="330454"/>
                  </a:lnTo>
                  <a:lnTo>
                    <a:pt x="0" y="330454"/>
                  </a:lnTo>
                  <a:lnTo>
                    <a:pt x="0" y="165227"/>
                  </a:lnTo>
                  <a:cubicBezTo>
                    <a:pt x="0" y="73914"/>
                    <a:pt x="76103" y="0"/>
                    <a:pt x="170120" y="0"/>
                  </a:cubicBezTo>
                  <a:close/>
                </a:path>
              </a:pathLst>
            </a:custGeom>
            <a:solidFill>
              <a:srgbClr val="0078D4"/>
            </a:solidFill>
          </p:spPr>
          <p:txBody>
            <a:bodyPr/>
            <a:lstStyle/>
            <a:p>
              <a:pPr>
                <a:defRPr/>
              </a:pPr>
              <a:endParaRPr lang="en-US"/>
            </a:p>
          </p:txBody>
        </p:sp>
      </p:grpSp>
      <p:grpSp>
        <p:nvGrpSpPr>
          <p:cNvPr id="1835451180" name="Group 68"/>
          <p:cNvGrpSpPr/>
          <p:nvPr/>
        </p:nvGrpSpPr>
        <p:grpSpPr bwMode="auto">
          <a:xfrm>
            <a:off x="571929" y="341820"/>
            <a:ext cx="6476635" cy="746224"/>
            <a:chOff x="0" y="0"/>
            <a:chExt cx="8635515" cy="994965"/>
          </a:xfrm>
        </p:grpSpPr>
        <p:sp>
          <p:nvSpPr>
            <p:cNvPr id="69" name="Freeform 69"/>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70" name="TextBox 70"/>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1868511478" name="Group 71"/>
          <p:cNvGrpSpPr/>
          <p:nvPr/>
        </p:nvGrpSpPr>
        <p:grpSpPr bwMode="auto">
          <a:xfrm>
            <a:off x="16389080" y="209531"/>
            <a:ext cx="1405661" cy="1010802"/>
            <a:chOff x="0" y="0"/>
            <a:chExt cx="692506" cy="497977"/>
          </a:xfrm>
        </p:grpSpPr>
        <p:sp>
          <p:nvSpPr>
            <p:cNvPr id="72" name="Freeform 72"/>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73" name="TextBox 73"/>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11</a:t>
              </a:r>
              <a:endParaRPr/>
            </a:p>
          </p:txBody>
        </p:sp>
      </p:grpSp>
      <p:grpSp>
        <p:nvGrpSpPr>
          <p:cNvPr id="1539697530" name="Group 74"/>
          <p:cNvGrpSpPr/>
          <p:nvPr/>
        </p:nvGrpSpPr>
        <p:grpSpPr bwMode="auto">
          <a:xfrm>
            <a:off x="1028700" y="6627275"/>
            <a:ext cx="15809082" cy="2517919"/>
            <a:chOff x="0" y="0"/>
            <a:chExt cx="3489737" cy="555812"/>
          </a:xfrm>
        </p:grpSpPr>
        <p:sp>
          <p:nvSpPr>
            <p:cNvPr id="75" name="Freeform 75"/>
            <p:cNvSpPr/>
            <p:nvPr/>
          </p:nvSpPr>
          <p:spPr bwMode="auto">
            <a:xfrm>
              <a:off x="0" y="0"/>
              <a:ext cx="3489737" cy="555812"/>
            </a:xfrm>
            <a:custGeom>
              <a:avLst/>
              <a:gdLst/>
              <a:ahLst/>
              <a:cxnLst/>
              <a:rect l="l" t="t" r="r" b="b"/>
              <a:pathLst>
                <a:path w="3489737" h="555812" fill="norm" stroke="1" extrusionOk="0">
                  <a:moveTo>
                    <a:pt x="11263" y="0"/>
                  </a:moveTo>
                  <a:lnTo>
                    <a:pt x="3478473" y="0"/>
                  </a:lnTo>
                  <a:cubicBezTo>
                    <a:pt x="3481460" y="0"/>
                    <a:pt x="3484325" y="1187"/>
                    <a:pt x="3486438" y="3299"/>
                  </a:cubicBezTo>
                  <a:cubicBezTo>
                    <a:pt x="3488550" y="5411"/>
                    <a:pt x="3489737" y="8276"/>
                    <a:pt x="3489737" y="11263"/>
                  </a:cubicBezTo>
                  <a:lnTo>
                    <a:pt x="3489737" y="544548"/>
                  </a:lnTo>
                  <a:cubicBezTo>
                    <a:pt x="3489737" y="550769"/>
                    <a:pt x="3484694" y="555812"/>
                    <a:pt x="3478473" y="555812"/>
                  </a:cubicBezTo>
                  <a:lnTo>
                    <a:pt x="11263" y="555812"/>
                  </a:lnTo>
                  <a:cubicBezTo>
                    <a:pt x="5043" y="555812"/>
                    <a:pt x="0" y="550769"/>
                    <a:pt x="0" y="544548"/>
                  </a:cubicBezTo>
                  <a:lnTo>
                    <a:pt x="0" y="11263"/>
                  </a:lnTo>
                  <a:cubicBezTo>
                    <a:pt x="0" y="5043"/>
                    <a:pt x="5043" y="0"/>
                    <a:pt x="11263" y="0"/>
                  </a:cubicBezTo>
                  <a:close/>
                </a:path>
              </a:pathLst>
            </a:custGeom>
            <a:blipFill rotWithShape="1">
              <a:blip r:embed="rId6"/>
              <a:stretch>
                <a:fillRect l="0" t="-229" r="0" b="-228"/>
              </a:stretch>
            </a:blipFill>
          </p:spPr>
          <p:txBody>
            <a:bodyPr/>
            <a:lstStyle/>
            <a:p>
              <a:pPr>
                <a:defRPr/>
              </a:pPr>
              <a:endParaRPr lang="en-US"/>
            </a:p>
          </p:txBody>
        </p:sp>
      </p:grpSp>
      <p:sp>
        <p:nvSpPr>
          <p:cNvPr id="1564504075" name="Freeform 76"/>
          <p:cNvSpPr/>
          <p:nvPr/>
        </p:nvSpPr>
        <p:spPr bwMode="auto">
          <a:xfrm>
            <a:off x="6290434" y="3142678"/>
            <a:ext cx="11301259" cy="3192606"/>
          </a:xfrm>
          <a:custGeom>
            <a:avLst/>
            <a:gdLst/>
            <a:ahLst/>
            <a:cxnLst/>
            <a:rect l="l" t="t" r="r" b="b"/>
            <a:pathLst>
              <a:path w="11301259" h="3192606" fill="norm" stroke="1" extrusionOk="0">
                <a:moveTo>
                  <a:pt x="0" y="0"/>
                </a:moveTo>
                <a:lnTo>
                  <a:pt x="11301259" y="0"/>
                </a:lnTo>
                <a:lnTo>
                  <a:pt x="11301259" y="3192605"/>
                </a:lnTo>
                <a:lnTo>
                  <a:pt x="0" y="3192605"/>
                </a:lnTo>
                <a:lnTo>
                  <a:pt x="0" y="0"/>
                </a:lnTo>
                <a:close/>
              </a:path>
            </a:pathLst>
          </a:custGeom>
          <a:blipFill rotWithShape="1">
            <a:blip r:embed="rId7"/>
            <a:stretch/>
          </a:blipFill>
        </p:spPr>
        <p:txBody>
          <a:bodyPr/>
          <a:lstStyle/>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991777701"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1770456634" name="Group 4"/>
          <p:cNvGrpSpPr/>
          <p:nvPr/>
        </p:nvGrpSpPr>
        <p:grpSpPr bwMode="auto">
          <a:xfrm>
            <a:off x="551875" y="1278438"/>
            <a:ext cx="15231247" cy="2228592"/>
            <a:chOff x="-14722456" y="-1009534"/>
            <a:chExt cx="20308330" cy="2971456"/>
          </a:xfrm>
        </p:grpSpPr>
        <p:sp>
          <p:nvSpPr>
            <p:cNvPr id="5" name="Freeform 5"/>
            <p:cNvSpPr/>
            <p:nvPr/>
          </p:nvSpPr>
          <p:spPr bwMode="auto">
            <a:xfrm>
              <a:off x="0" y="0"/>
              <a:ext cx="5585874" cy="1961922"/>
            </a:xfrm>
            <a:custGeom>
              <a:avLst/>
              <a:gdLst/>
              <a:ahLst/>
              <a:cxnLst/>
              <a:rect l="l" t="t" r="r" b="b"/>
              <a:pathLst>
                <a:path w="5585874" h="1961922" fill="norm" stroke="1" extrusionOk="0">
                  <a:moveTo>
                    <a:pt x="0" y="0"/>
                  </a:moveTo>
                  <a:lnTo>
                    <a:pt x="5585874" y="0"/>
                  </a:lnTo>
                  <a:lnTo>
                    <a:pt x="5585874" y="1961922"/>
                  </a:lnTo>
                  <a:lnTo>
                    <a:pt x="0" y="1961922"/>
                  </a:lnTo>
                  <a:close/>
                </a:path>
              </a:pathLst>
            </a:custGeom>
            <a:blipFill rotWithShape="1">
              <a:blip r:embed="rId3">
                <a:alphaModFix amt="0"/>
              </a:blip>
              <a:stretch>
                <a:fillRect l="0" t="-9804" r="0" b="-1147"/>
              </a:stretch>
            </a:blipFill>
          </p:spPr>
          <p:txBody>
            <a:bodyPr/>
            <a:lstStyle/>
            <a:p>
              <a:pPr>
                <a:defRPr/>
              </a:pPr>
              <a:endParaRPr lang="en-US"/>
            </a:p>
          </p:txBody>
        </p:sp>
        <p:sp>
          <p:nvSpPr>
            <p:cNvPr id="6" name="TextBox 6"/>
            <p:cNvSpPr txBox="1"/>
            <p:nvPr/>
          </p:nvSpPr>
          <p:spPr bwMode="auto">
            <a:xfrm>
              <a:off x="-14722456" y="-1009534"/>
              <a:ext cx="8147099" cy="2019068"/>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Challenge and solutions</a:t>
              </a:r>
              <a:endParaRPr/>
            </a:p>
          </p:txBody>
        </p:sp>
      </p:grpSp>
      <p:grpSp>
        <p:nvGrpSpPr>
          <p:cNvPr id="1636555451" name="Group 48"/>
          <p:cNvGrpSpPr/>
          <p:nvPr/>
        </p:nvGrpSpPr>
        <p:grpSpPr bwMode="auto">
          <a:xfrm>
            <a:off x="571929" y="341820"/>
            <a:ext cx="6476635" cy="746224"/>
            <a:chOff x="0" y="0"/>
            <a:chExt cx="8635515" cy="994965"/>
          </a:xfrm>
        </p:grpSpPr>
        <p:sp>
          <p:nvSpPr>
            <p:cNvPr id="49" name="Freeform 49"/>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0" name="TextBox 50"/>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589800761" name="Group 51"/>
          <p:cNvGrpSpPr/>
          <p:nvPr/>
        </p:nvGrpSpPr>
        <p:grpSpPr bwMode="auto">
          <a:xfrm>
            <a:off x="16389080" y="209531"/>
            <a:ext cx="1405661" cy="1010802"/>
            <a:chOff x="0" y="0"/>
            <a:chExt cx="692506" cy="497977"/>
          </a:xfrm>
        </p:grpSpPr>
        <p:sp>
          <p:nvSpPr>
            <p:cNvPr id="52" name="Freeform 52"/>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53" name="TextBox 53"/>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12</a:t>
              </a:r>
              <a:endParaRPr/>
            </a:p>
          </p:txBody>
        </p:sp>
      </p:grpSp>
      <p:sp>
        <p:nvSpPr>
          <p:cNvPr id="244249750" name="Rectangle 4"/>
          <p:cNvSpPr>
            <a:spLocks noChangeArrowheads="1"/>
          </p:cNvSpPr>
          <p:nvPr/>
        </p:nvSpPr>
        <p:spPr bwMode="auto">
          <a:xfrm>
            <a:off x="535833" y="2983132"/>
            <a:ext cx="16285299" cy="5509200"/>
          </a:xfrm>
          <a:prstGeom prst="rect">
            <a:avLst/>
          </a:prstGeom>
          <a:noFill/>
          <a:ln>
            <a:noFill/>
          </a:ln>
          <a:effectLst/>
        </p:spPr>
        <p:txBody>
          <a:bodyPr vert="horz" wrap="square" lIns="91440" tIns="45720" rIns="91440" bIns="45720" numCol="1" anchor="ctr" anchorCtr="0" compatLnSpc="1">
            <a:prstTxWarp prst="textNoShape"/>
            <a:spAutoFit/>
          </a:bodyPr>
          <a:lstStyle/>
          <a:p>
            <a:pPr>
              <a:defRPr/>
            </a:pPr>
            <a:r>
              <a:rPr lang="en-US" sz="3200" b="1"/>
              <a:t>Challenge:</a:t>
            </a:r>
            <a:r>
              <a:rPr lang="en-US" sz="3200"/>
              <a:t> The frontend was making API calls to http://localhost:3001/api, which works in local development but obviously fails when deployed — the backend is a completely separate container.</a:t>
            </a:r>
            <a:endParaRPr/>
          </a:p>
          <a:p>
            <a:pPr>
              <a:defRPr/>
            </a:pPr>
            <a:r>
              <a:rPr lang="en-US" sz="3200" b="1"/>
              <a:t>Solution:</a:t>
            </a:r>
            <a:r>
              <a:rPr lang="en-US" sz="3200"/>
              <a:t> We updated the frontend to use /</a:t>
            </a:r>
            <a:r>
              <a:rPr lang="en-US" sz="3200"/>
              <a:t>api</a:t>
            </a:r>
            <a:r>
              <a:rPr lang="en-US" sz="3200"/>
              <a:t> as the base URL, letting the browser send requests to the same origin (the Application Gateway), which then routes /</a:t>
            </a:r>
            <a:r>
              <a:rPr lang="en-US" sz="3200"/>
              <a:t>api</a:t>
            </a:r>
            <a:r>
              <a:rPr lang="en-US" sz="3200"/>
              <a:t>/* to the backend pool. No hardcoded hostnames anywhere.</a:t>
            </a:r>
            <a:endParaRPr/>
          </a:p>
          <a:p>
            <a:pPr>
              <a:defRPr/>
            </a:pPr>
            <a:r>
              <a:rPr lang="en-US" sz="3200" b="1"/>
              <a:t>Challenge:</a:t>
            </a:r>
            <a:r>
              <a:rPr lang="en-US" sz="3200"/>
              <a:t> The backend </a:t>
            </a:r>
            <a:r>
              <a:rPr lang="en-US" sz="3200"/>
              <a:t>Dockerfile</a:t>
            </a:r>
            <a:r>
              <a:rPr lang="en-US" sz="3200"/>
              <a:t> was installing only production dependencies in the build stage, causing the TypeScript compilation step to fail silently because typescript and </a:t>
            </a:r>
            <a:r>
              <a:rPr lang="en-US" sz="3200"/>
              <a:t>ts</a:t>
            </a:r>
            <a:r>
              <a:rPr lang="en-US" sz="3200"/>
              <a:t>-node are </a:t>
            </a:r>
            <a:r>
              <a:rPr lang="en-US" sz="3200"/>
              <a:t>devDependencies</a:t>
            </a:r>
            <a:r>
              <a:rPr lang="en-US" sz="3200"/>
              <a:t>.</a:t>
            </a:r>
            <a:endParaRPr/>
          </a:p>
          <a:p>
            <a:pPr>
              <a:defRPr/>
            </a:pPr>
            <a:r>
              <a:rPr lang="en-US" sz="3200" b="1"/>
              <a:t>Solution:</a:t>
            </a:r>
            <a:r>
              <a:rPr lang="en-US" sz="3200"/>
              <a:t> We reordered the </a:t>
            </a:r>
            <a:r>
              <a:rPr lang="en-US" sz="3200"/>
              <a:t>Dockerfile</a:t>
            </a:r>
            <a:r>
              <a:rPr lang="en-US" sz="3200"/>
              <a:t> to install all dependencies (including </a:t>
            </a:r>
            <a:r>
              <a:rPr lang="en-US" sz="3200"/>
              <a:t>devDependencies</a:t>
            </a:r>
            <a:r>
              <a:rPr lang="en-US" sz="3200"/>
              <a:t>) before compiling, then prune to production-only for the final image.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2062918923"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2007649852" name="Group 4"/>
          <p:cNvGrpSpPr/>
          <p:nvPr/>
        </p:nvGrpSpPr>
        <p:grpSpPr bwMode="auto">
          <a:xfrm>
            <a:off x="551875" y="1278438"/>
            <a:ext cx="15231247" cy="2228592"/>
            <a:chOff x="-14722456" y="-1009534"/>
            <a:chExt cx="20308330" cy="2971456"/>
          </a:xfrm>
        </p:grpSpPr>
        <p:sp>
          <p:nvSpPr>
            <p:cNvPr id="5" name="Freeform 5"/>
            <p:cNvSpPr/>
            <p:nvPr/>
          </p:nvSpPr>
          <p:spPr bwMode="auto">
            <a:xfrm>
              <a:off x="0" y="0"/>
              <a:ext cx="5585874" cy="1961922"/>
            </a:xfrm>
            <a:custGeom>
              <a:avLst/>
              <a:gdLst/>
              <a:ahLst/>
              <a:cxnLst/>
              <a:rect l="l" t="t" r="r" b="b"/>
              <a:pathLst>
                <a:path w="5585874" h="1961922" fill="norm" stroke="1" extrusionOk="0">
                  <a:moveTo>
                    <a:pt x="0" y="0"/>
                  </a:moveTo>
                  <a:lnTo>
                    <a:pt x="5585874" y="0"/>
                  </a:lnTo>
                  <a:lnTo>
                    <a:pt x="5585874" y="1961922"/>
                  </a:lnTo>
                  <a:lnTo>
                    <a:pt x="0" y="1961922"/>
                  </a:lnTo>
                  <a:close/>
                </a:path>
              </a:pathLst>
            </a:custGeom>
            <a:blipFill rotWithShape="1">
              <a:blip r:embed="rId3">
                <a:alphaModFix amt="0"/>
              </a:blip>
              <a:stretch>
                <a:fillRect l="0" t="-9804" r="0" b="-1147"/>
              </a:stretch>
            </a:blipFill>
          </p:spPr>
          <p:txBody>
            <a:bodyPr/>
            <a:lstStyle/>
            <a:p>
              <a:pPr>
                <a:defRPr/>
              </a:pPr>
              <a:endParaRPr lang="en-US"/>
            </a:p>
          </p:txBody>
        </p:sp>
        <p:sp>
          <p:nvSpPr>
            <p:cNvPr id="6" name="TextBox 6"/>
            <p:cNvSpPr txBox="1"/>
            <p:nvPr/>
          </p:nvSpPr>
          <p:spPr bwMode="auto">
            <a:xfrm>
              <a:off x="-14722456" y="-1009534"/>
              <a:ext cx="8147099" cy="2019068"/>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Major obstacle</a:t>
              </a:r>
              <a:endParaRPr/>
            </a:p>
          </p:txBody>
        </p:sp>
      </p:grpSp>
      <p:grpSp>
        <p:nvGrpSpPr>
          <p:cNvPr id="1665014759" name="Group 48"/>
          <p:cNvGrpSpPr/>
          <p:nvPr/>
        </p:nvGrpSpPr>
        <p:grpSpPr bwMode="auto">
          <a:xfrm>
            <a:off x="571929" y="341820"/>
            <a:ext cx="6476635" cy="746224"/>
            <a:chOff x="0" y="0"/>
            <a:chExt cx="8635515" cy="994965"/>
          </a:xfrm>
        </p:grpSpPr>
        <p:sp>
          <p:nvSpPr>
            <p:cNvPr id="49" name="Freeform 49"/>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0" name="TextBox 50"/>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1894587936" name="Group 51"/>
          <p:cNvGrpSpPr/>
          <p:nvPr/>
        </p:nvGrpSpPr>
        <p:grpSpPr bwMode="auto">
          <a:xfrm>
            <a:off x="16389080" y="209531"/>
            <a:ext cx="1405661" cy="1010802"/>
            <a:chOff x="0" y="0"/>
            <a:chExt cx="692506" cy="497977"/>
          </a:xfrm>
        </p:grpSpPr>
        <p:sp>
          <p:nvSpPr>
            <p:cNvPr id="52" name="Freeform 52"/>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53" name="TextBox 53"/>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13</a:t>
              </a:r>
              <a:endParaRPr/>
            </a:p>
          </p:txBody>
        </p:sp>
      </p:grpSp>
      <p:sp>
        <p:nvSpPr>
          <p:cNvPr id="69304906" name="Rectangle 4"/>
          <p:cNvSpPr>
            <a:spLocks noChangeArrowheads="1"/>
          </p:cNvSpPr>
          <p:nvPr/>
        </p:nvSpPr>
        <p:spPr bwMode="auto">
          <a:xfrm>
            <a:off x="551875" y="2708330"/>
            <a:ext cx="16285299" cy="6986528"/>
          </a:xfrm>
          <a:prstGeom prst="rect">
            <a:avLst/>
          </a:prstGeom>
          <a:noFill/>
          <a:ln>
            <a:noFill/>
          </a:ln>
          <a:effectLst/>
        </p:spPr>
        <p:txBody>
          <a:bodyPr vert="horz" wrap="square" lIns="91440" tIns="45720" rIns="91440" bIns="45720" numCol="1" anchor="ctr" anchorCtr="0" compatLnSpc="1">
            <a:prstTxWarp prst="textNoShape"/>
            <a:spAutoFit/>
          </a:bodyPr>
          <a:lstStyle/>
          <a:p>
            <a:pPr>
              <a:defRPr/>
            </a:pPr>
            <a:r>
              <a:rPr lang="en-US" sz="3200"/>
              <a:t>Our biggest obstacle was that the application kept returning either 502 Bad Gateway or the ACA generic "This Container App does not exist" page, and the symptom looked the same regardless of which underlying issue was causing it.</a:t>
            </a:r>
            <a:endParaRPr/>
          </a:p>
          <a:p>
            <a:pPr>
              <a:defRPr/>
            </a:pPr>
            <a:r>
              <a:rPr lang="en-US" sz="3200"/>
              <a:t>At different points the same symptom was caused by four different root causes: wrong backend pool IP, incorrect host header, unhealthy probe rejecting a valid backend, and a frontend container that wasn't actually serving content on the expected path.</a:t>
            </a:r>
            <a:endParaRPr/>
          </a:p>
          <a:p>
            <a:pPr>
              <a:defRPr/>
            </a:pPr>
            <a:r>
              <a:rPr lang="en-US" sz="3200" b="1"/>
              <a:t>What we learned:</a:t>
            </a:r>
            <a:r>
              <a:rPr lang="en-US" sz="3200"/>
              <a:t> When multiple components must work together simultaneously — DNS, gateway config, probe, ingress, application code — a single broken link produces an identical failure at the surface. We learned to isolate layers: test from inside the </a:t>
            </a:r>
            <a:r>
              <a:rPr lang="en-US" sz="3200"/>
              <a:t>VNet</a:t>
            </a:r>
            <a:r>
              <a:rPr lang="en-US" sz="3200"/>
              <a:t> first, then from the gateway, then publicly. This narrows the failure space dramatically.</a:t>
            </a:r>
            <a:endParaRPr/>
          </a:p>
          <a:p>
            <a:pPr>
              <a:defRPr/>
            </a:pPr>
            <a:r>
              <a:rPr lang="en-US" sz="3200" b="1"/>
              <a:t>What we'd do differently:</a:t>
            </a:r>
            <a:r>
              <a:rPr lang="en-US" sz="3200"/>
              <a:t> We would write a pre-flight checklist — DNS resolves correctly? Probe path returns 200? Host header matches ACA ingress? — and verify each box before touching anything. Changing multiple things at once and then testing was consistently slower than fixing and verifying one thing at a time.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058651587"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532731058" name="Group 4"/>
          <p:cNvGrpSpPr/>
          <p:nvPr/>
        </p:nvGrpSpPr>
        <p:grpSpPr bwMode="auto">
          <a:xfrm>
            <a:off x="551875" y="1278438"/>
            <a:ext cx="15231247" cy="2228592"/>
            <a:chOff x="-14722456" y="-1009534"/>
            <a:chExt cx="20308330" cy="2971456"/>
          </a:xfrm>
        </p:grpSpPr>
        <p:sp>
          <p:nvSpPr>
            <p:cNvPr id="5" name="Freeform 5"/>
            <p:cNvSpPr/>
            <p:nvPr/>
          </p:nvSpPr>
          <p:spPr bwMode="auto">
            <a:xfrm>
              <a:off x="0" y="0"/>
              <a:ext cx="5585874" cy="1961922"/>
            </a:xfrm>
            <a:custGeom>
              <a:avLst/>
              <a:gdLst/>
              <a:ahLst/>
              <a:cxnLst/>
              <a:rect l="l" t="t" r="r" b="b"/>
              <a:pathLst>
                <a:path w="5585874" h="1961922" fill="norm" stroke="1" extrusionOk="0">
                  <a:moveTo>
                    <a:pt x="0" y="0"/>
                  </a:moveTo>
                  <a:lnTo>
                    <a:pt x="5585874" y="0"/>
                  </a:lnTo>
                  <a:lnTo>
                    <a:pt x="5585874" y="1961922"/>
                  </a:lnTo>
                  <a:lnTo>
                    <a:pt x="0" y="1961922"/>
                  </a:lnTo>
                  <a:close/>
                </a:path>
              </a:pathLst>
            </a:custGeom>
            <a:blipFill rotWithShape="1">
              <a:blip r:embed="rId3">
                <a:alphaModFix amt="0"/>
              </a:blip>
              <a:stretch>
                <a:fillRect l="0" t="-9804" r="0" b="-1147"/>
              </a:stretch>
            </a:blipFill>
          </p:spPr>
          <p:txBody>
            <a:bodyPr/>
            <a:lstStyle/>
            <a:p>
              <a:pPr>
                <a:defRPr/>
              </a:pPr>
              <a:endParaRPr lang="en-US"/>
            </a:p>
          </p:txBody>
        </p:sp>
        <p:sp>
          <p:nvSpPr>
            <p:cNvPr id="6" name="TextBox 6"/>
            <p:cNvSpPr txBox="1"/>
            <p:nvPr/>
          </p:nvSpPr>
          <p:spPr bwMode="auto">
            <a:xfrm>
              <a:off x="-14722456" y="-1009534"/>
              <a:ext cx="8147099" cy="2019068"/>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Teamwork and Collab</a:t>
              </a:r>
              <a:endParaRPr/>
            </a:p>
          </p:txBody>
        </p:sp>
      </p:grpSp>
      <p:grpSp>
        <p:nvGrpSpPr>
          <p:cNvPr id="1282870744" name="Group 48"/>
          <p:cNvGrpSpPr/>
          <p:nvPr/>
        </p:nvGrpSpPr>
        <p:grpSpPr bwMode="auto">
          <a:xfrm>
            <a:off x="571929" y="341820"/>
            <a:ext cx="6476635" cy="746224"/>
            <a:chOff x="0" y="0"/>
            <a:chExt cx="8635515" cy="994965"/>
          </a:xfrm>
        </p:grpSpPr>
        <p:sp>
          <p:nvSpPr>
            <p:cNvPr id="49" name="Freeform 49"/>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0" name="TextBox 50"/>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848159104" name="Group 51"/>
          <p:cNvGrpSpPr/>
          <p:nvPr/>
        </p:nvGrpSpPr>
        <p:grpSpPr bwMode="auto">
          <a:xfrm>
            <a:off x="16389080" y="209531"/>
            <a:ext cx="1405661" cy="1010802"/>
            <a:chOff x="0" y="0"/>
            <a:chExt cx="692506" cy="497977"/>
          </a:xfrm>
        </p:grpSpPr>
        <p:sp>
          <p:nvSpPr>
            <p:cNvPr id="52" name="Freeform 52"/>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53" name="TextBox 53"/>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14</a:t>
              </a:r>
              <a:endParaRPr/>
            </a:p>
          </p:txBody>
        </p:sp>
      </p:grpSp>
      <p:sp>
        <p:nvSpPr>
          <p:cNvPr id="1761553015" name="Rectangle 4"/>
          <p:cNvSpPr>
            <a:spLocks noChangeArrowheads="1"/>
          </p:cNvSpPr>
          <p:nvPr/>
        </p:nvSpPr>
        <p:spPr bwMode="auto">
          <a:xfrm>
            <a:off x="535833" y="2983132"/>
            <a:ext cx="16285299" cy="5509200"/>
          </a:xfrm>
          <a:prstGeom prst="rect">
            <a:avLst/>
          </a:prstGeom>
          <a:noFill/>
          <a:ln>
            <a:noFill/>
          </a:ln>
          <a:effectLst/>
        </p:spPr>
        <p:txBody>
          <a:bodyPr vert="horz" wrap="square" lIns="91440" tIns="45720" rIns="91440" bIns="45720" numCol="1" anchor="ctr" anchorCtr="0" compatLnSpc="1">
            <a:prstTxWarp prst="textNoShape"/>
            <a:spAutoFit/>
          </a:bodyPr>
          <a:lstStyle/>
          <a:p>
            <a:pPr>
              <a:defRPr/>
            </a:pPr>
            <a:r>
              <a:rPr lang="en-US" sz="3200" b="1"/>
              <a:t>How We Worked as a Team</a:t>
            </a:r>
            <a:endParaRPr/>
          </a:p>
          <a:p>
            <a:pPr>
              <a:defRPr/>
            </a:pPr>
            <a:r>
              <a:rPr lang="en-US" sz="3200"/>
              <a:t>The project was divided by responsibility: each team member owned a specific layer — frontend, backend/database, and infrastructure/gateway. This division allowed parallel progress while keeping clear ownership.</a:t>
            </a:r>
            <a:endParaRPr/>
          </a:p>
          <a:p>
            <a:pPr>
              <a:defRPr/>
            </a:pPr>
            <a:r>
              <a:rPr lang="en-US" sz="3200" b="1"/>
              <a:t>What worked well:</a:t>
            </a:r>
            <a:r>
              <a:rPr lang="en-US" sz="3200"/>
              <a:t> Having one person own the Application Gateway configuration end-to-end prevented conflicting edits, which is important given that the gateway has many interdependent settings (pools, HTTP settings, probes, rules) that break each other when edited inconsistently.</a:t>
            </a:r>
            <a:endParaRPr/>
          </a:p>
          <a:p>
            <a:pPr>
              <a:defRPr/>
            </a:pPr>
            <a:r>
              <a:rPr lang="en-US" sz="3200" b="1"/>
              <a:t>What could be improved:</a:t>
            </a:r>
            <a:r>
              <a:rPr lang="en-US" sz="3200"/>
              <a:t> We underestimated the complexity of the networking layer early on, which led to some lost time debugging symptoms before identifying root causes. Establishing a "verify before assuming" discipline earlier — running CLI inspection commands before making changes — would have saved several debugging cycles.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408756616"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1382442398" name="Group 4"/>
          <p:cNvGrpSpPr/>
          <p:nvPr/>
        </p:nvGrpSpPr>
        <p:grpSpPr bwMode="auto">
          <a:xfrm>
            <a:off x="551875" y="1278438"/>
            <a:ext cx="15231247" cy="2228592"/>
            <a:chOff x="-14722456" y="-1009534"/>
            <a:chExt cx="20308330" cy="2971456"/>
          </a:xfrm>
        </p:grpSpPr>
        <p:sp>
          <p:nvSpPr>
            <p:cNvPr id="5" name="Freeform 5"/>
            <p:cNvSpPr/>
            <p:nvPr/>
          </p:nvSpPr>
          <p:spPr bwMode="auto">
            <a:xfrm>
              <a:off x="0" y="0"/>
              <a:ext cx="5585874" cy="1961922"/>
            </a:xfrm>
            <a:custGeom>
              <a:avLst/>
              <a:gdLst/>
              <a:ahLst/>
              <a:cxnLst/>
              <a:rect l="l" t="t" r="r" b="b"/>
              <a:pathLst>
                <a:path w="5585874" h="1961922" fill="norm" stroke="1" extrusionOk="0">
                  <a:moveTo>
                    <a:pt x="0" y="0"/>
                  </a:moveTo>
                  <a:lnTo>
                    <a:pt x="5585874" y="0"/>
                  </a:lnTo>
                  <a:lnTo>
                    <a:pt x="5585874" y="1961922"/>
                  </a:lnTo>
                  <a:lnTo>
                    <a:pt x="0" y="1961922"/>
                  </a:lnTo>
                  <a:close/>
                </a:path>
              </a:pathLst>
            </a:custGeom>
            <a:blipFill rotWithShape="1">
              <a:blip r:embed="rId3">
                <a:alphaModFix amt="0"/>
              </a:blip>
              <a:stretch>
                <a:fillRect l="0" t="-9804" r="0" b="-1147"/>
              </a:stretch>
            </a:blipFill>
          </p:spPr>
          <p:txBody>
            <a:bodyPr/>
            <a:lstStyle/>
            <a:p>
              <a:pPr>
                <a:defRPr/>
              </a:pPr>
              <a:endParaRPr lang="en-US"/>
            </a:p>
          </p:txBody>
        </p:sp>
        <p:sp>
          <p:nvSpPr>
            <p:cNvPr id="6" name="TextBox 6"/>
            <p:cNvSpPr txBox="1"/>
            <p:nvPr/>
          </p:nvSpPr>
          <p:spPr bwMode="auto">
            <a:xfrm>
              <a:off x="-14722456" y="-1009534"/>
              <a:ext cx="8147099" cy="2019068"/>
            </a:xfrm>
            <a:prstGeom prst="rect">
              <a:avLst/>
            </a:prstGeom>
            <a:grpFill/>
          </p:spPr>
          <p:txBody>
            <a:bodyPr lIns="0" tIns="0" rIns="0" bIns="0" rtlCol="0" anchor="ctr"/>
            <a:lstStyle/>
            <a:p>
              <a:pPr algn="l">
                <a:lnSpc>
                  <a:spcPts val="4488"/>
                </a:lnSpc>
                <a:defRPr/>
              </a:pPr>
              <a:r>
                <a:rPr lang="en-US" sz="3250" b="1">
                  <a:solidFill>
                    <a:srgbClr val="003868"/>
                  </a:solidFill>
                  <a:latin typeface="Helvetica World Bold"/>
                  <a:ea typeface="Helvetica World Bold"/>
                  <a:cs typeface="Helvetica World Bold"/>
                </a:rPr>
                <a:t>Conclusion</a:t>
              </a:r>
              <a:endParaRPr/>
            </a:p>
          </p:txBody>
        </p:sp>
      </p:grpSp>
      <p:grpSp>
        <p:nvGrpSpPr>
          <p:cNvPr id="1713586914" name="Group 48"/>
          <p:cNvGrpSpPr/>
          <p:nvPr/>
        </p:nvGrpSpPr>
        <p:grpSpPr bwMode="auto">
          <a:xfrm>
            <a:off x="571929" y="341820"/>
            <a:ext cx="6476635" cy="746224"/>
            <a:chOff x="0" y="0"/>
            <a:chExt cx="8635515" cy="994965"/>
          </a:xfrm>
        </p:grpSpPr>
        <p:sp>
          <p:nvSpPr>
            <p:cNvPr id="49" name="Freeform 49"/>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50" name="TextBox 50"/>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1234753554" name="Group 51"/>
          <p:cNvGrpSpPr/>
          <p:nvPr/>
        </p:nvGrpSpPr>
        <p:grpSpPr bwMode="auto">
          <a:xfrm>
            <a:off x="16389080" y="209531"/>
            <a:ext cx="1405661" cy="1010802"/>
            <a:chOff x="0" y="0"/>
            <a:chExt cx="692506" cy="497977"/>
          </a:xfrm>
        </p:grpSpPr>
        <p:sp>
          <p:nvSpPr>
            <p:cNvPr id="52" name="Freeform 52"/>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53" name="TextBox 53"/>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15</a:t>
              </a:r>
              <a:endParaRPr/>
            </a:p>
          </p:txBody>
        </p:sp>
      </p:grpSp>
      <p:sp>
        <p:nvSpPr>
          <p:cNvPr id="1567000252" name="Rectangle 4"/>
          <p:cNvSpPr>
            <a:spLocks noChangeArrowheads="1"/>
          </p:cNvSpPr>
          <p:nvPr/>
        </p:nvSpPr>
        <p:spPr bwMode="auto">
          <a:xfrm>
            <a:off x="535833" y="3721795"/>
            <a:ext cx="16285299" cy="4031873"/>
          </a:xfrm>
          <a:prstGeom prst="rect">
            <a:avLst/>
          </a:prstGeom>
          <a:noFill/>
          <a:ln>
            <a:noFill/>
          </a:ln>
          <a:effectLst/>
        </p:spPr>
        <p:txBody>
          <a:bodyPr vert="horz" wrap="square" lIns="91440" tIns="45720" rIns="91440" bIns="45720" numCol="1" anchor="ctr" anchorCtr="0" compatLnSpc="1">
            <a:prstTxWarp prst="textNoShape"/>
            <a:spAutoFit/>
          </a:bodyPr>
          <a:lstStyle/>
          <a:p>
            <a:pPr>
              <a:defRPr/>
            </a:pPr>
            <a:r>
              <a:rPr lang="en-US" sz="3200"/>
              <a:t>By the end of the project we proudly can say:</a:t>
            </a:r>
            <a:endParaRPr/>
          </a:p>
          <a:p>
            <a:pPr>
              <a:defRPr/>
            </a:pPr>
            <a:r>
              <a:rPr lang="en-US" sz="3200"/>
              <a:t>A real three-tier application is deployed and accessible over public HTTPS</a:t>
            </a:r>
            <a:endParaRPr/>
          </a:p>
          <a:p>
            <a:pPr>
              <a:defRPr/>
            </a:pPr>
            <a:r>
              <a:rPr lang="en-US" sz="3200"/>
              <a:t>All traffic flows through the Application Gateway; no container is directly exposed</a:t>
            </a:r>
            <a:endParaRPr/>
          </a:p>
          <a:p>
            <a:pPr>
              <a:defRPr/>
            </a:pPr>
            <a:r>
              <a:rPr lang="en-US" sz="3200"/>
              <a:t>The backend connects to Azure SQL and the frontend communicates with the backend through the gateway's path-based routing</a:t>
            </a:r>
            <a:endParaRPr/>
          </a:p>
          <a:p>
            <a:pPr>
              <a:defRPr/>
            </a:pPr>
            <a:r>
              <a:rPr lang="en-US" sz="3200"/>
              <a:t>The system is monitored with real alerts and has been load-tested with k6</a:t>
            </a:r>
            <a:endParaRPr/>
          </a:p>
          <a:p>
            <a:pPr>
              <a:defRPr/>
            </a:pPr>
            <a:r>
              <a:rPr lang="en-US" sz="3200"/>
              <a:t>Every team member gained hands-on experience with the full Azure networking stack — not just deploying containers, but understanding how they communicate securely in a real architecture</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464590175"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2035439649" name="Group 4"/>
          <p:cNvGrpSpPr/>
          <p:nvPr/>
        </p:nvGrpSpPr>
        <p:grpSpPr bwMode="auto">
          <a:xfrm>
            <a:off x="837178" y="5499285"/>
            <a:ext cx="4811261" cy="4244894"/>
            <a:chOff x="0" y="0"/>
            <a:chExt cx="6476822" cy="5714390"/>
          </a:xfrm>
        </p:grpSpPr>
        <p:sp>
          <p:nvSpPr>
            <p:cNvPr id="5" name="Freeform 5"/>
            <p:cNvSpPr/>
            <p:nvPr/>
          </p:nvSpPr>
          <p:spPr bwMode="auto">
            <a:xfrm>
              <a:off x="16510" y="16510"/>
              <a:ext cx="6443726" cy="5681345"/>
            </a:xfrm>
            <a:custGeom>
              <a:avLst/>
              <a:gdLst/>
              <a:ahLst/>
              <a:cxnLst/>
              <a:rect l="l" t="t" r="r" b="b"/>
              <a:pathLst>
                <a:path w="6443726" h="5681345" fill="norm" stroke="1" extrusionOk="0">
                  <a:moveTo>
                    <a:pt x="0" y="305054"/>
                  </a:moveTo>
                  <a:cubicBezTo>
                    <a:pt x="0" y="136525"/>
                    <a:pt x="136652" y="0"/>
                    <a:pt x="305308" y="0"/>
                  </a:cubicBezTo>
                  <a:lnTo>
                    <a:pt x="6138545" y="0"/>
                  </a:lnTo>
                  <a:cubicBezTo>
                    <a:pt x="6307074" y="0"/>
                    <a:pt x="6443726" y="136525"/>
                    <a:pt x="6443726" y="305054"/>
                  </a:cubicBezTo>
                  <a:lnTo>
                    <a:pt x="6443726" y="5376291"/>
                  </a:lnTo>
                  <a:cubicBezTo>
                    <a:pt x="6443726" y="5544693"/>
                    <a:pt x="6307074" y="5681345"/>
                    <a:pt x="6138545" y="5681345"/>
                  </a:cubicBezTo>
                  <a:lnTo>
                    <a:pt x="305308" y="5681345"/>
                  </a:lnTo>
                  <a:cubicBezTo>
                    <a:pt x="136779" y="5681345"/>
                    <a:pt x="127" y="5544820"/>
                    <a:pt x="127" y="5376291"/>
                  </a:cubicBezTo>
                  <a:close/>
                </a:path>
              </a:pathLst>
            </a:custGeom>
            <a:blipFill rotWithShape="1">
              <a:blip r:embed="rId3"/>
              <a:stretch>
                <a:fillRect l="-16668" t="0" r="-16668" b="0"/>
              </a:stretch>
            </a:blipFill>
          </p:spPr>
          <p:txBody>
            <a:bodyPr/>
            <a:lstStyle/>
            <a:p>
              <a:pPr>
                <a:defRPr/>
              </a:pPr>
              <a:endParaRPr lang="en-US"/>
            </a:p>
          </p:txBody>
        </p:sp>
        <p:sp>
          <p:nvSpPr>
            <p:cNvPr id="6" name="Freeform 6"/>
            <p:cNvSpPr/>
            <p:nvPr/>
          </p:nvSpPr>
          <p:spPr bwMode="auto">
            <a:xfrm>
              <a:off x="0" y="0"/>
              <a:ext cx="6476873" cy="5714365"/>
            </a:xfrm>
            <a:custGeom>
              <a:avLst/>
              <a:gdLst/>
              <a:ahLst/>
              <a:cxnLst/>
              <a:rect l="l" t="t" r="r" b="b"/>
              <a:pathLst>
                <a:path w="6476873" h="5714365" fill="norm" stroke="1" extrusionOk="0">
                  <a:moveTo>
                    <a:pt x="0" y="321564"/>
                  </a:moveTo>
                  <a:cubicBezTo>
                    <a:pt x="0" y="143891"/>
                    <a:pt x="144018" y="0"/>
                    <a:pt x="321818" y="0"/>
                  </a:cubicBezTo>
                  <a:lnTo>
                    <a:pt x="6155055" y="0"/>
                  </a:lnTo>
                  <a:lnTo>
                    <a:pt x="6155055" y="16510"/>
                  </a:lnTo>
                  <a:lnTo>
                    <a:pt x="6155055" y="0"/>
                  </a:lnTo>
                  <a:cubicBezTo>
                    <a:pt x="6332728" y="0"/>
                    <a:pt x="6476873" y="143891"/>
                    <a:pt x="6476873" y="321564"/>
                  </a:cubicBezTo>
                  <a:lnTo>
                    <a:pt x="6460363" y="321564"/>
                  </a:lnTo>
                  <a:lnTo>
                    <a:pt x="6476873" y="321564"/>
                  </a:lnTo>
                  <a:lnTo>
                    <a:pt x="6476873" y="5392801"/>
                  </a:lnTo>
                  <a:lnTo>
                    <a:pt x="6460363" y="5392801"/>
                  </a:lnTo>
                  <a:lnTo>
                    <a:pt x="6476873" y="5392801"/>
                  </a:lnTo>
                  <a:cubicBezTo>
                    <a:pt x="6476873" y="5570347"/>
                    <a:pt x="6332855" y="5714365"/>
                    <a:pt x="6155055" y="5714365"/>
                  </a:cubicBezTo>
                  <a:lnTo>
                    <a:pt x="6155055" y="5697855"/>
                  </a:lnTo>
                  <a:lnTo>
                    <a:pt x="6155055" y="5714365"/>
                  </a:lnTo>
                  <a:lnTo>
                    <a:pt x="321818" y="5714365"/>
                  </a:lnTo>
                  <a:lnTo>
                    <a:pt x="321818" y="5697855"/>
                  </a:lnTo>
                  <a:lnTo>
                    <a:pt x="321818" y="5714365"/>
                  </a:lnTo>
                  <a:cubicBezTo>
                    <a:pt x="144018" y="5714365"/>
                    <a:pt x="0" y="5570474"/>
                    <a:pt x="0" y="5392801"/>
                  </a:cubicBezTo>
                  <a:lnTo>
                    <a:pt x="0" y="321564"/>
                  </a:lnTo>
                  <a:lnTo>
                    <a:pt x="16510" y="321564"/>
                  </a:lnTo>
                  <a:lnTo>
                    <a:pt x="0" y="321564"/>
                  </a:lnTo>
                  <a:moveTo>
                    <a:pt x="33020" y="321564"/>
                  </a:moveTo>
                  <a:lnTo>
                    <a:pt x="33020" y="5392801"/>
                  </a:lnTo>
                  <a:lnTo>
                    <a:pt x="16510" y="5392801"/>
                  </a:lnTo>
                  <a:lnTo>
                    <a:pt x="33020" y="5392801"/>
                  </a:lnTo>
                  <a:cubicBezTo>
                    <a:pt x="33020" y="5552186"/>
                    <a:pt x="162306" y="5681345"/>
                    <a:pt x="321691" y="5681345"/>
                  </a:cubicBezTo>
                  <a:lnTo>
                    <a:pt x="6155055" y="5681345"/>
                  </a:lnTo>
                  <a:cubicBezTo>
                    <a:pt x="6314567" y="5681345"/>
                    <a:pt x="6443726" y="5552186"/>
                    <a:pt x="6443726" y="5392801"/>
                  </a:cubicBezTo>
                  <a:lnTo>
                    <a:pt x="6443726" y="321564"/>
                  </a:lnTo>
                  <a:cubicBezTo>
                    <a:pt x="6443726" y="162179"/>
                    <a:pt x="6314440" y="33020"/>
                    <a:pt x="6155055" y="33020"/>
                  </a:cubicBezTo>
                  <a:lnTo>
                    <a:pt x="321818" y="33020"/>
                  </a:lnTo>
                  <a:lnTo>
                    <a:pt x="321818" y="16510"/>
                  </a:lnTo>
                  <a:lnTo>
                    <a:pt x="321818" y="33020"/>
                  </a:lnTo>
                  <a:cubicBezTo>
                    <a:pt x="162306" y="33020"/>
                    <a:pt x="33020" y="162179"/>
                    <a:pt x="33020" y="321564"/>
                  </a:cubicBezTo>
                  <a:close/>
                </a:path>
              </a:pathLst>
            </a:custGeom>
            <a:solidFill>
              <a:srgbClr val="BDBDBD"/>
            </a:solidFill>
          </p:spPr>
          <p:txBody>
            <a:bodyPr/>
            <a:lstStyle/>
            <a:p>
              <a:pPr>
                <a:defRPr/>
              </a:pPr>
              <a:endParaRPr lang="en-US"/>
            </a:p>
          </p:txBody>
        </p:sp>
      </p:grpSp>
      <p:grpSp>
        <p:nvGrpSpPr>
          <p:cNvPr id="1656168361" name="Group 7"/>
          <p:cNvGrpSpPr/>
          <p:nvPr/>
        </p:nvGrpSpPr>
        <p:grpSpPr bwMode="auto">
          <a:xfrm>
            <a:off x="12000536" y="5499285"/>
            <a:ext cx="4612200" cy="4244894"/>
            <a:chOff x="0" y="0"/>
            <a:chExt cx="3387449" cy="3117679"/>
          </a:xfrm>
        </p:grpSpPr>
        <p:sp>
          <p:nvSpPr>
            <p:cNvPr id="8" name="Freeform 8"/>
            <p:cNvSpPr/>
            <p:nvPr/>
          </p:nvSpPr>
          <p:spPr bwMode="auto">
            <a:xfrm>
              <a:off x="8635" y="9008"/>
              <a:ext cx="3370139" cy="3099650"/>
            </a:xfrm>
            <a:custGeom>
              <a:avLst/>
              <a:gdLst/>
              <a:ahLst/>
              <a:cxnLst/>
              <a:rect l="l" t="t" r="r" b="b"/>
              <a:pathLst>
                <a:path w="3370139" h="3099650" fill="norm" stroke="1" extrusionOk="0">
                  <a:moveTo>
                    <a:pt x="0" y="166432"/>
                  </a:moveTo>
                  <a:cubicBezTo>
                    <a:pt x="0" y="74485"/>
                    <a:pt x="71470" y="0"/>
                    <a:pt x="159679" y="0"/>
                  </a:cubicBezTo>
                  <a:lnTo>
                    <a:pt x="3210526" y="0"/>
                  </a:lnTo>
                  <a:cubicBezTo>
                    <a:pt x="3298668" y="0"/>
                    <a:pt x="3370139" y="74485"/>
                    <a:pt x="3370139" y="166432"/>
                  </a:cubicBezTo>
                  <a:lnTo>
                    <a:pt x="3370139" y="2933217"/>
                  </a:lnTo>
                  <a:cubicBezTo>
                    <a:pt x="3370139" y="3025095"/>
                    <a:pt x="3298668" y="3099650"/>
                    <a:pt x="3210526" y="3099650"/>
                  </a:cubicBezTo>
                  <a:lnTo>
                    <a:pt x="159679" y="3099650"/>
                  </a:lnTo>
                  <a:cubicBezTo>
                    <a:pt x="71537" y="3099650"/>
                    <a:pt x="66" y="3025164"/>
                    <a:pt x="66" y="2933217"/>
                  </a:cubicBezTo>
                  <a:close/>
                </a:path>
              </a:pathLst>
            </a:custGeom>
            <a:blipFill rotWithShape="1">
              <a:blip r:embed="rId4"/>
              <a:stretch>
                <a:fillRect l="-4781" t="-290" r="-15950" b="-293"/>
              </a:stretch>
            </a:blipFill>
          </p:spPr>
          <p:txBody>
            <a:bodyPr/>
            <a:lstStyle/>
            <a:p>
              <a:pPr>
                <a:defRPr/>
              </a:pPr>
              <a:endParaRPr lang="en-US"/>
            </a:p>
          </p:txBody>
        </p:sp>
        <p:sp>
          <p:nvSpPr>
            <p:cNvPr id="9" name="Freeform 9"/>
            <p:cNvSpPr/>
            <p:nvPr/>
          </p:nvSpPr>
          <p:spPr bwMode="auto">
            <a:xfrm>
              <a:off x="0" y="0"/>
              <a:ext cx="3387499" cy="3117666"/>
            </a:xfrm>
            <a:custGeom>
              <a:avLst/>
              <a:gdLst/>
              <a:ahLst/>
              <a:cxnLst/>
              <a:rect l="l" t="t" r="r" b="b"/>
              <a:pathLst>
                <a:path w="3387499" h="3117666" fill="norm" stroke="1" extrusionOk="0">
                  <a:moveTo>
                    <a:pt x="0" y="175440"/>
                  </a:moveTo>
                  <a:cubicBezTo>
                    <a:pt x="0" y="78505"/>
                    <a:pt x="75323" y="0"/>
                    <a:pt x="168314" y="0"/>
                  </a:cubicBezTo>
                  <a:lnTo>
                    <a:pt x="3219161" y="0"/>
                  </a:lnTo>
                  <a:lnTo>
                    <a:pt x="3219161" y="9008"/>
                  </a:lnTo>
                  <a:lnTo>
                    <a:pt x="3219161" y="0"/>
                  </a:lnTo>
                  <a:cubicBezTo>
                    <a:pt x="3312086" y="0"/>
                    <a:pt x="3387499" y="78505"/>
                    <a:pt x="3387499" y="175440"/>
                  </a:cubicBezTo>
                  <a:lnTo>
                    <a:pt x="3378840" y="175440"/>
                  </a:lnTo>
                  <a:lnTo>
                    <a:pt x="3387499" y="175440"/>
                  </a:lnTo>
                  <a:lnTo>
                    <a:pt x="3387499" y="2942225"/>
                  </a:lnTo>
                  <a:lnTo>
                    <a:pt x="3378840" y="2942225"/>
                  </a:lnTo>
                  <a:lnTo>
                    <a:pt x="3387499" y="2942225"/>
                  </a:lnTo>
                  <a:cubicBezTo>
                    <a:pt x="3387499" y="3039092"/>
                    <a:pt x="3312152" y="3117666"/>
                    <a:pt x="3219161" y="3117666"/>
                  </a:cubicBezTo>
                  <a:lnTo>
                    <a:pt x="3219161" y="3108658"/>
                  </a:lnTo>
                  <a:lnTo>
                    <a:pt x="3219161" y="3117666"/>
                  </a:lnTo>
                  <a:lnTo>
                    <a:pt x="168314" y="3117666"/>
                  </a:lnTo>
                  <a:lnTo>
                    <a:pt x="168314" y="3108658"/>
                  </a:lnTo>
                  <a:lnTo>
                    <a:pt x="168314" y="3117666"/>
                  </a:lnTo>
                  <a:cubicBezTo>
                    <a:pt x="75323" y="3117666"/>
                    <a:pt x="0" y="3039161"/>
                    <a:pt x="0" y="2942225"/>
                  </a:cubicBezTo>
                  <a:lnTo>
                    <a:pt x="0" y="175440"/>
                  </a:lnTo>
                  <a:lnTo>
                    <a:pt x="8635" y="175440"/>
                  </a:lnTo>
                  <a:lnTo>
                    <a:pt x="0" y="175440"/>
                  </a:lnTo>
                  <a:moveTo>
                    <a:pt x="17270" y="175440"/>
                  </a:moveTo>
                  <a:lnTo>
                    <a:pt x="17270" y="2942225"/>
                  </a:lnTo>
                  <a:lnTo>
                    <a:pt x="8635" y="2942225"/>
                  </a:lnTo>
                  <a:lnTo>
                    <a:pt x="17270" y="2942225"/>
                  </a:lnTo>
                  <a:cubicBezTo>
                    <a:pt x="17270" y="3029183"/>
                    <a:pt x="84888" y="3099650"/>
                    <a:pt x="168248" y="3099650"/>
                  </a:cubicBezTo>
                  <a:lnTo>
                    <a:pt x="3219161" y="3099650"/>
                  </a:lnTo>
                  <a:cubicBezTo>
                    <a:pt x="3302587" y="3099650"/>
                    <a:pt x="3370139" y="3029183"/>
                    <a:pt x="3370139" y="2942225"/>
                  </a:cubicBezTo>
                  <a:lnTo>
                    <a:pt x="3370139" y="175440"/>
                  </a:lnTo>
                  <a:cubicBezTo>
                    <a:pt x="3370139" y="88482"/>
                    <a:pt x="3302521" y="18015"/>
                    <a:pt x="3219161" y="18015"/>
                  </a:cubicBezTo>
                  <a:lnTo>
                    <a:pt x="168314" y="18015"/>
                  </a:lnTo>
                  <a:lnTo>
                    <a:pt x="168314" y="9008"/>
                  </a:lnTo>
                  <a:lnTo>
                    <a:pt x="168314" y="18015"/>
                  </a:lnTo>
                  <a:cubicBezTo>
                    <a:pt x="84888" y="18015"/>
                    <a:pt x="17270" y="88482"/>
                    <a:pt x="17270" y="175440"/>
                  </a:cubicBezTo>
                  <a:close/>
                </a:path>
              </a:pathLst>
            </a:custGeom>
            <a:solidFill>
              <a:srgbClr val="BDBDBD"/>
            </a:solidFill>
          </p:spPr>
          <p:txBody>
            <a:bodyPr/>
            <a:lstStyle/>
            <a:p>
              <a:pPr>
                <a:defRPr/>
              </a:pPr>
              <a:endParaRPr lang="en-US"/>
            </a:p>
          </p:txBody>
        </p:sp>
      </p:grpSp>
      <p:grpSp>
        <p:nvGrpSpPr>
          <p:cNvPr id="1676016752" name="Group 10"/>
          <p:cNvGrpSpPr/>
          <p:nvPr/>
        </p:nvGrpSpPr>
        <p:grpSpPr bwMode="auto">
          <a:xfrm>
            <a:off x="177563" y="1223443"/>
            <a:ext cx="7611500" cy="1408390"/>
            <a:chOff x="0" y="-47625"/>
            <a:chExt cx="10148667" cy="1877854"/>
          </a:xfrm>
        </p:grpSpPr>
        <p:sp>
          <p:nvSpPr>
            <p:cNvPr id="11" name="Freeform 11"/>
            <p:cNvSpPr/>
            <p:nvPr/>
          </p:nvSpPr>
          <p:spPr bwMode="auto">
            <a:xfrm>
              <a:off x="282952" y="-32237"/>
              <a:ext cx="9865715" cy="1830224"/>
            </a:xfrm>
            <a:custGeom>
              <a:avLst/>
              <a:gdLst/>
              <a:ahLst/>
              <a:cxnLst/>
              <a:rect l="l" t="t" r="r" b="b"/>
              <a:pathLst>
                <a:path w="9865715" h="1830225" fill="norm" stroke="1" extrusionOk="0">
                  <a:moveTo>
                    <a:pt x="0" y="0"/>
                  </a:moveTo>
                  <a:lnTo>
                    <a:pt x="9865715" y="0"/>
                  </a:lnTo>
                  <a:lnTo>
                    <a:pt x="9865715" y="1830225"/>
                  </a:lnTo>
                  <a:lnTo>
                    <a:pt x="0" y="1830225"/>
                  </a:lnTo>
                  <a:close/>
                </a:path>
              </a:pathLst>
            </a:custGeom>
            <a:blipFill rotWithShape="1">
              <a:blip r:embed="rId5">
                <a:alphaModFix amt="0"/>
              </a:blip>
              <a:stretch>
                <a:fillRect l="0" t="-18601" r="34685" b="-18602"/>
              </a:stretch>
            </a:blipFill>
          </p:spPr>
          <p:txBody>
            <a:bodyPr/>
            <a:lstStyle/>
            <a:p>
              <a:pPr>
                <a:defRPr/>
              </a:pPr>
              <a:endParaRPr lang="en-US"/>
            </a:p>
          </p:txBody>
        </p:sp>
        <p:sp>
          <p:nvSpPr>
            <p:cNvPr id="12" name="TextBox 12"/>
            <p:cNvSpPr txBox="1"/>
            <p:nvPr/>
          </p:nvSpPr>
          <p:spPr bwMode="auto">
            <a:xfrm>
              <a:off x="0" y="-47625"/>
              <a:ext cx="9865722" cy="1877854"/>
            </a:xfrm>
            <a:prstGeom prst="rect">
              <a:avLst/>
            </a:prstGeom>
            <a:grpFill/>
          </p:spPr>
          <p:txBody>
            <a:bodyPr lIns="0" tIns="0" rIns="0" bIns="0" rtlCol="0" anchor="ctr"/>
            <a:lstStyle/>
            <a:p>
              <a:pPr algn="l">
                <a:lnSpc>
                  <a:spcPts val="4683"/>
                </a:lnSpc>
                <a:defRPr/>
              </a:pPr>
              <a:r>
                <a:rPr lang="en-US" sz="3600" b="1">
                  <a:solidFill>
                    <a:srgbClr val="003868"/>
                  </a:solidFill>
                  <a:latin typeface="Helvetica World Bold"/>
                  <a:ea typeface="Helvetica World Bold"/>
                  <a:cs typeface="Helvetica World Bold"/>
                </a:rPr>
                <a:t>Result</a:t>
              </a:r>
              <a:endParaRPr/>
            </a:p>
          </p:txBody>
        </p:sp>
      </p:grpSp>
      <p:grpSp>
        <p:nvGrpSpPr>
          <p:cNvPr id="613478278" name="Group 13"/>
          <p:cNvGrpSpPr/>
          <p:nvPr/>
        </p:nvGrpSpPr>
        <p:grpSpPr bwMode="auto">
          <a:xfrm>
            <a:off x="377740" y="2355329"/>
            <a:ext cx="4832833" cy="447955"/>
            <a:chOff x="0" y="0"/>
            <a:chExt cx="6443777" cy="597272"/>
          </a:xfrm>
        </p:grpSpPr>
        <p:sp>
          <p:nvSpPr>
            <p:cNvPr id="14" name="Freeform 14"/>
            <p:cNvSpPr/>
            <p:nvPr/>
          </p:nvSpPr>
          <p:spPr bwMode="auto">
            <a:xfrm>
              <a:off x="0" y="0"/>
              <a:ext cx="6443772" cy="597274"/>
            </a:xfrm>
            <a:custGeom>
              <a:avLst/>
              <a:gdLst/>
              <a:ahLst/>
              <a:cxnLst/>
              <a:rect l="l" t="t" r="r" b="b"/>
              <a:pathLst>
                <a:path w="6443772" h="597274" fill="norm" stroke="1" extrusionOk="0">
                  <a:moveTo>
                    <a:pt x="0" y="0"/>
                  </a:moveTo>
                  <a:lnTo>
                    <a:pt x="6443772" y="0"/>
                  </a:lnTo>
                  <a:lnTo>
                    <a:pt x="6443772" y="597274"/>
                  </a:lnTo>
                  <a:lnTo>
                    <a:pt x="0" y="597274"/>
                  </a:lnTo>
                  <a:close/>
                </a:path>
              </a:pathLst>
            </a:custGeom>
            <a:blipFill rotWithShape="1">
              <a:blip r:embed="rId5">
                <a:alphaModFix amt="0"/>
              </a:blip>
              <a:stretch>
                <a:fillRect l="0" t="-144781" r="0" b="-175652"/>
              </a:stretch>
            </a:blipFill>
          </p:spPr>
          <p:txBody>
            <a:bodyPr/>
            <a:lstStyle/>
            <a:p>
              <a:pPr>
                <a:defRPr/>
              </a:pPr>
              <a:endParaRPr lang="en-US"/>
            </a:p>
          </p:txBody>
        </p:sp>
        <p:sp>
          <p:nvSpPr>
            <p:cNvPr id="15" name="TextBox 15"/>
            <p:cNvSpPr txBox="1"/>
            <p:nvPr/>
          </p:nvSpPr>
          <p:spPr bwMode="auto">
            <a:xfrm>
              <a:off x="0" y="-9525"/>
              <a:ext cx="6443777" cy="606798"/>
            </a:xfrm>
            <a:prstGeom prst="rect">
              <a:avLst/>
            </a:prstGeom>
            <a:grpFill/>
          </p:spPr>
          <p:txBody>
            <a:bodyPr lIns="0" tIns="0" rIns="0" bIns="0" rtlCol="0" anchor="ctr"/>
            <a:lstStyle/>
            <a:p>
              <a:pPr algn="l">
                <a:lnSpc>
                  <a:spcPts val="2154"/>
                </a:lnSpc>
                <a:defRPr/>
              </a:pPr>
              <a:r>
                <a:rPr lang="en-US" sz="1800">
                  <a:solidFill>
                    <a:srgbClr val="605E5C"/>
                  </a:solidFill>
                  <a:latin typeface="Helvetica World"/>
                  <a:ea typeface="Helvetica World"/>
                  <a:cs typeface="Helvetica World"/>
                </a:rPr>
                <a:t>Project Success</a:t>
              </a:r>
              <a:endParaRPr/>
            </a:p>
          </p:txBody>
        </p:sp>
      </p:grpSp>
      <p:grpSp>
        <p:nvGrpSpPr>
          <p:cNvPr id="1354095220" name="Group 16"/>
          <p:cNvGrpSpPr/>
          <p:nvPr/>
        </p:nvGrpSpPr>
        <p:grpSpPr bwMode="auto">
          <a:xfrm>
            <a:off x="772106" y="3282638"/>
            <a:ext cx="4632655" cy="800724"/>
            <a:chOff x="0" y="0"/>
            <a:chExt cx="6176874" cy="1067632"/>
          </a:xfrm>
        </p:grpSpPr>
        <p:sp>
          <p:nvSpPr>
            <p:cNvPr id="17" name="Freeform 17"/>
            <p:cNvSpPr/>
            <p:nvPr/>
          </p:nvSpPr>
          <p:spPr bwMode="auto">
            <a:xfrm>
              <a:off x="0" y="0"/>
              <a:ext cx="6176869" cy="1067626"/>
            </a:xfrm>
            <a:custGeom>
              <a:avLst/>
              <a:gdLst/>
              <a:ahLst/>
              <a:cxnLst/>
              <a:rect l="l" t="t" r="r" b="b"/>
              <a:pathLst>
                <a:path w="6176869" h="1067626" fill="norm" stroke="1" extrusionOk="0">
                  <a:moveTo>
                    <a:pt x="0" y="0"/>
                  </a:moveTo>
                  <a:lnTo>
                    <a:pt x="6176869" y="0"/>
                  </a:lnTo>
                  <a:lnTo>
                    <a:pt x="6176869" y="1067626"/>
                  </a:lnTo>
                  <a:lnTo>
                    <a:pt x="0" y="1067626"/>
                  </a:lnTo>
                  <a:close/>
                </a:path>
              </a:pathLst>
            </a:custGeom>
            <a:blipFill rotWithShape="1">
              <a:blip r:embed="rId5">
                <a:alphaModFix amt="0"/>
              </a:blip>
              <a:stretch>
                <a:fillRect l="0" t="-67603" r="-4320" b="-67603"/>
              </a:stretch>
            </a:blipFill>
          </p:spPr>
          <p:txBody>
            <a:bodyPr/>
            <a:lstStyle/>
            <a:p>
              <a:pPr>
                <a:defRPr/>
              </a:pPr>
              <a:endParaRPr lang="en-US"/>
            </a:p>
          </p:txBody>
        </p:sp>
        <p:sp>
          <p:nvSpPr>
            <p:cNvPr id="18" name="TextBox 18"/>
            <p:cNvSpPr txBox="1"/>
            <p:nvPr/>
          </p:nvSpPr>
          <p:spPr bwMode="auto">
            <a:xfrm>
              <a:off x="0" y="-66675"/>
              <a:ext cx="6176874" cy="1134307"/>
            </a:xfrm>
            <a:prstGeom prst="rect">
              <a:avLst/>
            </a:prstGeom>
            <a:grpFill/>
          </p:spPr>
          <p:txBody>
            <a:bodyPr lIns="0" tIns="0" rIns="0" bIns="0" rtlCol="0" anchor="ctr"/>
            <a:lstStyle/>
            <a:p>
              <a:pPr algn="l">
                <a:lnSpc>
                  <a:spcPts val="2732"/>
                </a:lnSpc>
                <a:defRPr/>
              </a:pPr>
              <a:r>
                <a:rPr lang="en-US" sz="1800">
                  <a:solidFill>
                    <a:srgbClr val="323130"/>
                  </a:solidFill>
                  <a:latin typeface="Helvetica World"/>
                  <a:ea typeface="Helvetica World"/>
                  <a:cs typeface="Helvetica World"/>
                </a:rPr>
                <a:t> 3-tier architecture implemented successfully </a:t>
              </a:r>
              <a:endParaRPr/>
            </a:p>
          </p:txBody>
        </p:sp>
      </p:grpSp>
      <p:grpSp>
        <p:nvGrpSpPr>
          <p:cNvPr id="246231608" name="Group 19"/>
          <p:cNvGrpSpPr/>
          <p:nvPr/>
        </p:nvGrpSpPr>
        <p:grpSpPr bwMode="auto">
          <a:xfrm>
            <a:off x="371751" y="3513279"/>
            <a:ext cx="400355" cy="339442"/>
            <a:chOff x="0" y="0"/>
            <a:chExt cx="533806" cy="452590"/>
          </a:xfrm>
        </p:grpSpPr>
        <p:sp>
          <p:nvSpPr>
            <p:cNvPr id="20" name="Freeform 20" descr="image.png"/>
            <p:cNvSpPr/>
            <p:nvPr/>
          </p:nvSpPr>
          <p:spPr bwMode="auto">
            <a:xfrm>
              <a:off x="0" y="0"/>
              <a:ext cx="533781" cy="452628"/>
            </a:xfrm>
            <a:custGeom>
              <a:avLst/>
              <a:gdLst/>
              <a:ahLst/>
              <a:cxnLst/>
              <a:rect l="l" t="t" r="r" b="b"/>
              <a:pathLst>
                <a:path w="533781" h="452628" fill="norm" stroke="1" extrusionOk="0">
                  <a:moveTo>
                    <a:pt x="0" y="0"/>
                  </a:moveTo>
                  <a:lnTo>
                    <a:pt x="533781" y="0"/>
                  </a:lnTo>
                  <a:lnTo>
                    <a:pt x="533781" y="452628"/>
                  </a:lnTo>
                  <a:lnTo>
                    <a:pt x="0" y="452628"/>
                  </a:lnTo>
                  <a:lnTo>
                    <a:pt x="0" y="0"/>
                  </a:lnTo>
                  <a:close/>
                </a:path>
              </a:pathLst>
            </a:custGeom>
            <a:blipFill rotWithShape="1">
              <a:blip r:embed="rId6"/>
              <a:stretch>
                <a:fillRect l="-1" t="0" r="-4" b="7"/>
              </a:stretch>
            </a:blipFill>
          </p:spPr>
          <p:txBody>
            <a:bodyPr/>
            <a:lstStyle/>
            <a:p>
              <a:pPr>
                <a:defRPr/>
              </a:pPr>
              <a:endParaRPr lang="en-US"/>
            </a:p>
          </p:txBody>
        </p:sp>
      </p:grpSp>
      <p:grpSp>
        <p:nvGrpSpPr>
          <p:cNvPr id="566025781" name="Group 21"/>
          <p:cNvGrpSpPr/>
          <p:nvPr/>
        </p:nvGrpSpPr>
        <p:grpSpPr bwMode="auto">
          <a:xfrm>
            <a:off x="772106" y="4039337"/>
            <a:ext cx="3667676" cy="450793"/>
            <a:chOff x="0" y="0"/>
            <a:chExt cx="4890235" cy="601058"/>
          </a:xfrm>
        </p:grpSpPr>
        <p:sp>
          <p:nvSpPr>
            <p:cNvPr id="22" name="Freeform 22"/>
            <p:cNvSpPr/>
            <p:nvPr/>
          </p:nvSpPr>
          <p:spPr bwMode="auto">
            <a:xfrm>
              <a:off x="0" y="0"/>
              <a:ext cx="4890231" cy="601053"/>
            </a:xfrm>
            <a:custGeom>
              <a:avLst/>
              <a:gdLst/>
              <a:ahLst/>
              <a:cxnLst/>
              <a:rect l="l" t="t" r="r" b="b"/>
              <a:pathLst>
                <a:path w="4890231" h="601053" fill="norm" stroke="1" extrusionOk="0">
                  <a:moveTo>
                    <a:pt x="0" y="0"/>
                  </a:moveTo>
                  <a:lnTo>
                    <a:pt x="4890231" y="0"/>
                  </a:lnTo>
                  <a:lnTo>
                    <a:pt x="4890231" y="601053"/>
                  </a:lnTo>
                  <a:lnTo>
                    <a:pt x="0" y="601053"/>
                  </a:lnTo>
                  <a:close/>
                </a:path>
              </a:pathLst>
            </a:custGeom>
            <a:blipFill rotWithShape="1">
              <a:blip r:embed="rId5">
                <a:alphaModFix amt="0"/>
              </a:blip>
              <a:stretch>
                <a:fillRect l="0" t="-164488" r="-31768" b="-153302"/>
              </a:stretch>
            </a:blipFill>
          </p:spPr>
          <p:txBody>
            <a:bodyPr/>
            <a:lstStyle/>
            <a:p>
              <a:pPr>
                <a:defRPr/>
              </a:pPr>
              <a:endParaRPr lang="en-US"/>
            </a:p>
          </p:txBody>
        </p:sp>
        <p:sp>
          <p:nvSpPr>
            <p:cNvPr id="23" name="TextBox 23"/>
            <p:cNvSpPr txBox="1"/>
            <p:nvPr/>
          </p:nvSpPr>
          <p:spPr bwMode="auto">
            <a:xfrm>
              <a:off x="0" y="-66675"/>
              <a:ext cx="4890235" cy="667733"/>
            </a:xfrm>
            <a:prstGeom prst="rect">
              <a:avLst/>
            </a:prstGeom>
            <a:grpFill/>
          </p:spPr>
          <p:txBody>
            <a:bodyPr lIns="0" tIns="0" rIns="0" bIns="0" rtlCol="0" anchor="ctr"/>
            <a:lstStyle/>
            <a:p>
              <a:pPr algn="l">
                <a:lnSpc>
                  <a:spcPts val="2732"/>
                </a:lnSpc>
                <a:defRPr/>
              </a:pPr>
              <a:r>
                <a:rPr lang="en-US" sz="1800">
                  <a:solidFill>
                    <a:srgbClr val="323130"/>
                  </a:solidFill>
                  <a:latin typeface="Helvetica World"/>
                  <a:ea typeface="Helvetica World"/>
                  <a:cs typeface="Helvetica World"/>
                </a:rPr>
                <a:t>HTTPS and routing configured </a:t>
              </a:r>
              <a:endParaRPr/>
            </a:p>
          </p:txBody>
        </p:sp>
      </p:grpSp>
      <p:grpSp>
        <p:nvGrpSpPr>
          <p:cNvPr id="741983077" name="Group 24"/>
          <p:cNvGrpSpPr/>
          <p:nvPr/>
        </p:nvGrpSpPr>
        <p:grpSpPr bwMode="auto">
          <a:xfrm>
            <a:off x="371751" y="4146854"/>
            <a:ext cx="400355" cy="307437"/>
            <a:chOff x="0" y="0"/>
            <a:chExt cx="533806" cy="409916"/>
          </a:xfrm>
        </p:grpSpPr>
        <p:sp>
          <p:nvSpPr>
            <p:cNvPr id="25" name="Freeform 25" descr="image.png"/>
            <p:cNvSpPr/>
            <p:nvPr/>
          </p:nvSpPr>
          <p:spPr bwMode="auto">
            <a:xfrm>
              <a:off x="0" y="0"/>
              <a:ext cx="533781" cy="409954"/>
            </a:xfrm>
            <a:custGeom>
              <a:avLst/>
              <a:gdLst/>
              <a:ahLst/>
              <a:cxnLst/>
              <a:rect l="l" t="t" r="r" b="b"/>
              <a:pathLst>
                <a:path w="533781" h="409954" fill="norm" stroke="1" extrusionOk="0">
                  <a:moveTo>
                    <a:pt x="0" y="0"/>
                  </a:moveTo>
                  <a:lnTo>
                    <a:pt x="533781" y="0"/>
                  </a:lnTo>
                  <a:lnTo>
                    <a:pt x="533781" y="409954"/>
                  </a:lnTo>
                  <a:lnTo>
                    <a:pt x="0" y="409954"/>
                  </a:lnTo>
                  <a:lnTo>
                    <a:pt x="0" y="0"/>
                  </a:lnTo>
                  <a:close/>
                </a:path>
              </a:pathLst>
            </a:custGeom>
            <a:blipFill rotWithShape="1">
              <a:blip r:embed="rId6"/>
              <a:stretch>
                <a:fillRect l="0" t="-5203" r="-4" b="-5194"/>
              </a:stretch>
            </a:blipFill>
          </p:spPr>
          <p:txBody>
            <a:bodyPr/>
            <a:lstStyle/>
            <a:p>
              <a:pPr>
                <a:defRPr/>
              </a:pPr>
              <a:endParaRPr lang="en-US"/>
            </a:p>
          </p:txBody>
        </p:sp>
      </p:grpSp>
      <p:grpSp>
        <p:nvGrpSpPr>
          <p:cNvPr id="370878905" name="Group 26"/>
          <p:cNvGrpSpPr/>
          <p:nvPr/>
        </p:nvGrpSpPr>
        <p:grpSpPr bwMode="auto">
          <a:xfrm>
            <a:off x="772106" y="2676495"/>
            <a:ext cx="3654973" cy="800724"/>
            <a:chOff x="0" y="0"/>
            <a:chExt cx="4873297" cy="1067632"/>
          </a:xfrm>
        </p:grpSpPr>
        <p:sp>
          <p:nvSpPr>
            <p:cNvPr id="27" name="Freeform 27"/>
            <p:cNvSpPr/>
            <p:nvPr/>
          </p:nvSpPr>
          <p:spPr bwMode="auto">
            <a:xfrm>
              <a:off x="0" y="0"/>
              <a:ext cx="4873294" cy="1067626"/>
            </a:xfrm>
            <a:custGeom>
              <a:avLst/>
              <a:gdLst/>
              <a:ahLst/>
              <a:cxnLst/>
              <a:rect l="l" t="t" r="r" b="b"/>
              <a:pathLst>
                <a:path w="4873294" h="1067626" fill="norm" stroke="1" extrusionOk="0">
                  <a:moveTo>
                    <a:pt x="0" y="0"/>
                  </a:moveTo>
                  <a:lnTo>
                    <a:pt x="4873294" y="0"/>
                  </a:lnTo>
                  <a:lnTo>
                    <a:pt x="4873294" y="1067626"/>
                  </a:lnTo>
                  <a:lnTo>
                    <a:pt x="0" y="1067626"/>
                  </a:lnTo>
                  <a:close/>
                </a:path>
              </a:pathLst>
            </a:custGeom>
            <a:blipFill rotWithShape="1">
              <a:blip r:embed="rId5">
                <a:alphaModFix amt="0"/>
              </a:blip>
              <a:stretch>
                <a:fillRect l="0" t="-67603" r="-32226" b="-67603"/>
              </a:stretch>
            </a:blipFill>
          </p:spPr>
          <p:txBody>
            <a:bodyPr/>
            <a:lstStyle/>
            <a:p>
              <a:pPr>
                <a:defRPr/>
              </a:pPr>
              <a:endParaRPr lang="en-US"/>
            </a:p>
          </p:txBody>
        </p:sp>
        <p:sp>
          <p:nvSpPr>
            <p:cNvPr id="28" name="TextBox 28"/>
            <p:cNvSpPr txBox="1"/>
            <p:nvPr/>
          </p:nvSpPr>
          <p:spPr bwMode="auto">
            <a:xfrm>
              <a:off x="0" y="-66675"/>
              <a:ext cx="4873297" cy="1134307"/>
            </a:xfrm>
            <a:prstGeom prst="rect">
              <a:avLst/>
            </a:prstGeom>
            <a:grpFill/>
          </p:spPr>
          <p:txBody>
            <a:bodyPr lIns="0" tIns="0" rIns="0" bIns="0" rtlCol="0" anchor="ctr"/>
            <a:lstStyle/>
            <a:p>
              <a:pPr algn="l">
                <a:lnSpc>
                  <a:spcPts val="2732"/>
                </a:lnSpc>
                <a:defRPr/>
              </a:pPr>
              <a:r>
                <a:rPr lang="en-US" sz="1800">
                  <a:solidFill>
                    <a:srgbClr val="323130"/>
                  </a:solidFill>
                  <a:latin typeface="Helvetica World"/>
                  <a:ea typeface="Helvetica World"/>
                  <a:cs typeface="Helvetica World"/>
                </a:rPr>
                <a:t> Autoscaling and monitoring verified </a:t>
              </a:r>
              <a:endParaRPr/>
            </a:p>
          </p:txBody>
        </p:sp>
      </p:grpSp>
      <p:grpSp>
        <p:nvGrpSpPr>
          <p:cNvPr id="1519491501" name="Group 29"/>
          <p:cNvGrpSpPr/>
          <p:nvPr/>
        </p:nvGrpSpPr>
        <p:grpSpPr bwMode="auto">
          <a:xfrm>
            <a:off x="371751" y="2907137"/>
            <a:ext cx="400355" cy="339442"/>
            <a:chOff x="0" y="0"/>
            <a:chExt cx="533806" cy="452590"/>
          </a:xfrm>
        </p:grpSpPr>
        <p:sp>
          <p:nvSpPr>
            <p:cNvPr id="30" name="Freeform 30" descr="image.png"/>
            <p:cNvSpPr/>
            <p:nvPr/>
          </p:nvSpPr>
          <p:spPr bwMode="auto">
            <a:xfrm>
              <a:off x="0" y="0"/>
              <a:ext cx="533781" cy="452628"/>
            </a:xfrm>
            <a:custGeom>
              <a:avLst/>
              <a:gdLst/>
              <a:ahLst/>
              <a:cxnLst/>
              <a:rect l="l" t="t" r="r" b="b"/>
              <a:pathLst>
                <a:path w="533781" h="452628" fill="norm" stroke="1" extrusionOk="0">
                  <a:moveTo>
                    <a:pt x="0" y="0"/>
                  </a:moveTo>
                  <a:lnTo>
                    <a:pt x="533781" y="0"/>
                  </a:lnTo>
                  <a:lnTo>
                    <a:pt x="533781" y="452628"/>
                  </a:lnTo>
                  <a:lnTo>
                    <a:pt x="0" y="452628"/>
                  </a:lnTo>
                  <a:lnTo>
                    <a:pt x="0" y="0"/>
                  </a:lnTo>
                  <a:close/>
                </a:path>
              </a:pathLst>
            </a:custGeom>
            <a:blipFill rotWithShape="1">
              <a:blip r:embed="rId6"/>
              <a:stretch>
                <a:fillRect l="-1" t="0" r="-4" b="7"/>
              </a:stretch>
            </a:blipFill>
          </p:spPr>
          <p:txBody>
            <a:bodyPr/>
            <a:lstStyle/>
            <a:p>
              <a:pPr>
                <a:defRPr/>
              </a:pPr>
              <a:endParaRPr lang="en-US"/>
            </a:p>
          </p:txBody>
        </p:sp>
      </p:grpSp>
      <p:grpSp>
        <p:nvGrpSpPr>
          <p:cNvPr id="1386710331" name="Group 31"/>
          <p:cNvGrpSpPr/>
          <p:nvPr/>
        </p:nvGrpSpPr>
        <p:grpSpPr bwMode="auto">
          <a:xfrm>
            <a:off x="772106" y="4490130"/>
            <a:ext cx="4632655" cy="800724"/>
            <a:chOff x="0" y="0"/>
            <a:chExt cx="6176874" cy="1067632"/>
          </a:xfrm>
        </p:grpSpPr>
        <p:sp>
          <p:nvSpPr>
            <p:cNvPr id="32" name="Freeform 32"/>
            <p:cNvSpPr/>
            <p:nvPr/>
          </p:nvSpPr>
          <p:spPr bwMode="auto">
            <a:xfrm>
              <a:off x="0" y="0"/>
              <a:ext cx="6176869" cy="1067626"/>
            </a:xfrm>
            <a:custGeom>
              <a:avLst/>
              <a:gdLst/>
              <a:ahLst/>
              <a:cxnLst/>
              <a:rect l="l" t="t" r="r" b="b"/>
              <a:pathLst>
                <a:path w="6176869" h="1067626" fill="norm" stroke="1" extrusionOk="0">
                  <a:moveTo>
                    <a:pt x="0" y="0"/>
                  </a:moveTo>
                  <a:lnTo>
                    <a:pt x="6176869" y="0"/>
                  </a:lnTo>
                  <a:lnTo>
                    <a:pt x="6176869" y="1067626"/>
                  </a:lnTo>
                  <a:lnTo>
                    <a:pt x="0" y="1067626"/>
                  </a:lnTo>
                  <a:close/>
                </a:path>
              </a:pathLst>
            </a:custGeom>
            <a:blipFill rotWithShape="1">
              <a:blip r:embed="rId5">
                <a:alphaModFix amt="0"/>
              </a:blip>
              <a:stretch>
                <a:fillRect l="0" t="-67603" r="-4320" b="-67603"/>
              </a:stretch>
            </a:blipFill>
          </p:spPr>
          <p:txBody>
            <a:bodyPr/>
            <a:lstStyle/>
            <a:p>
              <a:pPr>
                <a:defRPr/>
              </a:pPr>
              <a:endParaRPr lang="en-US"/>
            </a:p>
          </p:txBody>
        </p:sp>
        <p:sp>
          <p:nvSpPr>
            <p:cNvPr id="33" name="TextBox 33"/>
            <p:cNvSpPr txBox="1"/>
            <p:nvPr/>
          </p:nvSpPr>
          <p:spPr bwMode="auto">
            <a:xfrm>
              <a:off x="0" y="-66675"/>
              <a:ext cx="6176874" cy="1134307"/>
            </a:xfrm>
            <a:prstGeom prst="rect">
              <a:avLst/>
            </a:prstGeom>
            <a:grpFill/>
          </p:spPr>
          <p:txBody>
            <a:bodyPr lIns="0" tIns="0" rIns="0" bIns="0" rtlCol="0" anchor="ctr"/>
            <a:lstStyle/>
            <a:p>
              <a:pPr algn="l">
                <a:lnSpc>
                  <a:spcPts val="2732"/>
                </a:lnSpc>
                <a:defRPr/>
              </a:pPr>
              <a:r>
                <a:rPr lang="en-US" sz="1800">
                  <a:solidFill>
                    <a:srgbClr val="323130"/>
                  </a:solidFill>
                  <a:latin typeface="Helvetica World"/>
                  <a:ea typeface="Helvetica World"/>
                  <a:cs typeface="Helvetica World"/>
                </a:rPr>
                <a:t>Production-style Azure deployment completed </a:t>
              </a:r>
              <a:endParaRPr/>
            </a:p>
          </p:txBody>
        </p:sp>
      </p:grpSp>
      <p:grpSp>
        <p:nvGrpSpPr>
          <p:cNvPr id="810600552" name="Group 34"/>
          <p:cNvGrpSpPr/>
          <p:nvPr/>
        </p:nvGrpSpPr>
        <p:grpSpPr bwMode="auto">
          <a:xfrm>
            <a:off x="371751" y="4720771"/>
            <a:ext cx="400355" cy="339442"/>
            <a:chOff x="0" y="0"/>
            <a:chExt cx="533806" cy="452590"/>
          </a:xfrm>
        </p:grpSpPr>
        <p:sp>
          <p:nvSpPr>
            <p:cNvPr id="35" name="Freeform 35" descr="image.png"/>
            <p:cNvSpPr/>
            <p:nvPr/>
          </p:nvSpPr>
          <p:spPr bwMode="auto">
            <a:xfrm>
              <a:off x="0" y="0"/>
              <a:ext cx="533781" cy="452628"/>
            </a:xfrm>
            <a:custGeom>
              <a:avLst/>
              <a:gdLst/>
              <a:ahLst/>
              <a:cxnLst/>
              <a:rect l="l" t="t" r="r" b="b"/>
              <a:pathLst>
                <a:path w="533781" h="452628" fill="norm" stroke="1" extrusionOk="0">
                  <a:moveTo>
                    <a:pt x="0" y="0"/>
                  </a:moveTo>
                  <a:lnTo>
                    <a:pt x="533781" y="0"/>
                  </a:lnTo>
                  <a:lnTo>
                    <a:pt x="533781" y="452628"/>
                  </a:lnTo>
                  <a:lnTo>
                    <a:pt x="0" y="452628"/>
                  </a:lnTo>
                  <a:lnTo>
                    <a:pt x="0" y="0"/>
                  </a:lnTo>
                  <a:close/>
                </a:path>
              </a:pathLst>
            </a:custGeom>
            <a:blipFill rotWithShape="1">
              <a:blip r:embed="rId6"/>
              <a:stretch>
                <a:fillRect l="-1" t="0" r="-4" b="7"/>
              </a:stretch>
            </a:blipFill>
          </p:spPr>
          <p:txBody>
            <a:bodyPr/>
            <a:lstStyle/>
            <a:p>
              <a:pPr>
                <a:defRPr/>
              </a:pPr>
              <a:endParaRPr lang="en-US"/>
            </a:p>
          </p:txBody>
        </p:sp>
      </p:grpSp>
      <p:grpSp>
        <p:nvGrpSpPr>
          <p:cNvPr id="1646608931" name="Group 36"/>
          <p:cNvGrpSpPr/>
          <p:nvPr/>
        </p:nvGrpSpPr>
        <p:grpSpPr bwMode="auto">
          <a:xfrm rot="-5400000">
            <a:off x="12709489" y="591012"/>
            <a:ext cx="898055" cy="247840"/>
            <a:chOff x="0" y="0"/>
            <a:chExt cx="1197407" cy="330454"/>
          </a:xfrm>
        </p:grpSpPr>
        <p:sp>
          <p:nvSpPr>
            <p:cNvPr id="37" name="Freeform 37"/>
            <p:cNvSpPr/>
            <p:nvPr/>
          </p:nvSpPr>
          <p:spPr bwMode="auto">
            <a:xfrm>
              <a:off x="0" y="0"/>
              <a:ext cx="1197381" cy="330454"/>
            </a:xfrm>
            <a:custGeom>
              <a:avLst/>
              <a:gdLst/>
              <a:ahLst/>
              <a:cxnLst/>
              <a:rect l="l" t="t" r="r" b="b"/>
              <a:pathLst>
                <a:path w="1197381" h="330454" fill="norm" stroke="1" extrusionOk="0">
                  <a:moveTo>
                    <a:pt x="170120" y="0"/>
                  </a:moveTo>
                  <a:lnTo>
                    <a:pt x="1027260" y="0"/>
                  </a:lnTo>
                  <a:cubicBezTo>
                    <a:pt x="1121278" y="0"/>
                    <a:pt x="1197381" y="73914"/>
                    <a:pt x="1197381" y="165227"/>
                  </a:cubicBezTo>
                  <a:lnTo>
                    <a:pt x="1197381" y="330454"/>
                  </a:lnTo>
                  <a:lnTo>
                    <a:pt x="0" y="330454"/>
                  </a:lnTo>
                  <a:lnTo>
                    <a:pt x="0" y="165227"/>
                  </a:lnTo>
                  <a:cubicBezTo>
                    <a:pt x="0" y="73914"/>
                    <a:pt x="76103" y="0"/>
                    <a:pt x="170120" y="0"/>
                  </a:cubicBezTo>
                  <a:close/>
                </a:path>
              </a:pathLst>
            </a:custGeom>
            <a:solidFill>
              <a:srgbClr val="0078D4"/>
            </a:solidFill>
          </p:spPr>
          <p:txBody>
            <a:bodyPr/>
            <a:lstStyle/>
            <a:p>
              <a:pPr>
                <a:defRPr/>
              </a:pPr>
              <a:endParaRPr lang="en-US"/>
            </a:p>
          </p:txBody>
        </p:sp>
      </p:grpSp>
      <p:grpSp>
        <p:nvGrpSpPr>
          <p:cNvPr id="357519697" name="Group 38"/>
          <p:cNvGrpSpPr/>
          <p:nvPr/>
        </p:nvGrpSpPr>
        <p:grpSpPr bwMode="auto">
          <a:xfrm>
            <a:off x="6448539" y="5499285"/>
            <a:ext cx="4751896" cy="4244894"/>
            <a:chOff x="0" y="0"/>
            <a:chExt cx="3444171" cy="3076696"/>
          </a:xfrm>
        </p:grpSpPr>
        <p:sp>
          <p:nvSpPr>
            <p:cNvPr id="39" name="Freeform 39"/>
            <p:cNvSpPr/>
            <p:nvPr/>
          </p:nvSpPr>
          <p:spPr bwMode="auto">
            <a:xfrm>
              <a:off x="8780" y="8889"/>
              <a:ext cx="3426572" cy="3058904"/>
            </a:xfrm>
            <a:custGeom>
              <a:avLst/>
              <a:gdLst/>
              <a:ahLst/>
              <a:cxnLst/>
              <a:rect l="l" t="t" r="r" b="b"/>
              <a:pathLst>
                <a:path w="3426572" h="3058904" fill="norm" stroke="1" extrusionOk="0">
                  <a:moveTo>
                    <a:pt x="0" y="164245"/>
                  </a:moveTo>
                  <a:cubicBezTo>
                    <a:pt x="0" y="73507"/>
                    <a:pt x="72667" y="0"/>
                    <a:pt x="162353" y="0"/>
                  </a:cubicBezTo>
                  <a:lnTo>
                    <a:pt x="3264285" y="0"/>
                  </a:lnTo>
                  <a:cubicBezTo>
                    <a:pt x="3353904" y="0"/>
                    <a:pt x="3426571" y="73507"/>
                    <a:pt x="3426571" y="164245"/>
                  </a:cubicBezTo>
                  <a:lnTo>
                    <a:pt x="3426571" y="2894660"/>
                  </a:lnTo>
                  <a:cubicBezTo>
                    <a:pt x="3426571" y="2985330"/>
                    <a:pt x="3353904" y="3058905"/>
                    <a:pt x="3264285" y="3058905"/>
                  </a:cubicBezTo>
                  <a:lnTo>
                    <a:pt x="162353" y="3058905"/>
                  </a:lnTo>
                  <a:cubicBezTo>
                    <a:pt x="72734" y="3058905"/>
                    <a:pt x="67" y="2985398"/>
                    <a:pt x="67" y="2894660"/>
                  </a:cubicBezTo>
                  <a:close/>
                </a:path>
              </a:pathLst>
            </a:custGeom>
            <a:blipFill rotWithShape="1">
              <a:blip r:embed="rId7"/>
              <a:stretch>
                <a:fillRect l="0" t="0" r="-44566" b="0"/>
              </a:stretch>
            </a:blipFill>
          </p:spPr>
          <p:txBody>
            <a:bodyPr/>
            <a:lstStyle/>
            <a:p>
              <a:pPr>
                <a:defRPr/>
              </a:pPr>
              <a:endParaRPr lang="en-US"/>
            </a:p>
          </p:txBody>
        </p:sp>
        <p:sp>
          <p:nvSpPr>
            <p:cNvPr id="40" name="Freeform 40"/>
            <p:cNvSpPr/>
            <p:nvPr/>
          </p:nvSpPr>
          <p:spPr bwMode="auto">
            <a:xfrm>
              <a:off x="0" y="0"/>
              <a:ext cx="3444222" cy="3076682"/>
            </a:xfrm>
            <a:custGeom>
              <a:avLst/>
              <a:gdLst/>
              <a:ahLst/>
              <a:cxnLst/>
              <a:rect l="l" t="t" r="r" b="b"/>
              <a:pathLst>
                <a:path w="3444222" h="3076683" fill="norm" stroke="1" extrusionOk="0">
                  <a:moveTo>
                    <a:pt x="0" y="173134"/>
                  </a:moveTo>
                  <a:cubicBezTo>
                    <a:pt x="0" y="77473"/>
                    <a:pt x="76584" y="0"/>
                    <a:pt x="171133" y="0"/>
                  </a:cubicBezTo>
                  <a:lnTo>
                    <a:pt x="3273065" y="0"/>
                  </a:lnTo>
                  <a:lnTo>
                    <a:pt x="3273065" y="8889"/>
                  </a:lnTo>
                  <a:lnTo>
                    <a:pt x="3273065" y="0"/>
                  </a:lnTo>
                  <a:cubicBezTo>
                    <a:pt x="3367546" y="0"/>
                    <a:pt x="3444222" y="77473"/>
                    <a:pt x="3444222" y="173134"/>
                  </a:cubicBezTo>
                  <a:lnTo>
                    <a:pt x="3435419" y="173134"/>
                  </a:lnTo>
                  <a:lnTo>
                    <a:pt x="3444222" y="173134"/>
                  </a:lnTo>
                  <a:lnTo>
                    <a:pt x="3444222" y="2903549"/>
                  </a:lnTo>
                  <a:lnTo>
                    <a:pt x="3435419" y="2903549"/>
                  </a:lnTo>
                  <a:lnTo>
                    <a:pt x="3444222" y="2903549"/>
                  </a:lnTo>
                  <a:cubicBezTo>
                    <a:pt x="3444222" y="2999142"/>
                    <a:pt x="3367614" y="3076683"/>
                    <a:pt x="3273065" y="3076683"/>
                  </a:cubicBezTo>
                  <a:lnTo>
                    <a:pt x="3273065" y="3067794"/>
                  </a:lnTo>
                  <a:lnTo>
                    <a:pt x="3273065" y="3076683"/>
                  </a:lnTo>
                  <a:lnTo>
                    <a:pt x="171133" y="3076683"/>
                  </a:lnTo>
                  <a:lnTo>
                    <a:pt x="171133" y="3067794"/>
                  </a:lnTo>
                  <a:lnTo>
                    <a:pt x="171133" y="3076683"/>
                  </a:lnTo>
                  <a:cubicBezTo>
                    <a:pt x="76584" y="3076683"/>
                    <a:pt x="0" y="2999210"/>
                    <a:pt x="0" y="2903549"/>
                  </a:cubicBezTo>
                  <a:lnTo>
                    <a:pt x="0" y="173134"/>
                  </a:lnTo>
                  <a:lnTo>
                    <a:pt x="8780" y="173134"/>
                  </a:lnTo>
                  <a:lnTo>
                    <a:pt x="0" y="173134"/>
                  </a:lnTo>
                  <a:moveTo>
                    <a:pt x="17559" y="173134"/>
                  </a:moveTo>
                  <a:lnTo>
                    <a:pt x="17559" y="2903549"/>
                  </a:lnTo>
                  <a:lnTo>
                    <a:pt x="8780" y="2903549"/>
                  </a:lnTo>
                  <a:lnTo>
                    <a:pt x="17559" y="2903549"/>
                  </a:lnTo>
                  <a:cubicBezTo>
                    <a:pt x="17559" y="2989364"/>
                    <a:pt x="86309" y="3058904"/>
                    <a:pt x="171065" y="3058904"/>
                  </a:cubicBezTo>
                  <a:lnTo>
                    <a:pt x="3273065" y="3058904"/>
                  </a:lnTo>
                  <a:cubicBezTo>
                    <a:pt x="3357889" y="3058904"/>
                    <a:pt x="3426572" y="2989364"/>
                    <a:pt x="3426572" y="2903549"/>
                  </a:cubicBezTo>
                  <a:lnTo>
                    <a:pt x="3426572" y="173134"/>
                  </a:lnTo>
                  <a:cubicBezTo>
                    <a:pt x="3426572" y="87319"/>
                    <a:pt x="3357821" y="17778"/>
                    <a:pt x="3273065" y="17778"/>
                  </a:cubicBezTo>
                  <a:lnTo>
                    <a:pt x="171133" y="17778"/>
                  </a:lnTo>
                  <a:lnTo>
                    <a:pt x="171133" y="8889"/>
                  </a:lnTo>
                  <a:lnTo>
                    <a:pt x="171133" y="17778"/>
                  </a:lnTo>
                  <a:cubicBezTo>
                    <a:pt x="86309" y="17778"/>
                    <a:pt x="17559" y="87319"/>
                    <a:pt x="17559" y="173134"/>
                  </a:cubicBezTo>
                  <a:close/>
                </a:path>
              </a:pathLst>
            </a:custGeom>
            <a:solidFill>
              <a:srgbClr val="BDBDBD"/>
            </a:solidFill>
          </p:spPr>
          <p:txBody>
            <a:bodyPr/>
            <a:lstStyle/>
            <a:p>
              <a:pPr>
                <a:defRPr/>
              </a:pPr>
              <a:endParaRPr lang="en-US"/>
            </a:p>
          </p:txBody>
        </p:sp>
      </p:grpSp>
      <p:sp>
        <p:nvSpPr>
          <p:cNvPr id="1888105296" name="AutoShape 41"/>
          <p:cNvSpPr/>
          <p:nvPr/>
        </p:nvSpPr>
        <p:spPr bwMode="auto">
          <a:xfrm>
            <a:off x="84982" y="2336279"/>
            <a:ext cx="6492240" cy="0"/>
          </a:xfrm>
          <a:prstGeom prst="line">
            <a:avLst/>
          </a:prstGeom>
          <a:ln w="38100" cap="flat">
            <a:solidFill>
              <a:srgbClr val="000000"/>
            </a:solidFill>
            <a:prstDash val="solid"/>
            <a:headEnd type="none" w="sm" len="sm"/>
            <a:tailEnd type="none" w="sm" len="sm"/>
          </a:ln>
        </p:spPr>
        <p:txBody>
          <a:bodyPr/>
          <a:lstStyle/>
          <a:p>
            <a:pPr>
              <a:defRPr/>
            </a:pPr>
            <a:endParaRPr lang="en-US"/>
          </a:p>
        </p:txBody>
      </p:sp>
      <p:grpSp>
        <p:nvGrpSpPr>
          <p:cNvPr id="920559790" name="Group 42"/>
          <p:cNvGrpSpPr/>
          <p:nvPr/>
        </p:nvGrpSpPr>
        <p:grpSpPr bwMode="auto">
          <a:xfrm>
            <a:off x="571929" y="341820"/>
            <a:ext cx="6476635" cy="746224"/>
            <a:chOff x="0" y="0"/>
            <a:chExt cx="8635515" cy="994965"/>
          </a:xfrm>
        </p:grpSpPr>
        <p:sp>
          <p:nvSpPr>
            <p:cNvPr id="43" name="Freeform 43"/>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5">
                <a:alphaModFix amt="0"/>
              </a:blip>
              <a:stretch>
                <a:fillRect l="0" t="-126622" r="9263" b="-80274"/>
              </a:stretch>
            </a:blipFill>
          </p:spPr>
          <p:txBody>
            <a:bodyPr/>
            <a:lstStyle/>
            <a:p>
              <a:pPr>
                <a:defRPr/>
              </a:pPr>
              <a:endParaRPr lang="en-US"/>
            </a:p>
          </p:txBody>
        </p:sp>
        <p:sp>
          <p:nvSpPr>
            <p:cNvPr id="44" name="TextBox 44"/>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626289512" name="Group 45"/>
          <p:cNvGrpSpPr/>
          <p:nvPr/>
        </p:nvGrpSpPr>
        <p:grpSpPr bwMode="auto">
          <a:xfrm>
            <a:off x="16389080" y="209531"/>
            <a:ext cx="1405661" cy="1010802"/>
            <a:chOff x="0" y="0"/>
            <a:chExt cx="692506" cy="497977"/>
          </a:xfrm>
        </p:grpSpPr>
        <p:sp>
          <p:nvSpPr>
            <p:cNvPr id="46" name="Freeform 46"/>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5">
                <a:alphaModFix amt="0"/>
              </a:blip>
              <a:stretch>
                <a:fillRect l="-42335" t="0" r="8111" b="27260"/>
              </a:stretch>
            </a:blipFill>
          </p:spPr>
          <p:txBody>
            <a:bodyPr/>
            <a:lstStyle/>
            <a:p>
              <a:pPr>
                <a:defRPr/>
              </a:pPr>
              <a:endParaRPr lang="en-US"/>
            </a:p>
          </p:txBody>
        </p:sp>
        <p:sp>
          <p:nvSpPr>
            <p:cNvPr id="47" name="TextBox 47"/>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16</a:t>
              </a:r>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27345939" name="Group 2"/>
          <p:cNvGrpSpPr/>
          <p:nvPr/>
        </p:nvGrpSpPr>
        <p:grpSpPr bwMode="auto">
          <a:xfrm>
            <a:off x="0" y="0"/>
            <a:ext cx="18288000" cy="1429864"/>
            <a:chOff x="0" y="0"/>
            <a:chExt cx="24384000" cy="1906486"/>
          </a:xfrm>
        </p:grpSpPr>
        <p:sp>
          <p:nvSpPr>
            <p:cNvPr id="3" name="Freeform 3"/>
            <p:cNvSpPr/>
            <p:nvPr/>
          </p:nvSpPr>
          <p:spPr bwMode="auto">
            <a:xfrm>
              <a:off x="0" y="0"/>
              <a:ext cx="24384026" cy="1906524"/>
            </a:xfrm>
            <a:custGeom>
              <a:avLst/>
              <a:gdLst/>
              <a:ahLst/>
              <a:cxnLst/>
              <a:rect l="l" t="t" r="r" b="b"/>
              <a:pathLst>
                <a:path w="24384026" h="1906524" fill="norm" stroke="1" extrusionOk="0">
                  <a:moveTo>
                    <a:pt x="0" y="0"/>
                  </a:moveTo>
                  <a:lnTo>
                    <a:pt x="24384026" y="0"/>
                  </a:lnTo>
                  <a:lnTo>
                    <a:pt x="24384026" y="1906524"/>
                  </a:lnTo>
                  <a:lnTo>
                    <a:pt x="0" y="1906524"/>
                  </a:lnTo>
                  <a:close/>
                </a:path>
              </a:pathLst>
            </a:custGeom>
            <a:solidFill>
              <a:srgbClr val="0078D4"/>
            </a:solidFill>
          </p:spPr>
          <p:txBody>
            <a:bodyPr/>
            <a:lstStyle/>
            <a:p>
              <a:pPr>
                <a:defRPr/>
              </a:pPr>
              <a:endParaRPr lang="en-US"/>
            </a:p>
          </p:txBody>
        </p:sp>
      </p:grpSp>
      <p:grpSp>
        <p:nvGrpSpPr>
          <p:cNvPr id="2007710089" name="Group 4"/>
          <p:cNvGrpSpPr/>
          <p:nvPr/>
        </p:nvGrpSpPr>
        <p:grpSpPr bwMode="auto">
          <a:xfrm rot="-5400000">
            <a:off x="12709489" y="591012"/>
            <a:ext cx="898055" cy="247840"/>
            <a:chOff x="0" y="0"/>
            <a:chExt cx="1197407" cy="330454"/>
          </a:xfrm>
        </p:grpSpPr>
        <p:sp>
          <p:nvSpPr>
            <p:cNvPr id="5" name="Freeform 5"/>
            <p:cNvSpPr/>
            <p:nvPr/>
          </p:nvSpPr>
          <p:spPr bwMode="auto">
            <a:xfrm>
              <a:off x="0" y="0"/>
              <a:ext cx="1197381" cy="330454"/>
            </a:xfrm>
            <a:custGeom>
              <a:avLst/>
              <a:gdLst/>
              <a:ahLst/>
              <a:cxnLst/>
              <a:rect l="l" t="t" r="r" b="b"/>
              <a:pathLst>
                <a:path w="1197381" h="330454" fill="norm" stroke="1" extrusionOk="0">
                  <a:moveTo>
                    <a:pt x="170120" y="0"/>
                  </a:moveTo>
                  <a:lnTo>
                    <a:pt x="1027260" y="0"/>
                  </a:lnTo>
                  <a:cubicBezTo>
                    <a:pt x="1121278" y="0"/>
                    <a:pt x="1197381" y="73914"/>
                    <a:pt x="1197381" y="165227"/>
                  </a:cubicBezTo>
                  <a:lnTo>
                    <a:pt x="1197381" y="330454"/>
                  </a:lnTo>
                  <a:lnTo>
                    <a:pt x="0" y="330454"/>
                  </a:lnTo>
                  <a:lnTo>
                    <a:pt x="0" y="165227"/>
                  </a:lnTo>
                  <a:cubicBezTo>
                    <a:pt x="0" y="73914"/>
                    <a:pt x="76103" y="0"/>
                    <a:pt x="170120" y="0"/>
                  </a:cubicBezTo>
                  <a:close/>
                </a:path>
              </a:pathLst>
            </a:custGeom>
            <a:solidFill>
              <a:srgbClr val="0078D4"/>
            </a:solidFill>
          </p:spPr>
          <p:txBody>
            <a:bodyPr/>
            <a:lstStyle/>
            <a:p>
              <a:pPr>
                <a:defRPr/>
              </a:pPr>
              <a:endParaRPr lang="en-US"/>
            </a:p>
          </p:txBody>
        </p:sp>
      </p:grpSp>
      <p:grpSp>
        <p:nvGrpSpPr>
          <p:cNvPr id="424224697" name="Group 6"/>
          <p:cNvGrpSpPr/>
          <p:nvPr/>
        </p:nvGrpSpPr>
        <p:grpSpPr bwMode="auto">
          <a:xfrm>
            <a:off x="571929" y="341820"/>
            <a:ext cx="6476635" cy="746224"/>
            <a:chOff x="0" y="0"/>
            <a:chExt cx="8635515" cy="994965"/>
          </a:xfrm>
        </p:grpSpPr>
        <p:sp>
          <p:nvSpPr>
            <p:cNvPr id="7" name="Freeform 7"/>
            <p:cNvSpPr/>
            <p:nvPr/>
          </p:nvSpPr>
          <p:spPr bwMode="auto">
            <a:xfrm>
              <a:off x="0" y="0"/>
              <a:ext cx="8635509" cy="994958"/>
            </a:xfrm>
            <a:custGeom>
              <a:avLst/>
              <a:gdLst/>
              <a:ahLst/>
              <a:cxnLst/>
              <a:rect l="l" t="t" r="r" b="b"/>
              <a:pathLst>
                <a:path w="8635509" h="994958" fill="norm" stroke="1" extrusionOk="0">
                  <a:moveTo>
                    <a:pt x="0" y="0"/>
                  </a:moveTo>
                  <a:lnTo>
                    <a:pt x="8635509" y="0"/>
                  </a:lnTo>
                  <a:lnTo>
                    <a:pt x="8635509" y="994958"/>
                  </a:lnTo>
                  <a:lnTo>
                    <a:pt x="0" y="994958"/>
                  </a:lnTo>
                  <a:close/>
                </a:path>
              </a:pathLst>
            </a:custGeom>
            <a:blipFill rotWithShape="1">
              <a:blip r:embed="rId3">
                <a:alphaModFix amt="0"/>
              </a:blip>
              <a:stretch>
                <a:fillRect l="0" t="-126622" r="9263" b="-80274"/>
              </a:stretch>
            </a:blipFill>
          </p:spPr>
          <p:txBody>
            <a:bodyPr/>
            <a:lstStyle/>
            <a:p>
              <a:pPr>
                <a:defRPr/>
              </a:pPr>
              <a:endParaRPr lang="en-US"/>
            </a:p>
          </p:txBody>
        </p:sp>
        <p:sp>
          <p:nvSpPr>
            <p:cNvPr id="8" name="TextBox 8"/>
            <p:cNvSpPr txBox="1"/>
            <p:nvPr/>
          </p:nvSpPr>
          <p:spPr bwMode="auto">
            <a:xfrm>
              <a:off x="0" y="-9525"/>
              <a:ext cx="8635515" cy="1004490"/>
            </a:xfrm>
            <a:prstGeom prst="rect">
              <a:avLst/>
            </a:prstGeom>
            <a:grpFill/>
          </p:spPr>
          <p:txBody>
            <a:bodyPr lIns="0" tIns="0" rIns="0" bIns="0" rtlCol="0" anchor="ctr"/>
            <a:lstStyle/>
            <a:p>
              <a:pPr algn="l">
                <a:lnSpc>
                  <a:spcPts val="3359"/>
                </a:lnSpc>
                <a:defRPr/>
              </a:pPr>
              <a:r>
                <a:rPr lang="en-US" sz="2800" b="1">
                  <a:solidFill>
                    <a:srgbClr val="FFFFFF"/>
                  </a:solidFill>
                  <a:latin typeface="Helvetica World Bold"/>
                  <a:ea typeface="Helvetica World Bold"/>
                  <a:cs typeface="Helvetica World Bold"/>
                </a:rPr>
                <a:t>Azure 3-Tier E-Commerce Application</a:t>
              </a:r>
              <a:endParaRPr/>
            </a:p>
          </p:txBody>
        </p:sp>
      </p:grpSp>
      <p:grpSp>
        <p:nvGrpSpPr>
          <p:cNvPr id="645229137" name="Group 9"/>
          <p:cNvGrpSpPr/>
          <p:nvPr/>
        </p:nvGrpSpPr>
        <p:grpSpPr bwMode="auto">
          <a:xfrm>
            <a:off x="16389080" y="209531"/>
            <a:ext cx="1405661" cy="1010802"/>
            <a:chOff x="0" y="0"/>
            <a:chExt cx="692506" cy="497977"/>
          </a:xfrm>
        </p:grpSpPr>
        <p:sp>
          <p:nvSpPr>
            <p:cNvPr id="10" name="Freeform 10"/>
            <p:cNvSpPr/>
            <p:nvPr/>
          </p:nvSpPr>
          <p:spPr bwMode="auto">
            <a:xfrm>
              <a:off x="0" y="0"/>
              <a:ext cx="692511" cy="497981"/>
            </a:xfrm>
            <a:custGeom>
              <a:avLst/>
              <a:gdLst/>
              <a:ahLst/>
              <a:cxnLst/>
              <a:rect l="l" t="t" r="r" b="b"/>
              <a:pathLst>
                <a:path w="692511" h="497981" fill="norm" stroke="1" extrusionOk="0">
                  <a:moveTo>
                    <a:pt x="0" y="0"/>
                  </a:moveTo>
                  <a:lnTo>
                    <a:pt x="692511" y="0"/>
                  </a:lnTo>
                  <a:lnTo>
                    <a:pt x="692511" y="497981"/>
                  </a:lnTo>
                  <a:lnTo>
                    <a:pt x="0" y="497981"/>
                  </a:lnTo>
                  <a:close/>
                </a:path>
              </a:pathLst>
            </a:custGeom>
            <a:blipFill rotWithShape="1">
              <a:blip r:embed="rId3">
                <a:alphaModFix amt="0"/>
              </a:blip>
              <a:stretch>
                <a:fillRect l="-42335" t="0" r="8111" b="27260"/>
              </a:stretch>
            </a:blipFill>
          </p:spPr>
          <p:txBody>
            <a:bodyPr/>
            <a:lstStyle/>
            <a:p>
              <a:pPr>
                <a:defRPr/>
              </a:pPr>
              <a:endParaRPr lang="en-US"/>
            </a:p>
          </p:txBody>
        </p:sp>
        <p:sp>
          <p:nvSpPr>
            <p:cNvPr id="11" name="TextBox 11"/>
            <p:cNvSpPr txBox="1"/>
            <p:nvPr/>
          </p:nvSpPr>
          <p:spPr bwMode="auto">
            <a:xfrm>
              <a:off x="0" y="-9525"/>
              <a:ext cx="692506" cy="507502"/>
            </a:xfrm>
            <a:prstGeom prst="rect">
              <a:avLst/>
            </a:prstGeom>
            <a:grpFill/>
          </p:spPr>
          <p:txBody>
            <a:bodyPr lIns="0" tIns="0" rIns="0" bIns="0" rtlCol="0" anchor="ctr"/>
            <a:lstStyle/>
            <a:p>
              <a:pPr algn="ctr">
                <a:lnSpc>
                  <a:spcPts val="2879"/>
                </a:lnSpc>
                <a:defRPr/>
              </a:pPr>
              <a:r>
                <a:rPr lang="en-US" sz="2400" b="1">
                  <a:solidFill>
                    <a:srgbClr val="FFFFFF"/>
                  </a:solidFill>
                  <a:latin typeface="Helvetica World Bold"/>
                  <a:ea typeface="Helvetica World Bold"/>
                  <a:cs typeface="Helvetica World Bold"/>
                </a:rPr>
                <a:t>17</a:t>
              </a:r>
              <a:endParaRPr/>
            </a:p>
          </p:txBody>
        </p:sp>
      </p:grpSp>
      <p:sp>
        <p:nvSpPr>
          <p:cNvPr id="681997190" name="Freeform 12"/>
          <p:cNvSpPr/>
          <p:nvPr/>
        </p:nvSpPr>
        <p:spPr bwMode="auto">
          <a:xfrm>
            <a:off x="6268696" y="3162810"/>
            <a:ext cx="5750608" cy="5750608"/>
          </a:xfrm>
          <a:custGeom>
            <a:avLst/>
            <a:gdLst/>
            <a:ahLst/>
            <a:cxnLst/>
            <a:rect l="l" t="t" r="r" b="b"/>
            <a:pathLst>
              <a:path w="5750608" h="5750608" fill="norm" stroke="1" extrusionOk="0">
                <a:moveTo>
                  <a:pt x="0" y="0"/>
                </a:moveTo>
                <a:lnTo>
                  <a:pt x="5750608" y="0"/>
                </a:lnTo>
                <a:lnTo>
                  <a:pt x="5750608" y="5750608"/>
                </a:lnTo>
                <a:lnTo>
                  <a:pt x="0" y="5750608"/>
                </a:lnTo>
                <a:lnTo>
                  <a:pt x="0" y="0"/>
                </a:lnTo>
                <a:close/>
              </a:path>
            </a:pathLst>
          </a:custGeom>
          <a:blipFill rotWithShape="1">
            <a:blip r:embed="rId4"/>
            <a:stretch/>
          </a:blipFill>
        </p:spPr>
        <p:txBody>
          <a:bodyPr/>
          <a:lstStyle/>
          <a:p>
            <a:pPr>
              <a:defRPr/>
            </a:pPr>
            <a:endParaRPr lang="en-US"/>
          </a:p>
        </p:txBody>
      </p:sp>
      <p:sp>
        <p:nvSpPr>
          <p:cNvPr id="1245801991" name="TextBox 13"/>
          <p:cNvSpPr txBox="1"/>
          <p:nvPr/>
        </p:nvSpPr>
        <p:spPr bwMode="auto">
          <a:xfrm>
            <a:off x="3541895" y="1913546"/>
            <a:ext cx="11204210" cy="1255280"/>
          </a:xfrm>
          <a:prstGeom prst="rect">
            <a:avLst/>
          </a:prstGeom>
        </p:spPr>
        <p:txBody>
          <a:bodyPr wrap="square" lIns="0" tIns="0" rIns="0" bIns="0" rtlCol="0" anchor="t">
            <a:spAutoFit/>
          </a:bodyPr>
          <a:lstStyle/>
          <a:p>
            <a:pPr algn="ctr">
              <a:lnSpc>
                <a:spcPts val="4962"/>
              </a:lnSpc>
              <a:spcBef>
                <a:spcPts val="0"/>
              </a:spcBef>
              <a:defRPr/>
            </a:pPr>
            <a:r>
              <a:rPr lang="en-US" sz="4150">
                <a:solidFill>
                  <a:srgbClr val="000000"/>
                </a:solidFill>
                <a:latin typeface="Helvetica World"/>
                <a:ea typeface="Helvetica World"/>
                <a:cs typeface="Helvetica World"/>
              </a:rPr>
              <a:t>Thank you for your attention and the QR if u </a:t>
            </a:r>
            <a:r>
              <a:rPr lang="en-US" sz="4150">
                <a:solidFill>
                  <a:srgbClr val="000000"/>
                </a:solidFill>
                <a:latin typeface="Helvetica World"/>
                <a:ea typeface="Helvetica World"/>
                <a:cs typeface="Helvetica World"/>
              </a:rPr>
              <a:t>wanna</a:t>
            </a:r>
            <a:r>
              <a:rPr lang="en-US" sz="4150">
                <a:solidFill>
                  <a:srgbClr val="000000"/>
                </a:solidFill>
                <a:latin typeface="Helvetica World"/>
                <a:ea typeface="Helvetica World"/>
                <a:cs typeface="Helvetica World"/>
              </a:rPr>
              <a:t> check our deployed app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17</Slides>
  <Notes>17</Notes>
  <HiddenSlides>0</HiddenSlides>
  <MMClips>2</MMClips>
  <ScaleCrop>0</ScaleCrop>
  <HeadingPairs>
    <vt:vector size="4" baseType="variant">
      <vt:variant>
        <vt:lpstr>Theme</vt:lpstr>
      </vt:variant>
      <vt:variant>
        <vt:i4>1</vt:i4>
      </vt:variant>
      <vt:variant>
        <vt:lpstr>Slide Titles</vt:lpstr>
      </vt:variant>
      <vt:variant>
        <vt:i4>17</vt:i4>
      </vt:variant>
    </vt:vector>
  </HeadingPairs>
  <TitlesOfParts>
    <vt:vector size="18"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Single public entry point</dc:title>
  <dc:identifier>DAHGAZr1_Zk</dc:identifier>
  <cp:lastModifiedBy/>
  <cp:revision>14</cp:revision>
  <dcterms:created xsi:type="dcterms:W3CDTF">2006-08-16T00:00:00Z</dcterms:created>
  <dcterms:modified xsi:type="dcterms:W3CDTF">2026-04-07T05:36:44Z</dcterms:modified>
</cp:coreProperties>
</file>